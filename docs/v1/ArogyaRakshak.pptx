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3886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6F5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509316"/>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Times New Roman" panose="02020603050405020304" pitchFamily="18" charset="0"/>
                <a:ea typeface="Unbounded Bold" pitchFamily="34" charset="-122"/>
                <a:cs typeface="Times New Roman" panose="02020603050405020304" pitchFamily="18" charset="0"/>
              </a:rPr>
              <a:t>ArogyaRakshak</a:t>
            </a:r>
            <a:endParaRPr lang="en-US" sz="3250" dirty="0">
              <a:latin typeface="Times New Roman" panose="02020603050405020304" pitchFamily="18" charset="0"/>
              <a:cs typeface="Times New Roman" panose="02020603050405020304" pitchFamily="18" charset="0"/>
            </a:endParaRPr>
          </a:p>
        </p:txBody>
      </p:sp>
      <p:sp>
        <p:nvSpPr>
          <p:cNvPr id="4" name="Text 1"/>
          <p:cNvSpPr/>
          <p:nvPr/>
        </p:nvSpPr>
        <p:spPr>
          <a:xfrm>
            <a:off x="5233360" y="2274094"/>
            <a:ext cx="6296860" cy="2302966"/>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33F70"/>
                </a:solidFill>
                <a:latin typeface="Times New Roman" panose="02020603050405020304" pitchFamily="18" charset="0"/>
                <a:ea typeface="Open Sans Bold" pitchFamily="34" charset="-122"/>
                <a:cs typeface="Times New Roman" panose="02020603050405020304" pitchFamily="18" charset="0"/>
              </a:rPr>
              <a:t>Healthcare Rights Intelligence Platform</a:t>
            </a: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 — B.E. Computer Engineering, PES Modern College of Engineering, Pune | SPPU 2019</a:t>
            </a:r>
            <a:endParaRPr lang="en-US" sz="1300" dirty="0">
              <a:latin typeface="Times New Roman" panose="02020603050405020304" pitchFamily="18" charset="0"/>
              <a:cs typeface="Times New Roman" panose="02020603050405020304" pitchFamily="18" charset="0"/>
            </a:endParaRPr>
          </a:p>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Patients upload a hospital bill, prescription, or insurance rejection letter and receive an instant plain-language analysis: whether they have been overcharged, denied coverage unfairly, or are eligible for government schemes they did not know about. Three integrated modules — BillNyay, SchemeSetu, and DawaCheck — share a unified context layer called Kadi. Full support for English, Hindi, and Marathi across all modules.</a:t>
            </a:r>
            <a:endParaRPr lang="en-US" sz="1300" dirty="0">
              <a:latin typeface="Times New Roman" panose="02020603050405020304" pitchFamily="18" charset="0"/>
              <a:cs typeface="Times New Roman" panose="02020603050405020304" pitchFamily="18" charset="0"/>
            </a:endParaRPr>
          </a:p>
        </p:txBody>
      </p:sp>
      <p:sp>
        <p:nvSpPr>
          <p:cNvPr id="5" name="Shape 2"/>
          <p:cNvSpPr/>
          <p:nvPr/>
        </p:nvSpPr>
        <p:spPr>
          <a:xfrm>
            <a:off x="5233360" y="4763095"/>
            <a:ext cx="1823000" cy="251420"/>
          </a:xfrm>
          <a:prstGeom prst="roundRect">
            <a:avLst>
              <a:gd name="adj" fmla="val 22103"/>
            </a:avLst>
          </a:prstGeom>
          <a:solidFill>
            <a:srgbClr val="D6F5EE"/>
          </a:solidFill>
          <a:ln/>
        </p:spPr>
      </p:sp>
      <p:sp>
        <p:nvSpPr>
          <p:cNvPr id="6" name="Text 3"/>
          <p:cNvSpPr/>
          <p:nvPr/>
        </p:nvSpPr>
        <p:spPr>
          <a:xfrm>
            <a:off x="5332577" y="4812705"/>
            <a:ext cx="2234152" cy="152202"/>
          </a:xfrm>
          <a:prstGeom prst="rect">
            <a:avLst/>
          </a:prstGeom>
          <a:noFill/>
          <a:ln/>
        </p:spPr>
        <p:txBody>
          <a:bodyPr wrap="none" lIns="0" tIns="0" rIns="0" bIns="0" rtlCol="0" anchor="t"/>
          <a:lstStyle/>
          <a:p>
            <a:pPr marL="0" indent="0" algn="l">
              <a:lnSpc>
                <a:spcPct val="96000"/>
              </a:lnSpc>
              <a:buNone/>
            </a:pPr>
            <a:r>
              <a:rPr lang="en-US" sz="1000" dirty="0">
                <a:solidFill>
                  <a:srgbClr val="333F70"/>
                </a:solidFill>
                <a:latin typeface="Times New Roman" panose="02020603050405020304" pitchFamily="18" charset="0"/>
                <a:ea typeface="Open Sans" pitchFamily="34" charset="-122"/>
                <a:cs typeface="Times New Roman" panose="02020603050405020304" pitchFamily="18" charset="0"/>
              </a:rPr>
              <a:t>TEAM LEAD: VIRAJ JADHAO</a:t>
            </a:r>
            <a:endParaRPr lang="en-US" sz="1000" dirty="0">
              <a:latin typeface="Times New Roman" panose="02020603050405020304" pitchFamily="18" charset="0"/>
              <a:cs typeface="Times New Roman" panose="02020603050405020304" pitchFamily="18" charset="0"/>
            </a:endParaRPr>
          </a:p>
        </p:txBody>
      </p:sp>
      <p:sp>
        <p:nvSpPr>
          <p:cNvPr id="7" name="Shape 4"/>
          <p:cNvSpPr/>
          <p:nvPr/>
        </p:nvSpPr>
        <p:spPr>
          <a:xfrm>
            <a:off x="7139007" y="4763095"/>
            <a:ext cx="862884" cy="251420"/>
          </a:xfrm>
          <a:prstGeom prst="roundRect">
            <a:avLst>
              <a:gd name="adj" fmla="val 22103"/>
            </a:avLst>
          </a:prstGeom>
          <a:noFill/>
          <a:ln w="6350">
            <a:solidFill>
              <a:srgbClr val="26A688"/>
            </a:solidFill>
            <a:prstDash val="solid"/>
          </a:ln>
        </p:spPr>
      </p:sp>
      <p:sp>
        <p:nvSpPr>
          <p:cNvPr id="8" name="Text 5"/>
          <p:cNvSpPr/>
          <p:nvPr/>
        </p:nvSpPr>
        <p:spPr>
          <a:xfrm>
            <a:off x="7238224" y="4812705"/>
            <a:ext cx="1274036" cy="152202"/>
          </a:xfrm>
          <a:prstGeom prst="rect">
            <a:avLst/>
          </a:prstGeom>
          <a:noFill/>
          <a:ln/>
        </p:spPr>
        <p:txBody>
          <a:bodyPr wrap="none" lIns="0" tIns="0" rIns="0" bIns="0" rtlCol="0" anchor="t"/>
          <a:lstStyle/>
          <a:p>
            <a:pPr marL="0" indent="0" algn="l">
              <a:lnSpc>
                <a:spcPct val="96000"/>
              </a:lnSpc>
              <a:buNone/>
            </a:pPr>
            <a:r>
              <a:rPr lang="en-US" sz="1000" dirty="0">
                <a:solidFill>
                  <a:srgbClr val="26A688"/>
                </a:solidFill>
                <a:latin typeface="Times New Roman" panose="02020603050405020304" pitchFamily="18" charset="0"/>
                <a:ea typeface="Open Sans" pitchFamily="34" charset="-122"/>
                <a:cs typeface="Times New Roman" panose="02020603050405020304" pitchFamily="18" charset="0"/>
              </a:rPr>
              <a:t>TEAM OF 5</a:t>
            </a:r>
            <a:endParaRPr lang="en-US" sz="1000" dirty="0">
              <a:latin typeface="Times New Roman" panose="02020603050405020304" pitchFamily="18" charset="0"/>
              <a:cs typeface="Times New Roman" panose="02020603050405020304" pitchFamily="18" charset="0"/>
            </a:endParaRPr>
          </a:p>
        </p:txBody>
      </p:sp>
      <p:sp>
        <p:nvSpPr>
          <p:cNvPr id="9" name="Shape 6"/>
          <p:cNvSpPr/>
          <p:nvPr/>
        </p:nvSpPr>
        <p:spPr>
          <a:xfrm>
            <a:off x="8084538" y="4763095"/>
            <a:ext cx="1501043" cy="251420"/>
          </a:xfrm>
          <a:prstGeom prst="roundRect">
            <a:avLst>
              <a:gd name="adj" fmla="val 22103"/>
            </a:avLst>
          </a:prstGeom>
          <a:noFill/>
          <a:ln w="6350">
            <a:solidFill>
              <a:srgbClr val="26A688"/>
            </a:solidFill>
            <a:prstDash val="solid"/>
          </a:ln>
        </p:spPr>
      </p:sp>
      <p:sp>
        <p:nvSpPr>
          <p:cNvPr id="10" name="Text 7"/>
          <p:cNvSpPr/>
          <p:nvPr/>
        </p:nvSpPr>
        <p:spPr>
          <a:xfrm>
            <a:off x="8183755" y="4812705"/>
            <a:ext cx="1912195" cy="152202"/>
          </a:xfrm>
          <a:prstGeom prst="rect">
            <a:avLst/>
          </a:prstGeom>
          <a:noFill/>
          <a:ln/>
        </p:spPr>
        <p:txBody>
          <a:bodyPr wrap="none" lIns="0" tIns="0" rIns="0" bIns="0" rtlCol="0" anchor="t"/>
          <a:lstStyle/>
          <a:p>
            <a:pPr marL="0" indent="0" algn="l">
              <a:lnSpc>
                <a:spcPct val="96000"/>
              </a:lnSpc>
              <a:buNone/>
            </a:pPr>
            <a:r>
              <a:rPr lang="en-US" sz="1000" dirty="0">
                <a:solidFill>
                  <a:srgbClr val="26A688"/>
                </a:solidFill>
                <a:latin typeface="Times New Roman" panose="02020603050405020304" pitchFamily="18" charset="0"/>
                <a:ea typeface="Open Sans" pitchFamily="34" charset="-122"/>
                <a:cs typeface="Times New Roman" panose="02020603050405020304" pitchFamily="18" charset="0"/>
              </a:rPr>
              <a:t>APPROVED BY GUIDE</a:t>
            </a:r>
            <a:endParaRPr lang="en-US" sz="1000" dirty="0">
              <a:latin typeface="Times New Roman" panose="02020603050405020304" pitchFamily="18" charset="0"/>
              <a:cs typeface="Times New Roman" panose="02020603050405020304" pitchFamily="18" charset="0"/>
            </a:endParaRPr>
          </a:p>
        </p:txBody>
      </p:sp>
      <p:sp>
        <p:nvSpPr>
          <p:cNvPr id="11" name="Shape 8"/>
          <p:cNvSpPr/>
          <p:nvPr/>
        </p:nvSpPr>
        <p:spPr>
          <a:xfrm>
            <a:off x="5233360" y="5097165"/>
            <a:ext cx="2129082" cy="251420"/>
          </a:xfrm>
          <a:prstGeom prst="roundRect">
            <a:avLst>
              <a:gd name="adj" fmla="val 22103"/>
            </a:avLst>
          </a:prstGeom>
          <a:noFill/>
          <a:ln w="6350">
            <a:solidFill>
              <a:srgbClr val="26A688"/>
            </a:solidFill>
            <a:prstDash val="solid"/>
          </a:ln>
        </p:spPr>
      </p:sp>
      <p:sp>
        <p:nvSpPr>
          <p:cNvPr id="12" name="Text 9"/>
          <p:cNvSpPr/>
          <p:nvPr/>
        </p:nvSpPr>
        <p:spPr>
          <a:xfrm>
            <a:off x="5332577" y="5146774"/>
            <a:ext cx="2540234" cy="152202"/>
          </a:xfrm>
          <a:prstGeom prst="rect">
            <a:avLst/>
          </a:prstGeom>
          <a:noFill/>
          <a:ln/>
        </p:spPr>
        <p:txBody>
          <a:bodyPr wrap="none" lIns="0" tIns="0" rIns="0" bIns="0" rtlCol="0" anchor="t"/>
          <a:lstStyle/>
          <a:p>
            <a:pPr marL="0" indent="0" algn="l">
              <a:lnSpc>
                <a:spcPct val="96000"/>
              </a:lnSpc>
              <a:buNone/>
            </a:pPr>
            <a:r>
              <a:rPr lang="en-US" sz="1000" dirty="0">
                <a:solidFill>
                  <a:srgbClr val="26A688"/>
                </a:solidFill>
                <a:latin typeface="Times New Roman" panose="02020603050405020304" pitchFamily="18" charset="0"/>
                <a:ea typeface="Open Sans" pitchFamily="34" charset="-122"/>
                <a:cs typeface="Times New Roman" panose="02020603050405020304" pitchFamily="18" charset="0"/>
              </a:rPr>
              <a:t>DOCUMENT V2 — 12 JULY 2026</a:t>
            </a:r>
            <a:endParaRPr lang="en-US" sz="10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9A101959-5429-73A7-5193-16965EC67230}"/>
              </a:ext>
            </a:extLst>
          </p:cNvPr>
          <p:cNvPicPr>
            <a:picLocks noChangeAspect="1"/>
          </p:cNvPicPr>
          <p:nvPr/>
        </p:nvPicPr>
        <p:blipFill>
          <a:blip r:embed="rId4"/>
          <a:stretch>
            <a:fillRect/>
          </a:stretch>
        </p:blipFill>
        <p:spPr>
          <a:xfrm>
            <a:off x="10661571" y="6515082"/>
            <a:ext cx="1530429" cy="3429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503263"/>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Times New Roman" panose="02020603050405020304" pitchFamily="18" charset="0"/>
                <a:ea typeface="Unbounded Bold" pitchFamily="34" charset="-122"/>
                <a:cs typeface="Times New Roman" panose="02020603050405020304" pitchFamily="18" charset="0"/>
              </a:rPr>
              <a:t>Why ArogyaRakshak?</a:t>
            </a:r>
            <a:endParaRPr lang="en-US" sz="3250" dirty="0">
              <a:latin typeface="Times New Roman" panose="02020603050405020304" pitchFamily="18" charset="0"/>
              <a:cs typeface="Times New Roman" panose="02020603050405020304" pitchFamily="18" charset="0"/>
            </a:endParaRPr>
          </a:p>
        </p:txBody>
      </p:sp>
      <p:sp>
        <p:nvSpPr>
          <p:cNvPr id="3" name="Text 1"/>
          <p:cNvSpPr/>
          <p:nvPr/>
        </p:nvSpPr>
        <p:spPr>
          <a:xfrm>
            <a:off x="661475" y="2350691"/>
            <a:ext cx="1086874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Selected from </a:t>
            </a:r>
            <a:r>
              <a:rPr lang="en-US" sz="1300" b="1" dirty="0">
                <a:solidFill>
                  <a:srgbClr val="333F70"/>
                </a:solidFill>
                <a:latin typeface="Times New Roman" panose="02020603050405020304" pitchFamily="18" charset="0"/>
                <a:ea typeface="Open Sans Bold" pitchFamily="34" charset="-122"/>
                <a:cs typeface="Times New Roman" panose="02020603050405020304" pitchFamily="18" charset="0"/>
              </a:rPr>
              <a:t>five candidate FYP ideas</a:t>
            </a: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 — ArogyaRakshak, ClimateX, CivicEye AI, CourtPrep AI, and TenderGuard AI — on three decisive criteria: real end-user reach, public-data-only access, and an existing hackathon build to extend rather than a cold start. The full candidate comparison lives in the project selection dossier; this document is the working technical specification going forward.</a:t>
            </a:r>
            <a:endParaRPr lang="en-US" sz="1300" dirty="0">
              <a:latin typeface="Times New Roman" panose="02020603050405020304" pitchFamily="18" charset="0"/>
              <a:cs typeface="Times New Roman" panose="02020603050405020304" pitchFamily="18" charset="0"/>
            </a:endParaRPr>
          </a:p>
        </p:txBody>
      </p:sp>
      <p:sp>
        <p:nvSpPr>
          <p:cNvPr id="4" name="Shape 2"/>
          <p:cNvSpPr/>
          <p:nvPr/>
        </p:nvSpPr>
        <p:spPr>
          <a:xfrm>
            <a:off x="661475" y="3330575"/>
            <a:ext cx="3512653" cy="2024063"/>
          </a:xfrm>
          <a:prstGeom prst="roundRect">
            <a:avLst>
              <a:gd name="adj" fmla="val 3432"/>
            </a:avLst>
          </a:prstGeom>
          <a:solidFill>
            <a:srgbClr val="D6F5EE"/>
          </a:solidFill>
          <a:ln w="6350">
            <a:solidFill>
              <a:srgbClr val="BCDBD4"/>
            </a:solidFill>
            <a:prstDash val="solid"/>
          </a:ln>
        </p:spPr>
      </p:sp>
      <p:sp>
        <p:nvSpPr>
          <p:cNvPr id="5" name="Text 3"/>
          <p:cNvSpPr/>
          <p:nvPr/>
        </p:nvSpPr>
        <p:spPr>
          <a:xfrm>
            <a:off x="833119" y="3502223"/>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Real End-User Reach</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33119" y="3859907"/>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Directly addresses financial harm to patients — overbilling, unfair insurance denials, and missed government scheme eligibility — a problem with clear, measurable impact.</a:t>
            </a:r>
            <a:endParaRPr lang="en-US" sz="1300" dirty="0">
              <a:latin typeface="Times New Roman" panose="02020603050405020304" pitchFamily="18" charset="0"/>
              <a:cs typeface="Times New Roman" panose="02020603050405020304" pitchFamily="18" charset="0"/>
            </a:endParaRPr>
          </a:p>
        </p:txBody>
      </p:sp>
      <p:sp>
        <p:nvSpPr>
          <p:cNvPr id="7" name="Shape 5"/>
          <p:cNvSpPr/>
          <p:nvPr/>
        </p:nvSpPr>
        <p:spPr>
          <a:xfrm>
            <a:off x="4339422" y="3330575"/>
            <a:ext cx="3512752" cy="2024063"/>
          </a:xfrm>
          <a:prstGeom prst="roundRect">
            <a:avLst>
              <a:gd name="adj" fmla="val 3432"/>
            </a:avLst>
          </a:prstGeom>
          <a:solidFill>
            <a:srgbClr val="D6F5EE"/>
          </a:solidFill>
          <a:ln w="6350">
            <a:solidFill>
              <a:srgbClr val="BCDBD4"/>
            </a:solidFill>
            <a:prstDash val="solid"/>
          </a:ln>
        </p:spPr>
      </p:sp>
      <p:sp>
        <p:nvSpPr>
          <p:cNvPr id="8" name="Text 6"/>
          <p:cNvSpPr/>
          <p:nvPr/>
        </p:nvSpPr>
        <p:spPr>
          <a:xfrm>
            <a:off x="4511066" y="3502223"/>
            <a:ext cx="3169464"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Public Data Only</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511066" y="3859907"/>
            <a:ext cx="31694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All reference data — CGHS rates, PMJAY/MJPJAY scheme rules, NPPA ceiling prices — is publicly available. No proprietary data dependencies or licensing barriers.</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8017468" y="3330575"/>
            <a:ext cx="3512653" cy="2024063"/>
          </a:xfrm>
          <a:prstGeom prst="roundRect">
            <a:avLst>
              <a:gd name="adj" fmla="val 3432"/>
            </a:avLst>
          </a:prstGeom>
          <a:solidFill>
            <a:srgbClr val="D6F5EE"/>
          </a:solidFill>
          <a:ln w="6350">
            <a:solidFill>
              <a:srgbClr val="BCDBD4"/>
            </a:solidFill>
            <a:prstDash val="solid"/>
          </a:ln>
        </p:spPr>
      </p:sp>
      <p:sp>
        <p:nvSpPr>
          <p:cNvPr id="11" name="Text 9"/>
          <p:cNvSpPr/>
          <p:nvPr/>
        </p:nvSpPr>
        <p:spPr>
          <a:xfrm>
            <a:off x="8189112" y="3502223"/>
            <a:ext cx="3169364"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Existing Foundation</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89112" y="3859907"/>
            <a:ext cx="31693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BillNyay carries forward a working hackathon build. The team extends and refines rather than starting from zero, reducing timeline risk significantly.</a:t>
            </a:r>
            <a:endParaRPr lang="en-US" sz="13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2E482A0-0A73-0934-33E7-C79DE74CFF27}"/>
              </a:ext>
            </a:extLst>
          </p:cNvPr>
          <p:cNvPicPr>
            <a:picLocks noChangeAspect="1"/>
          </p:cNvPicPr>
          <p:nvPr/>
        </p:nvPicPr>
        <p:blipFill>
          <a:blip r:embed="rId3"/>
          <a:stretch>
            <a:fillRect/>
          </a:stretch>
        </p:blipFill>
        <p:spPr>
          <a:xfrm>
            <a:off x="10661571" y="6520944"/>
            <a:ext cx="1530429" cy="342918"/>
          </a:xfrm>
          <a:prstGeom prst="rect">
            <a:avLst/>
          </a:prstGeom>
        </p:spPr>
      </p:pic>
      <p:pic>
        <p:nvPicPr>
          <p:cNvPr id="16" name="Picture 15">
            <a:extLst>
              <a:ext uri="{FF2B5EF4-FFF2-40B4-BE49-F238E27FC236}">
                <a16:creationId xmlns:a16="http://schemas.microsoft.com/office/drawing/2014/main" id="{16CCA054-342E-A93F-6311-2D1A9D66DC8B}"/>
              </a:ext>
            </a:extLst>
          </p:cNvPr>
          <p:cNvPicPr>
            <a:picLocks noChangeAspect="1"/>
          </p:cNvPicPr>
          <p:nvPr/>
        </p:nvPicPr>
        <p:blipFill>
          <a:blip r:embed="rId3"/>
          <a:stretch>
            <a:fillRect/>
          </a:stretch>
        </p:blipFill>
        <p:spPr>
          <a:xfrm>
            <a:off x="10593261" y="6421296"/>
            <a:ext cx="1530429" cy="3429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75754"/>
            <a:ext cx="10868745" cy="387648"/>
          </a:xfrm>
          <a:prstGeom prst="rect">
            <a:avLst/>
          </a:prstGeom>
          <a:noFill/>
          <a:ln/>
        </p:spPr>
        <p:txBody>
          <a:bodyPr wrap="none" lIns="0" tIns="0" rIns="0" bIns="0" rtlCol="0" anchor="t"/>
          <a:lstStyle/>
          <a:p>
            <a:pPr marL="0" indent="0" algn="l">
              <a:lnSpc>
                <a:spcPct val="104000"/>
              </a:lnSpc>
              <a:buNone/>
            </a:pPr>
            <a:r>
              <a:rPr lang="en-US" sz="2400" b="1" dirty="0">
                <a:solidFill>
                  <a:srgbClr val="333F70"/>
                </a:solidFill>
                <a:latin typeface="Times New Roman" panose="02020603050405020304" pitchFamily="18" charset="0"/>
                <a:ea typeface="Unbounded Bold" pitchFamily="34" charset="-122"/>
                <a:cs typeface="Times New Roman" panose="02020603050405020304" pitchFamily="18" charset="0"/>
              </a:rPr>
              <a:t>System Architecture — The Kadi Layer</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661475" y="1049437"/>
            <a:ext cx="10868745" cy="347266"/>
          </a:xfrm>
          <a:prstGeom prst="rect">
            <a:avLst/>
          </a:prstGeom>
          <a:noFill/>
          <a:ln/>
        </p:spPr>
        <p:txBody>
          <a:bodyPr wrap="square" lIns="0" tIns="0" rIns="0" bIns="0" rtlCol="0" anchor="t">
            <a:normAutofit/>
          </a:bodyPr>
          <a:lstStyle/>
          <a:p>
            <a:pPr marL="0" indent="0" algn="l">
              <a:lnSpc>
                <a:spcPct val="117000"/>
              </a:lnSpc>
              <a:buNone/>
            </a:pPr>
            <a:r>
              <a:rPr lang="hi-IN" altLang="en-US" sz="950" dirty="0">
                <a:solidFill>
                  <a:srgbClr val="333F70"/>
                </a:solidFill>
                <a:latin typeface="Times New Roman" panose="02020603050405020304" pitchFamily="18" charset="0"/>
                <a:ea typeface="Open Sans" pitchFamily="34" charset="-122"/>
                <a:cs typeface="Open Sans" pitchFamily="34" charset="-120"/>
              </a:rPr>
              <a:t>Three modules no longer operate as isolated pipelines. They share one context layer — </a:t>
            </a:r>
            <a:r>
              <a:rPr lang="hi-IN" altLang="en-US" sz="950" b="1" dirty="0">
                <a:solidFill>
                  <a:srgbClr val="333F70"/>
                </a:solidFill>
                <a:latin typeface="Times New Roman" panose="02020603050405020304" pitchFamily="18" charset="0"/>
                <a:ea typeface="Open Sans Bold" pitchFamily="34" charset="-122"/>
                <a:cs typeface="Open Sans Bold" pitchFamily="34" charset="-120"/>
              </a:rPr>
              <a:t>Kadi</a:t>
            </a:r>
            <a:r>
              <a:rPr lang="hi-IN" altLang="en-US" sz="950" dirty="0">
                <a:solidFill>
                  <a:srgbClr val="333F70"/>
                </a:solidFill>
                <a:latin typeface="Times New Roman" panose="02020603050405020304" pitchFamily="18" charset="0"/>
                <a:ea typeface="Open Sans" pitchFamily="34" charset="-122"/>
                <a:cs typeface="Open Sans" pitchFamily="34" charset="-120"/>
              </a:rPr>
              <a:t> (कड़ी, "link" in a chain) — so a single document upload can surface insights across all three modules without the user re-uploading anything. Kadi is not a fourth module; it is infrastructure that all three depend on.</a:t>
            </a:r>
            <a:endParaRPr lang="hi-IN" sz="95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3306184" y="1501279"/>
            <a:ext cx="5579228" cy="4429026"/>
          </a:xfrm>
          <a:prstGeom prst="rect">
            <a:avLst/>
          </a:prstGeom>
        </p:spPr>
      </p:pic>
      <p:sp>
        <p:nvSpPr>
          <p:cNvPr id="5" name="Text 2"/>
          <p:cNvSpPr/>
          <p:nvPr/>
        </p:nvSpPr>
        <p:spPr>
          <a:xfrm>
            <a:off x="5465682" y="3257258"/>
            <a:ext cx="1260231" cy="917067"/>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FFFFFF"/>
                </a:solidFill>
                <a:latin typeface="Times New Roman" panose="02020603050405020304" pitchFamily="18" charset="0"/>
                <a:ea typeface="Unbounded Bold" pitchFamily="34" charset="-122"/>
                <a:cs typeface="Times New Roman" panose="02020603050405020304" pitchFamily="18" charset="0"/>
              </a:rPr>
              <a:t>Kadi Shared Processing</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6573466" y="1834657"/>
            <a:ext cx="1491599" cy="458534"/>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333F70"/>
                </a:solidFill>
                <a:latin typeface="Times New Roman" panose="02020603050405020304" pitchFamily="18" charset="0"/>
                <a:ea typeface="Unbounded Bold" pitchFamily="34" charset="-122"/>
                <a:cs typeface="Times New Roman" panose="02020603050405020304" pitchFamily="18" charset="0"/>
              </a:rPr>
              <a:t>Any document</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6573466" y="2358404"/>
            <a:ext cx="1491599" cy="320973"/>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Bill, Prescription, Rejection Letter</a:t>
            </a:r>
            <a:endParaRPr lang="en-US" sz="1150" dirty="0">
              <a:latin typeface="Times New Roman" panose="02020603050405020304" pitchFamily="18" charset="0"/>
              <a:cs typeface="Times New Roman" panose="02020603050405020304" pitchFamily="18" charset="0"/>
            </a:endParaRPr>
          </a:p>
        </p:txBody>
      </p:sp>
      <p:sp>
        <p:nvSpPr>
          <p:cNvPr id="8" name="Text 5"/>
          <p:cNvSpPr/>
          <p:nvPr/>
        </p:nvSpPr>
        <p:spPr>
          <a:xfrm>
            <a:off x="4087256" y="1949290"/>
            <a:ext cx="1491599" cy="229267"/>
          </a:xfrm>
          <a:prstGeom prst="rect">
            <a:avLst/>
          </a:prstGeom>
          <a:noFill/>
          <a:ln/>
        </p:spPr>
        <p:txBody>
          <a:bodyPr wrap="none" lIns="0" tIns="0" rIns="0" bIns="0" rtlCol="0" anchor="t"/>
          <a:lstStyle/>
          <a:p>
            <a:pPr marL="0" indent="0" algn="ctr">
              <a:lnSpc>
                <a:spcPct val="104000"/>
              </a:lnSpc>
              <a:buNone/>
            </a:pPr>
            <a:r>
              <a:rPr lang="en-US" sz="1400" b="1" dirty="0">
                <a:solidFill>
                  <a:srgbClr val="333F70"/>
                </a:solidFill>
                <a:latin typeface="Times New Roman" panose="02020603050405020304" pitchFamily="18" charset="0"/>
                <a:ea typeface="Unbounded Bold" pitchFamily="34" charset="-122"/>
                <a:cs typeface="Times New Roman" panose="02020603050405020304" pitchFamily="18" charset="0"/>
              </a:rPr>
              <a:t>DawaCheck</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4087256" y="2243771"/>
            <a:ext cx="1491599" cy="320974"/>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Medicine pricing verification</a:t>
            </a:r>
            <a:endParaRPr lang="en-US" sz="1150" dirty="0">
              <a:latin typeface="Times New Roman" panose="02020603050405020304" pitchFamily="18" charset="0"/>
              <a:cs typeface="Times New Roman" panose="02020603050405020304" pitchFamily="18" charset="0"/>
            </a:endParaRPr>
          </a:p>
        </p:txBody>
      </p:sp>
      <p:sp>
        <p:nvSpPr>
          <p:cNvPr id="10" name="Text 7"/>
          <p:cNvSpPr/>
          <p:nvPr/>
        </p:nvSpPr>
        <p:spPr>
          <a:xfrm>
            <a:off x="4087256" y="4939695"/>
            <a:ext cx="1491599" cy="229267"/>
          </a:xfrm>
          <a:prstGeom prst="rect">
            <a:avLst/>
          </a:prstGeom>
          <a:noFill/>
          <a:ln/>
        </p:spPr>
        <p:txBody>
          <a:bodyPr wrap="none" lIns="0" tIns="0" rIns="0" bIns="0" rtlCol="0" anchor="t"/>
          <a:lstStyle/>
          <a:p>
            <a:pPr marL="0" indent="0" algn="ctr">
              <a:lnSpc>
                <a:spcPct val="104000"/>
              </a:lnSpc>
              <a:buNone/>
            </a:pPr>
            <a:r>
              <a:rPr lang="en-US" sz="1400" b="1" dirty="0">
                <a:solidFill>
                  <a:srgbClr val="333F70"/>
                </a:solidFill>
                <a:latin typeface="Times New Roman" panose="02020603050405020304" pitchFamily="18" charset="0"/>
                <a:ea typeface="Unbounded Bold" pitchFamily="34" charset="-122"/>
                <a:cs typeface="Times New Roman" panose="02020603050405020304" pitchFamily="18" charset="0"/>
              </a:rPr>
              <a:t>BillNyay</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4087256" y="5234176"/>
            <a:ext cx="1491599" cy="160487"/>
          </a:xfrm>
          <a:prstGeom prst="rect">
            <a:avLst/>
          </a:prstGeom>
          <a:noFill/>
          <a:ln/>
        </p:spPr>
        <p:txBody>
          <a:bodyPr wrap="none" lIns="0" tIns="0" rIns="0" bIns="0" rtlCol="0" anchor="t"/>
          <a:lstStyle/>
          <a:p>
            <a:pPr marL="0" indent="0" algn="ctr">
              <a:lnSpc>
                <a:spcPct val="91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Bill audit and appeal</a:t>
            </a:r>
            <a:endParaRPr lang="en-US" sz="1150" dirty="0">
              <a:latin typeface="Times New Roman" panose="02020603050405020304" pitchFamily="18" charset="0"/>
              <a:cs typeface="Times New Roman" panose="02020603050405020304" pitchFamily="18" charset="0"/>
            </a:endParaRPr>
          </a:p>
        </p:txBody>
      </p:sp>
      <p:sp>
        <p:nvSpPr>
          <p:cNvPr id="12" name="Text 9"/>
          <p:cNvSpPr/>
          <p:nvPr/>
        </p:nvSpPr>
        <p:spPr>
          <a:xfrm>
            <a:off x="6573466" y="4630185"/>
            <a:ext cx="1491599" cy="687801"/>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333F70"/>
                </a:solidFill>
                <a:latin typeface="Times New Roman" panose="02020603050405020304" pitchFamily="18" charset="0"/>
                <a:ea typeface="Unbounded Bold" pitchFamily="34" charset="-122"/>
                <a:cs typeface="Times New Roman" panose="02020603050405020304" pitchFamily="18" charset="0"/>
              </a:rPr>
              <a:t>Kadi Shared Case Context</a:t>
            </a:r>
            <a:endParaRPr lang="en-US" sz="1400" dirty="0">
              <a:latin typeface="Times New Roman" panose="02020603050405020304" pitchFamily="18" charset="0"/>
              <a:cs typeface="Times New Roman" panose="02020603050405020304" pitchFamily="18" charset="0"/>
            </a:endParaRPr>
          </a:p>
        </p:txBody>
      </p:sp>
      <p:sp>
        <p:nvSpPr>
          <p:cNvPr id="13" name="Text 10"/>
          <p:cNvSpPr/>
          <p:nvPr/>
        </p:nvSpPr>
        <p:spPr>
          <a:xfrm>
            <a:off x="6573466" y="5383199"/>
            <a:ext cx="1491599" cy="320973"/>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Common linked context</a:t>
            </a:r>
            <a:endParaRPr lang="en-US" sz="1150" dirty="0">
              <a:latin typeface="Times New Roman" panose="02020603050405020304" pitchFamily="18" charset="0"/>
              <a:cs typeface="Times New Roman" panose="02020603050405020304" pitchFamily="18" charset="0"/>
            </a:endParaRPr>
          </a:p>
        </p:txBody>
      </p:sp>
      <p:sp>
        <p:nvSpPr>
          <p:cNvPr id="14" name="Text 11"/>
          <p:cNvSpPr/>
          <p:nvPr/>
        </p:nvSpPr>
        <p:spPr>
          <a:xfrm>
            <a:off x="7111466" y="3154725"/>
            <a:ext cx="1524205" cy="687801"/>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333F70"/>
                </a:solidFill>
                <a:latin typeface="Times New Roman" panose="02020603050405020304" pitchFamily="18" charset="0"/>
                <a:ea typeface="Unbounded Bold" pitchFamily="34" charset="-122"/>
                <a:cs typeface="Times New Roman" panose="02020603050405020304" pitchFamily="18" charset="0"/>
              </a:rPr>
              <a:t>Shared Extraction Agent</a:t>
            </a:r>
            <a:endParaRPr lang="en-US" sz="1400" dirty="0">
              <a:latin typeface="Times New Roman" panose="02020603050405020304" pitchFamily="18" charset="0"/>
              <a:cs typeface="Times New Roman" panose="02020603050405020304" pitchFamily="18" charset="0"/>
            </a:endParaRPr>
          </a:p>
        </p:txBody>
      </p:sp>
      <p:sp>
        <p:nvSpPr>
          <p:cNvPr id="15" name="Text 12"/>
          <p:cNvSpPr/>
          <p:nvPr/>
        </p:nvSpPr>
        <p:spPr>
          <a:xfrm>
            <a:off x="7111466" y="3907739"/>
            <a:ext cx="1524205" cy="320974"/>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Unified data extraction</a:t>
            </a:r>
            <a:endParaRPr lang="en-US" sz="1150" dirty="0">
              <a:latin typeface="Times New Roman" panose="02020603050405020304" pitchFamily="18" charset="0"/>
              <a:cs typeface="Times New Roman" panose="02020603050405020304" pitchFamily="18" charset="0"/>
            </a:endParaRPr>
          </a:p>
        </p:txBody>
      </p:sp>
      <p:sp>
        <p:nvSpPr>
          <p:cNvPr id="16" name="Text 13"/>
          <p:cNvSpPr/>
          <p:nvPr/>
        </p:nvSpPr>
        <p:spPr>
          <a:xfrm>
            <a:off x="3541105" y="3392143"/>
            <a:ext cx="1524205" cy="229267"/>
          </a:xfrm>
          <a:prstGeom prst="rect">
            <a:avLst/>
          </a:prstGeom>
          <a:noFill/>
          <a:ln/>
        </p:spPr>
        <p:txBody>
          <a:bodyPr wrap="none" lIns="0" tIns="0" rIns="0" bIns="0" rtlCol="0" anchor="t"/>
          <a:lstStyle/>
          <a:p>
            <a:pPr marL="0" indent="0" algn="ctr">
              <a:lnSpc>
                <a:spcPct val="104000"/>
              </a:lnSpc>
              <a:buNone/>
            </a:pPr>
            <a:r>
              <a:rPr lang="en-US" sz="1400" b="1" dirty="0">
                <a:solidFill>
                  <a:srgbClr val="333F70"/>
                </a:solidFill>
                <a:latin typeface="Times New Roman" panose="02020603050405020304" pitchFamily="18" charset="0"/>
                <a:ea typeface="Unbounded Bold" pitchFamily="34" charset="-122"/>
                <a:cs typeface="Times New Roman" panose="02020603050405020304" pitchFamily="18" charset="0"/>
              </a:rPr>
              <a:t>SchemeSetu</a:t>
            </a:r>
            <a:endParaRPr lang="en-US" sz="1400" dirty="0">
              <a:latin typeface="Times New Roman" panose="02020603050405020304" pitchFamily="18" charset="0"/>
              <a:cs typeface="Times New Roman" panose="02020603050405020304" pitchFamily="18" charset="0"/>
            </a:endParaRPr>
          </a:p>
        </p:txBody>
      </p:sp>
      <p:sp>
        <p:nvSpPr>
          <p:cNvPr id="17" name="Text 14"/>
          <p:cNvSpPr/>
          <p:nvPr/>
        </p:nvSpPr>
        <p:spPr>
          <a:xfrm>
            <a:off x="3541105" y="3686624"/>
            <a:ext cx="1524205" cy="320974"/>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Scheme eligibility checks</a:t>
            </a:r>
            <a:endParaRPr lang="en-US" sz="1150" dirty="0">
              <a:latin typeface="Times New Roman" panose="02020603050405020304" pitchFamily="18" charset="0"/>
              <a:cs typeface="Times New Roman" panose="02020603050405020304" pitchFamily="18" charset="0"/>
            </a:endParaRPr>
          </a:p>
        </p:txBody>
      </p:sp>
      <p:sp>
        <p:nvSpPr>
          <p:cNvPr id="18" name="Text 15"/>
          <p:cNvSpPr/>
          <p:nvPr/>
        </p:nvSpPr>
        <p:spPr>
          <a:xfrm>
            <a:off x="661475" y="6034881"/>
            <a:ext cx="10868745"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333F70"/>
                </a:solidFill>
                <a:latin typeface="Times New Roman" panose="02020603050405020304" pitchFamily="18" charset="0"/>
                <a:ea typeface="Open Sans" pitchFamily="34" charset="-122"/>
                <a:cs typeface="Times New Roman" panose="02020603050405020304" pitchFamily="18" charset="0"/>
              </a:rPr>
              <a:t>Any document type triggers the same shared extraction step, lands in Kadi's case context, and from there any of the three modules can read what is already known and write back what they find — that is what "linked, not just co-located" means in practice.</a:t>
            </a:r>
            <a:endParaRPr lang="en-US" sz="95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BED63B3C-9B94-0D01-6A43-3A3C7A2A6556}"/>
              </a:ext>
            </a:extLst>
          </p:cNvPr>
          <p:cNvPicPr>
            <a:picLocks noChangeAspect="1"/>
          </p:cNvPicPr>
          <p:nvPr/>
        </p:nvPicPr>
        <p:blipFill>
          <a:blip r:embed="rId4"/>
          <a:stretch>
            <a:fillRect/>
          </a:stretch>
        </p:blipFill>
        <p:spPr>
          <a:xfrm>
            <a:off x="10661571" y="6515082"/>
            <a:ext cx="1530429" cy="3429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077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Times New Roman" panose="02020603050405020304" pitchFamily="18" charset="0"/>
                <a:ea typeface="Unbounded Bold" pitchFamily="34" charset="-122"/>
                <a:cs typeface="Times New Roman" panose="02020603050405020304" pitchFamily="18" charset="0"/>
              </a:rPr>
              <a:t>The Three Modules</a:t>
            </a:r>
            <a:endParaRPr lang="en-US" sz="325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661475" y="1358205"/>
            <a:ext cx="2021333" cy="1249263"/>
          </a:xfrm>
          <a:prstGeom prst="rect">
            <a:avLst/>
          </a:prstGeom>
        </p:spPr>
      </p:pic>
      <p:sp>
        <p:nvSpPr>
          <p:cNvPr id="4" name="Text 1"/>
          <p:cNvSpPr/>
          <p:nvPr/>
        </p:nvSpPr>
        <p:spPr>
          <a:xfrm>
            <a:off x="661475" y="2814141"/>
            <a:ext cx="3485071"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BillNyay</a:t>
            </a:r>
            <a:endParaRPr lang="en-US" sz="1600" dirty="0">
              <a:latin typeface="Times New Roman" panose="02020603050405020304" pitchFamily="18" charset="0"/>
              <a:cs typeface="Times New Roman" panose="02020603050405020304" pitchFamily="18" charset="0"/>
            </a:endParaRPr>
          </a:p>
        </p:txBody>
      </p:sp>
      <p:sp>
        <p:nvSpPr>
          <p:cNvPr id="5" name="Text 2"/>
          <p:cNvSpPr/>
          <p:nvPr/>
        </p:nvSpPr>
        <p:spPr>
          <a:xfrm>
            <a:off x="661475" y="3171825"/>
            <a:ext cx="3485071" cy="3175397"/>
          </a:xfrm>
          <a:prstGeom prst="rect">
            <a:avLst/>
          </a:prstGeom>
          <a:noFill/>
          <a:ln/>
        </p:spPr>
        <p:txBody>
          <a:bodyPr wrap="square" lIns="0" tIns="0" rIns="0" bIns="0" rtlCol="0" anchor="t">
            <a:normAutofit/>
          </a:bodyPr>
          <a:lstStyle/>
          <a:p>
            <a:pPr marL="0" indent="0" algn="l">
              <a:lnSpc>
                <a:spcPct val="133000"/>
              </a:lnSpc>
              <a:buNone/>
            </a:pPr>
            <a:r>
              <a:rPr lang="en-US" sz="1300" i="1" dirty="0">
                <a:solidFill>
                  <a:srgbClr val="333F70"/>
                </a:solidFill>
                <a:latin typeface="Times New Roman" panose="02020603050405020304" pitchFamily="18" charset="0"/>
                <a:ea typeface="Open Sans" pitchFamily="34" charset="-122"/>
                <a:cs typeface="Times New Roman" panose="02020603050405020304" pitchFamily="18" charset="0"/>
              </a:rPr>
              <a:t>Formerly BillGuard — renamed for consistency; "Nyay" = justice.</a:t>
            </a: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 Upload a hospital bill → OCR extracts line items → benchmarks against CGHS government rates → flags overcharges. A 5-agent pipeline (Document Auditor → Clinical Reviewer → Regulatory Advisor → Appeal Drafter → QA Judge) drafts an IRDAI-compliant appeal letter as a PDF. Insurance rejection and appeal handling is built into the Appeal Drafter + QA Judge agents — not a separate feature.</a:t>
            </a:r>
            <a:endParaRPr lang="en-US" sz="13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4353213" y="1358205"/>
            <a:ext cx="2021333" cy="1249263"/>
          </a:xfrm>
          <a:prstGeom prst="rect">
            <a:avLst/>
          </a:prstGeom>
        </p:spPr>
      </p:pic>
      <p:sp>
        <p:nvSpPr>
          <p:cNvPr id="7" name="Text 3"/>
          <p:cNvSpPr/>
          <p:nvPr/>
        </p:nvSpPr>
        <p:spPr>
          <a:xfrm>
            <a:off x="4353213" y="2814141"/>
            <a:ext cx="3485170"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SchemeSetu</a:t>
            </a:r>
            <a:endParaRPr lang="en-US" sz="1600" dirty="0">
              <a:latin typeface="Times New Roman" panose="02020603050405020304" pitchFamily="18" charset="0"/>
              <a:cs typeface="Times New Roman" panose="02020603050405020304" pitchFamily="18" charset="0"/>
            </a:endParaRPr>
          </a:p>
        </p:txBody>
      </p:sp>
      <p:sp>
        <p:nvSpPr>
          <p:cNvPr id="8" name="Text 4"/>
          <p:cNvSpPr/>
          <p:nvPr/>
        </p:nvSpPr>
        <p:spPr>
          <a:xfrm>
            <a:off x="4353213" y="3171825"/>
            <a:ext cx="3485170" cy="1852315"/>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User answers a short intake or uploads a bill/prescription → RAG layer over PMJAY (national) and MJPJAY (Maharashtra state) scheme documents → agent reasons through eligibility rules → outputs which scheme(s) apply and a step-by-step claim guide.</a:t>
            </a:r>
            <a:endParaRPr lang="en-US" sz="13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8045050" y="1358205"/>
            <a:ext cx="2021333" cy="1249263"/>
          </a:xfrm>
          <a:prstGeom prst="rect">
            <a:avLst/>
          </a:prstGeom>
        </p:spPr>
      </p:pic>
      <p:sp>
        <p:nvSpPr>
          <p:cNvPr id="10" name="Text 5"/>
          <p:cNvSpPr/>
          <p:nvPr/>
        </p:nvSpPr>
        <p:spPr>
          <a:xfrm>
            <a:off x="8045050" y="2814141"/>
            <a:ext cx="3485170"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DawaCheck</a:t>
            </a:r>
            <a:endParaRPr lang="en-US" sz="1600" dirty="0">
              <a:latin typeface="Times New Roman" panose="02020603050405020304" pitchFamily="18" charset="0"/>
              <a:cs typeface="Times New Roman" panose="02020603050405020304" pitchFamily="18" charset="0"/>
            </a:endParaRPr>
          </a:p>
        </p:txBody>
      </p:sp>
      <p:sp>
        <p:nvSpPr>
          <p:cNvPr id="11" name="Text 6"/>
          <p:cNvSpPr/>
          <p:nvPr/>
        </p:nvSpPr>
        <p:spPr>
          <a:xfrm>
            <a:off x="8045050" y="3171825"/>
            <a:ext cx="3485170" cy="238154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Upload a medicine strip photo or prescription → OCR reads drug name and batch → benchmarks MRP against NPPA ceiling prices for Schedule-I formulations (~800–900 price-controlled drugs) → flags overcharging → suggests generic substitutes. Deliberately scoped to Schedule-I only — the one segment with clean, government-published ground-truth prices.</a:t>
            </a:r>
            <a:endParaRPr lang="en-US" sz="13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BE1A763D-AE27-E2DD-C4A2-DF846AC307D7}"/>
              </a:ext>
            </a:extLst>
          </p:cNvPr>
          <p:cNvPicPr>
            <a:picLocks noChangeAspect="1"/>
          </p:cNvPicPr>
          <p:nvPr/>
        </p:nvPicPr>
        <p:blipFill>
          <a:blip r:embed="rId6"/>
          <a:stretch>
            <a:fillRect/>
          </a:stretch>
        </p:blipFill>
        <p:spPr>
          <a:xfrm>
            <a:off x="10661571" y="6515082"/>
            <a:ext cx="1530429" cy="3429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6109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Times New Roman" panose="02020603050405020304" pitchFamily="18" charset="0"/>
                <a:ea typeface="Unbounded Bold" pitchFamily="34" charset="-122"/>
                <a:cs typeface="Times New Roman" panose="02020603050405020304" pitchFamily="18" charset="0"/>
              </a:rPr>
              <a:t>Kadi — Shared Context Layer</a:t>
            </a:r>
            <a:endParaRPr lang="en-US" sz="3250" dirty="0">
              <a:latin typeface="Times New Roman" panose="02020603050405020304" pitchFamily="18" charset="0"/>
              <a:cs typeface="Times New Roman" panose="02020603050405020304" pitchFamily="18" charset="0"/>
            </a:endParaRPr>
          </a:p>
        </p:txBody>
      </p:sp>
      <p:sp>
        <p:nvSpPr>
          <p:cNvPr id="3" name="Text 1"/>
          <p:cNvSpPr/>
          <p:nvPr/>
        </p:nvSpPr>
        <p:spPr>
          <a:xfrm>
            <a:off x="661475" y="1508522"/>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Kadi is the connective infrastructure that makes the three modules genuinely interoperate. It comprises three core components: a case and entity data model, a shared extraction agent, and an entity resolution pipeline.</a:t>
            </a:r>
            <a:endParaRPr lang="en-US" sz="1300" dirty="0">
              <a:latin typeface="Times New Roman" panose="02020603050405020304" pitchFamily="18" charset="0"/>
              <a:cs typeface="Times New Roman" panose="02020603050405020304" pitchFamily="18" charset="0"/>
            </a:endParaRPr>
          </a:p>
        </p:txBody>
      </p:sp>
      <p:sp>
        <p:nvSpPr>
          <p:cNvPr id="4" name="Shape 2"/>
          <p:cNvSpPr/>
          <p:nvPr/>
        </p:nvSpPr>
        <p:spPr>
          <a:xfrm>
            <a:off x="542415" y="2223790"/>
            <a:ext cx="5470785" cy="3973116"/>
          </a:xfrm>
          <a:prstGeom prst="roundRect">
            <a:avLst>
              <a:gd name="adj" fmla="val 2997"/>
            </a:avLst>
          </a:prstGeom>
          <a:solidFill>
            <a:srgbClr val="26A688"/>
          </a:solidFill>
          <a:ln/>
        </p:spPr>
      </p:sp>
      <p:sp>
        <p:nvSpPr>
          <p:cNvPr id="5" name="Text 3"/>
          <p:cNvSpPr/>
          <p:nvPr/>
        </p:nvSpPr>
        <p:spPr>
          <a:xfrm>
            <a:off x="707710" y="2389088"/>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Unbounded Bold" pitchFamily="34" charset="-122"/>
                <a:cs typeface="Times New Roman" panose="02020603050405020304" pitchFamily="18" charset="0"/>
              </a:rPr>
              <a:t>Case &amp; Entity Model</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707710" y="2812852"/>
            <a:ext cx="5140196" cy="170338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b="1" dirty="0">
                <a:solidFill>
                  <a:srgbClr val="000000"/>
                </a:solidFill>
                <a:latin typeface="Times New Roman" panose="02020603050405020304" pitchFamily="18" charset="0"/>
                <a:ea typeface="Open Sans Bold" pitchFamily="34" charset="-122"/>
                <a:cs typeface="Times New Roman" panose="02020603050405020304" pitchFamily="18" charset="0"/>
              </a:rPr>
              <a:t>cases</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 One record per patient session; the anchor everything else attaches to</a:t>
            </a:r>
            <a:endParaRPr lang="en-US" sz="1300" dirty="0">
              <a:latin typeface="Times New Roman" panose="02020603050405020304" pitchFamily="18" charset="0"/>
              <a:cs typeface="Times New Roman" panose="02020603050405020304" pitchFamily="18" charset="0"/>
            </a:endParaRPr>
          </a:p>
          <a:p>
            <a:pPr marL="264160" indent="-264160" algn="l">
              <a:lnSpc>
                <a:spcPct val="133000"/>
              </a:lnSpc>
              <a:buSzPct val="100000"/>
              <a:buChar char="•"/>
            </a:pPr>
            <a:r>
              <a:rPr lang="en-US" sz="1300" b="1" dirty="0">
                <a:solidFill>
                  <a:srgbClr val="000000"/>
                </a:solidFill>
                <a:latin typeface="Times New Roman" panose="02020603050405020304" pitchFamily="18" charset="0"/>
                <a:ea typeface="Open Sans Bold" pitchFamily="34" charset="-122"/>
                <a:cs typeface="Times New Roman" panose="02020603050405020304" pitchFamily="18" charset="0"/>
              </a:rPr>
              <a:t>entities</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 Extracted structured data (medicine, hospital, procedure, amount, category), tagged by type</a:t>
            </a:r>
            <a:endParaRPr lang="en-US" sz="1300" dirty="0">
              <a:latin typeface="Times New Roman" panose="02020603050405020304" pitchFamily="18" charset="0"/>
              <a:cs typeface="Times New Roman" panose="02020603050405020304" pitchFamily="18" charset="0"/>
            </a:endParaRPr>
          </a:p>
          <a:p>
            <a:pPr marL="264160" indent="-264160" algn="l">
              <a:lnSpc>
                <a:spcPct val="133000"/>
              </a:lnSpc>
              <a:buSzPct val="100000"/>
              <a:buChar char="•"/>
            </a:pPr>
            <a:r>
              <a:rPr lang="en-US" sz="1300" b="1" dirty="0">
                <a:solidFill>
                  <a:srgbClr val="000000"/>
                </a:solidFill>
                <a:latin typeface="Times New Roman" panose="02020603050405020304" pitchFamily="18" charset="0"/>
                <a:ea typeface="Open Sans Bold" pitchFamily="34" charset="-122"/>
                <a:cs typeface="Times New Roman" panose="02020603050405020304" pitchFamily="18" charset="0"/>
              </a:rPr>
              <a:t>case_entities</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 Links entities to the case and the document/module that produced them</a:t>
            </a:r>
            <a:endParaRPr lang="en-US" sz="1300" dirty="0">
              <a:latin typeface="Times New Roman" panose="02020603050405020304" pitchFamily="18" charset="0"/>
              <a:cs typeface="Times New Roman" panose="02020603050405020304" pitchFamily="18" charset="0"/>
            </a:endParaRPr>
          </a:p>
        </p:txBody>
      </p:sp>
      <p:sp>
        <p:nvSpPr>
          <p:cNvPr id="7" name="Text 5"/>
          <p:cNvSpPr/>
          <p:nvPr/>
        </p:nvSpPr>
        <p:spPr>
          <a:xfrm>
            <a:off x="707710" y="4665067"/>
            <a:ext cx="514019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Sits in the same Postgres instance alongside each module's domain tables — a new layer, not a new database.</a:t>
            </a:r>
            <a:endParaRPr lang="en-US" sz="1300" dirty="0">
              <a:latin typeface="Times New Roman" panose="02020603050405020304" pitchFamily="18" charset="0"/>
              <a:cs typeface="Times New Roman" panose="02020603050405020304" pitchFamily="18" charset="0"/>
            </a:endParaRPr>
          </a:p>
        </p:txBody>
      </p:sp>
      <p:sp>
        <p:nvSpPr>
          <p:cNvPr id="8" name="Text 6"/>
          <p:cNvSpPr/>
          <p:nvPr/>
        </p:nvSpPr>
        <p:spPr>
          <a:xfrm>
            <a:off x="6303904" y="2389088"/>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Shared Extraction Agent</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303904" y="2812852"/>
            <a:ext cx="5232666"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One extraction agent normalises any input document (bill, prescription, rejection letter) into a common schema — hospital, diagnosis/procedure, medicines, amount, date, category — rather than each module running its own bespoke parser. Harder to build well than three separate parsers, but it is what lets the three modules speak the same language.</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6303904" y="4565848"/>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Times New Roman" panose="02020603050405020304" pitchFamily="18" charset="0"/>
                <a:ea typeface="Unbounded Bold" pitchFamily="34" charset="-122"/>
                <a:cs typeface="Times New Roman" panose="02020603050405020304" pitchFamily="18" charset="0"/>
              </a:rPr>
              <a:t>Auto-Triggering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303904" y="4989612"/>
            <a:ext cx="52326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Once Kadi has enough context, it can proactively fire other modules without a re-upload. A bill mentioning a ₹4L cardiac surgery triggers SchemeSetu eligibility checks in the background — the strongest live-demo moment: one upload, three insights.</a:t>
            </a:r>
            <a:endParaRPr lang="en-US" sz="13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46E532D-49CD-667E-0E14-CC6585F48B2D}"/>
              </a:ext>
            </a:extLst>
          </p:cNvPr>
          <p:cNvPicPr>
            <a:picLocks noChangeAspect="1"/>
          </p:cNvPicPr>
          <p:nvPr/>
        </p:nvPicPr>
        <p:blipFill>
          <a:blip r:embed="rId3"/>
          <a:stretch>
            <a:fillRect/>
          </a:stretch>
        </p:blipFill>
        <p:spPr>
          <a:xfrm>
            <a:off x="10661571" y="6515082"/>
            <a:ext cx="1530429" cy="3429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73695"/>
            <a:ext cx="10868745" cy="361752"/>
          </a:xfrm>
          <a:prstGeom prst="rect">
            <a:avLst/>
          </a:prstGeom>
          <a:noFill/>
          <a:ln/>
        </p:spPr>
        <p:txBody>
          <a:bodyPr wrap="none" lIns="0" tIns="0" rIns="0" bIns="0" rtlCol="0" anchor="t"/>
          <a:lstStyle/>
          <a:p>
            <a:pPr marL="0" indent="0" algn="l">
              <a:lnSpc>
                <a:spcPct val="104000"/>
              </a:lnSpc>
              <a:buNone/>
            </a:pPr>
            <a:r>
              <a:rPr lang="en-US" sz="2250" b="1" dirty="0">
                <a:solidFill>
                  <a:srgbClr val="333F70"/>
                </a:solidFill>
                <a:latin typeface="Times New Roman" panose="02020603050405020304" pitchFamily="18" charset="0"/>
                <a:ea typeface="Unbounded Bold" pitchFamily="34" charset="-122"/>
                <a:cs typeface="Times New Roman" panose="02020603050405020304" pitchFamily="18" charset="0"/>
              </a:rPr>
              <a:t>Entity Resolution Pipeline</a:t>
            </a:r>
            <a:endParaRPr lang="en-US" sz="2250" dirty="0">
              <a:latin typeface="Times New Roman" panose="02020603050405020304" pitchFamily="18" charset="0"/>
              <a:cs typeface="Times New Roman" panose="02020603050405020304" pitchFamily="18" charset="0"/>
            </a:endParaRPr>
          </a:p>
        </p:txBody>
      </p:sp>
      <p:sp>
        <p:nvSpPr>
          <p:cNvPr id="3" name="Text 1"/>
          <p:cNvSpPr/>
          <p:nvPr/>
        </p:nvSpPr>
        <p:spPr>
          <a:xfrm>
            <a:off x="661475" y="1197471"/>
            <a:ext cx="10868745" cy="314920"/>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The genuinely hard, genuinely defensible piece of Kadi. Three similarity signals feed a logistic regression that produces one confidence score, determining whether a new entity mention is merged, flagged for user review, or created as a new entity. Blocking happens within a case and by entity type before scoring, keeping it computationally cheap.</a:t>
            </a:r>
            <a:endParaRPr lang="en-US" sz="9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3861596" y="1603474"/>
            <a:ext cx="4468502" cy="2652117"/>
          </a:xfrm>
          <a:prstGeom prst="rect">
            <a:avLst/>
          </a:prstGeom>
        </p:spPr>
      </p:pic>
      <p:sp>
        <p:nvSpPr>
          <p:cNvPr id="5" name="Text 2"/>
          <p:cNvSpPr/>
          <p:nvPr/>
        </p:nvSpPr>
        <p:spPr>
          <a:xfrm>
            <a:off x="6971735" y="3426439"/>
            <a:ext cx="1110759" cy="641936"/>
          </a:xfrm>
          <a:prstGeom prst="rect">
            <a:avLst/>
          </a:prstGeom>
          <a:noFill/>
          <a:ln/>
        </p:spPr>
        <p:txBody>
          <a:bodyPr wrap="square" lIns="0" tIns="0" rIns="0" bIns="0" rtlCol="0" anchor="t">
            <a:normAutofit/>
          </a:bodyPr>
          <a:lstStyle/>
          <a:p>
            <a:pPr marL="0" indent="0" algn="ctr">
              <a:lnSpc>
                <a:spcPct val="104000"/>
              </a:lnSpc>
              <a:buNone/>
            </a:pPr>
            <a:r>
              <a:rPr lang="en-US" sz="1300" b="1" dirty="0">
                <a:solidFill>
                  <a:srgbClr val="333F70"/>
                </a:solidFill>
                <a:latin typeface="Times New Roman" panose="02020603050405020304" pitchFamily="18" charset="0"/>
                <a:ea typeface="Unbounded Bold" pitchFamily="34" charset="-122"/>
                <a:cs typeface="Times New Roman" panose="02020603050405020304" pitchFamily="18" charset="0"/>
              </a:rPr>
              <a:t>Merge / Review / New</a:t>
            </a:r>
            <a:endParaRPr lang="en-US" sz="1300" dirty="0">
              <a:latin typeface="Times New Roman" panose="02020603050405020304" pitchFamily="18" charset="0"/>
              <a:cs typeface="Times New Roman" panose="02020603050405020304" pitchFamily="18" charset="0"/>
            </a:endParaRPr>
          </a:p>
        </p:txBody>
      </p:sp>
      <p:sp>
        <p:nvSpPr>
          <p:cNvPr id="6" name="Text 3"/>
          <p:cNvSpPr/>
          <p:nvPr/>
        </p:nvSpPr>
        <p:spPr>
          <a:xfrm>
            <a:off x="5571873" y="3533429"/>
            <a:ext cx="1110759" cy="427958"/>
          </a:xfrm>
          <a:prstGeom prst="rect">
            <a:avLst/>
          </a:prstGeom>
          <a:noFill/>
          <a:ln/>
        </p:spPr>
        <p:txBody>
          <a:bodyPr wrap="square" lIns="0" tIns="0" rIns="0" bIns="0" rtlCol="0" anchor="t">
            <a:normAutofit/>
          </a:bodyPr>
          <a:lstStyle/>
          <a:p>
            <a:pPr marL="0" indent="0" algn="ctr">
              <a:lnSpc>
                <a:spcPct val="104000"/>
              </a:lnSpc>
              <a:buNone/>
            </a:pPr>
            <a:r>
              <a:rPr lang="en-US" sz="1300" b="1" dirty="0">
                <a:solidFill>
                  <a:srgbClr val="333F70"/>
                </a:solidFill>
                <a:latin typeface="Times New Roman" panose="02020603050405020304" pitchFamily="18" charset="0"/>
                <a:ea typeface="Unbounded Bold" pitchFamily="34" charset="-122"/>
                <a:cs typeface="Times New Roman" panose="02020603050405020304" pitchFamily="18" charset="0"/>
              </a:rPr>
              <a:t>Confidence Score</a:t>
            </a:r>
            <a:endParaRPr lang="en-US" sz="1300" dirty="0">
              <a:latin typeface="Times New Roman" panose="02020603050405020304" pitchFamily="18" charset="0"/>
              <a:cs typeface="Times New Roman" panose="02020603050405020304" pitchFamily="18" charset="0"/>
            </a:endParaRPr>
          </a:p>
        </p:txBody>
      </p:sp>
      <p:sp>
        <p:nvSpPr>
          <p:cNvPr id="7" name="Text 4"/>
          <p:cNvSpPr/>
          <p:nvPr/>
        </p:nvSpPr>
        <p:spPr>
          <a:xfrm>
            <a:off x="4149188" y="3533429"/>
            <a:ext cx="1110760" cy="427958"/>
          </a:xfrm>
          <a:prstGeom prst="rect">
            <a:avLst/>
          </a:prstGeom>
          <a:noFill/>
          <a:ln/>
        </p:spPr>
        <p:txBody>
          <a:bodyPr wrap="square" lIns="0" tIns="0" rIns="0" bIns="0" rtlCol="0" anchor="t">
            <a:normAutofit/>
          </a:bodyPr>
          <a:lstStyle/>
          <a:p>
            <a:pPr marL="0" indent="0" algn="ctr">
              <a:lnSpc>
                <a:spcPct val="104000"/>
              </a:lnSpc>
              <a:buNone/>
            </a:pPr>
            <a:r>
              <a:rPr lang="en-US" sz="1300" b="1" dirty="0">
                <a:solidFill>
                  <a:srgbClr val="333F70"/>
                </a:solidFill>
                <a:latin typeface="Times New Roman" panose="02020603050405020304" pitchFamily="18" charset="0"/>
                <a:ea typeface="Unbounded Bold" pitchFamily="34" charset="-122"/>
                <a:cs typeface="Times New Roman" panose="02020603050405020304" pitchFamily="18" charset="0"/>
              </a:rPr>
              <a:t>New Mention</a:t>
            </a:r>
            <a:endParaRPr lang="en-US" sz="1300" dirty="0">
              <a:latin typeface="Times New Roman" panose="02020603050405020304" pitchFamily="18" charset="0"/>
              <a:cs typeface="Times New Roman" panose="02020603050405020304" pitchFamily="18" charset="0"/>
            </a:endParaRPr>
          </a:p>
        </p:txBody>
      </p:sp>
      <p:sp>
        <p:nvSpPr>
          <p:cNvPr id="8" name="Text 5"/>
          <p:cNvSpPr/>
          <p:nvPr/>
        </p:nvSpPr>
        <p:spPr>
          <a:xfrm>
            <a:off x="661475" y="4346674"/>
            <a:ext cx="11478330" cy="157460"/>
          </a:xfrm>
          <a:prstGeom prst="rect">
            <a:avLst/>
          </a:prstGeom>
          <a:noFill/>
          <a:ln/>
        </p:spPr>
        <p:txBody>
          <a:bodyPr wrap="none" lIns="0" tIns="0" rIns="0" bIns="0" rtlCol="0" anchor="t"/>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The diagram above illustrates the full entity resolution flow — from an incoming entity mention through multi-signal confidence scoring to one of three resolution actions.</a:t>
            </a:r>
            <a:endParaRPr lang="en-US" sz="90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595217"/>
            <a:ext cx="3568908" cy="1122462"/>
          </a:xfrm>
          <a:prstGeom prst="rect">
            <a:avLst/>
          </a:prstGeom>
        </p:spPr>
      </p:pic>
      <p:sp>
        <p:nvSpPr>
          <p:cNvPr id="10" name="Text 6"/>
          <p:cNvSpPr/>
          <p:nvPr/>
        </p:nvSpPr>
        <p:spPr>
          <a:xfrm>
            <a:off x="840659" y="4723606"/>
            <a:ext cx="326133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String Similarity</a:t>
            </a:r>
            <a:endParaRPr lang="en-US" sz="1100" dirty="0">
              <a:latin typeface="Times New Roman" panose="02020603050405020304" pitchFamily="18" charset="0"/>
              <a:cs typeface="Times New Roman" panose="02020603050405020304" pitchFamily="18" charset="0"/>
            </a:endParaRPr>
          </a:p>
        </p:txBody>
      </p:sp>
      <p:sp>
        <p:nvSpPr>
          <p:cNvPr id="11" name="Text 7"/>
          <p:cNvSpPr/>
          <p:nvPr/>
        </p:nvSpPr>
        <p:spPr>
          <a:xfrm>
            <a:off x="840659" y="4953099"/>
            <a:ext cx="3261338" cy="314920"/>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Catches surface variants — "Paracetamol 650mg" vs "Paracetamol". Tool: edit distance and token overlap.</a:t>
            </a:r>
            <a:endParaRPr lang="en-US" sz="900" dirty="0">
              <a:latin typeface="Times New Roman" panose="02020603050405020304" pitchFamily="18" charset="0"/>
              <a:cs typeface="Times New Roman" panose="02020603050405020304" pitchFamily="18" charset="0"/>
            </a:endParaRPr>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1344" y="4595217"/>
            <a:ext cx="3568908" cy="1122462"/>
          </a:xfrm>
          <a:prstGeom prst="rect">
            <a:avLst/>
          </a:prstGeom>
        </p:spPr>
      </p:pic>
      <p:sp>
        <p:nvSpPr>
          <p:cNvPr id="13" name="Text 8"/>
          <p:cNvSpPr/>
          <p:nvPr/>
        </p:nvSpPr>
        <p:spPr>
          <a:xfrm>
            <a:off x="4490528" y="4723606"/>
            <a:ext cx="326133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Transliteration Matching</a:t>
            </a:r>
            <a:endParaRPr lang="en-US" sz="1100" dirty="0">
              <a:latin typeface="Times New Roman" panose="02020603050405020304" pitchFamily="18" charset="0"/>
              <a:cs typeface="Times New Roman" panose="02020603050405020304" pitchFamily="18" charset="0"/>
            </a:endParaRPr>
          </a:p>
        </p:txBody>
      </p:sp>
      <p:sp>
        <p:nvSpPr>
          <p:cNvPr id="14" name="Text 9"/>
          <p:cNvSpPr/>
          <p:nvPr/>
        </p:nvSpPr>
        <p:spPr>
          <a:xfrm>
            <a:off x="4490528" y="4953099"/>
            <a:ext cx="3261338" cy="478730"/>
          </a:xfrm>
          <a:prstGeom prst="rect">
            <a:avLst/>
          </a:prstGeom>
          <a:noFill/>
          <a:ln/>
        </p:spPr>
        <p:txBody>
          <a:bodyPr wrap="square" lIns="0" tIns="0" rIns="0" bIns="0" rtlCol="0" anchor="t">
            <a:normAutofit/>
          </a:bodyPr>
          <a:lstStyle/>
          <a:p>
            <a:pPr marL="0" indent="0" algn="l">
              <a:lnSpc>
                <a:spcPct val="113000"/>
              </a:lnSpc>
              <a:buNone/>
            </a:pPr>
            <a:r>
              <a:rPr lang="hi-IN" altLang="en-US" sz="900" dirty="0">
                <a:solidFill>
                  <a:srgbClr val="333F70"/>
                </a:solidFill>
                <a:latin typeface="Times New Roman" panose="02020603050405020304" pitchFamily="18" charset="0"/>
                <a:ea typeface="Open Sans" pitchFamily="34" charset="-122"/>
                <a:cs typeface="Open Sans" pitchFamily="34" charset="-120"/>
              </a:rPr>
              <a:t>Same word, different script — क्रॉसिन </a:t>
            </a:r>
            <a:r>
              <a:rPr lang="hi-IN" altLang="en-US" sz="900" dirty="0">
                <a:solidFill>
                  <a:srgbClr val="000000"/>
                </a:solidFill>
                <a:latin typeface="Times New Roman" panose="02020603050405020304" pitchFamily="18" charset="0"/>
                <a:ea typeface="Open Sans" pitchFamily="34" charset="-122"/>
                <a:cs typeface="Open Sans" pitchFamily="34" charset="-120"/>
              </a:rPr>
              <a:t>↔</a:t>
            </a:r>
            <a:r>
              <a:rPr lang="hi-IN" altLang="en-US" sz="900" dirty="0">
                <a:solidFill>
                  <a:srgbClr val="333F70"/>
                </a:solidFill>
                <a:latin typeface="Times New Roman" panose="02020603050405020304" pitchFamily="18" charset="0"/>
                <a:ea typeface="Open Sans" pitchFamily="34" charset="-122"/>
                <a:cs typeface="Open Sans" pitchFamily="34" charset="-120"/>
              </a:rPr>
              <a:t> Crocin. Tool: </a:t>
            </a:r>
            <a:r>
              <a:rPr lang="hi-IN" altLang="en-US" sz="900" b="1" dirty="0">
                <a:solidFill>
                  <a:srgbClr val="333F70"/>
                </a:solidFill>
                <a:latin typeface="Times New Roman" panose="02020603050405020304" pitchFamily="18" charset="0"/>
                <a:ea typeface="Open Sans Bold" pitchFamily="34" charset="-122"/>
                <a:cs typeface="Open Sans Bold" pitchFamily="34" charset="-120"/>
              </a:rPr>
              <a:t>IndicXlit</a:t>
            </a:r>
            <a:r>
              <a:rPr lang="hi-IN" altLang="en-US" sz="900" dirty="0">
                <a:solidFill>
                  <a:srgbClr val="333F70"/>
                </a:solidFill>
                <a:latin typeface="Times New Roman" panose="02020603050405020304" pitchFamily="18" charset="0"/>
                <a:ea typeface="Open Sans" pitchFamily="34" charset="-122"/>
                <a:cs typeface="Open Sans" pitchFamily="34" charset="-120"/>
              </a:rPr>
              <a:t> (AI4Bharat), MIT-licensed, supports Hindi + Marathi among 21 Indic languages.</a:t>
            </a:r>
            <a:endParaRPr lang="hi-IN" sz="900" dirty="0">
              <a:latin typeface="Times New Roman" panose="02020603050405020304" pitchFamily="18" charset="0"/>
            </a:endParaRPr>
          </a:p>
        </p:txBody>
      </p:sp>
      <p:pic>
        <p:nvPicPr>
          <p:cNvPr id="1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213" y="4595217"/>
            <a:ext cx="3568908" cy="1122462"/>
          </a:xfrm>
          <a:prstGeom prst="rect">
            <a:avLst/>
          </a:prstGeom>
        </p:spPr>
      </p:pic>
      <p:sp>
        <p:nvSpPr>
          <p:cNvPr id="16" name="Text 10"/>
          <p:cNvSpPr/>
          <p:nvPr/>
        </p:nvSpPr>
        <p:spPr>
          <a:xfrm>
            <a:off x="8140397" y="4723606"/>
            <a:ext cx="326133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Semantic / Cross-Lingual Similarity</a:t>
            </a:r>
            <a:endParaRPr lang="en-US" sz="1100" dirty="0">
              <a:latin typeface="Times New Roman" panose="02020603050405020304" pitchFamily="18" charset="0"/>
              <a:cs typeface="Times New Roman" panose="02020603050405020304" pitchFamily="18" charset="0"/>
            </a:endParaRPr>
          </a:p>
        </p:txBody>
      </p:sp>
      <p:sp>
        <p:nvSpPr>
          <p:cNvPr id="17" name="Text 11"/>
          <p:cNvSpPr/>
          <p:nvPr/>
        </p:nvSpPr>
        <p:spPr>
          <a:xfrm>
            <a:off x="8140397" y="4953099"/>
            <a:ext cx="3261338" cy="636191"/>
          </a:xfrm>
          <a:prstGeom prst="rect">
            <a:avLst/>
          </a:prstGeom>
          <a:noFill/>
          <a:ln/>
        </p:spPr>
        <p:txBody>
          <a:bodyPr wrap="square" lIns="0" tIns="0" rIns="0" bIns="0" rtlCol="0" anchor="t">
            <a:normAutofit/>
          </a:bodyPr>
          <a:lstStyle/>
          <a:p>
            <a:pPr marL="0" indent="0" algn="l">
              <a:lnSpc>
                <a:spcPct val="113000"/>
              </a:lnSpc>
              <a:buNone/>
            </a:pPr>
            <a:r>
              <a:rPr lang="hi-IN" altLang="en-US" sz="900" dirty="0">
                <a:solidFill>
                  <a:srgbClr val="333F70"/>
                </a:solidFill>
                <a:latin typeface="Times New Roman" panose="02020603050405020304" pitchFamily="18" charset="0"/>
                <a:ea typeface="Open Sans" pitchFamily="34" charset="-122"/>
                <a:cs typeface="Open Sans" pitchFamily="34" charset="-120"/>
              </a:rPr>
              <a:t>Translated concepts, not transliterations — बुखार </a:t>
            </a:r>
            <a:r>
              <a:rPr lang="hi-IN" altLang="en-US" sz="900" dirty="0">
                <a:solidFill>
                  <a:srgbClr val="000000"/>
                </a:solidFill>
                <a:latin typeface="Times New Roman" panose="02020603050405020304" pitchFamily="18" charset="0"/>
                <a:ea typeface="Open Sans" pitchFamily="34" charset="-122"/>
                <a:cs typeface="Open Sans" pitchFamily="34" charset="-120"/>
              </a:rPr>
              <a:t>↔</a:t>
            </a:r>
            <a:r>
              <a:rPr lang="hi-IN" altLang="en-US" sz="900" dirty="0">
                <a:solidFill>
                  <a:srgbClr val="333F70"/>
                </a:solidFill>
                <a:latin typeface="Times New Roman" panose="02020603050405020304" pitchFamily="18" charset="0"/>
                <a:ea typeface="Open Sans" pitchFamily="34" charset="-122"/>
                <a:cs typeface="Open Sans" pitchFamily="34" charset="-120"/>
              </a:rPr>
              <a:t> Fever. Tool: </a:t>
            </a:r>
            <a:r>
              <a:rPr lang="hi-IN" altLang="en-US" sz="900" b="1" dirty="0">
                <a:solidFill>
                  <a:srgbClr val="333F70"/>
                </a:solidFill>
                <a:latin typeface="Times New Roman" panose="02020603050405020304" pitchFamily="18" charset="0"/>
                <a:ea typeface="Open Sans Bold" pitchFamily="34" charset="-122"/>
                <a:cs typeface="Open Sans Bold" pitchFamily="34" charset="-120"/>
              </a:rPr>
              <a:t>IndicSBERT</a:t>
            </a:r>
            <a:r>
              <a:rPr lang="hi-IN" altLang="en-US" sz="900" dirty="0">
                <a:solidFill>
                  <a:srgbClr val="333F70"/>
                </a:solidFill>
                <a:latin typeface="Times New Roman" panose="02020603050405020304" pitchFamily="18" charset="0"/>
                <a:ea typeface="Open Sans" pitchFamily="34" charset="-122"/>
                <a:cs typeface="Open Sans" pitchFamily="34" charset="-120"/>
              </a:rPr>
              <a:t> (L3Cube, Pune) via sentence-transformers; outperforms generic multilingual models on Hindi/Marathi/English similarity.</a:t>
            </a:r>
            <a:endParaRPr lang="hi-IN" sz="900" dirty="0">
              <a:latin typeface="Times New Roman" panose="02020603050405020304" pitchFamily="18" charset="0"/>
            </a:endParaRPr>
          </a:p>
        </p:txBody>
      </p:sp>
      <p:sp>
        <p:nvSpPr>
          <p:cNvPr id="18" name="Shape 12"/>
          <p:cNvSpPr/>
          <p:nvPr/>
        </p:nvSpPr>
        <p:spPr>
          <a:xfrm>
            <a:off x="661475" y="5808762"/>
            <a:ext cx="10868745" cy="375444"/>
          </a:xfrm>
          <a:prstGeom prst="roundRect">
            <a:avLst>
              <a:gd name="adj" fmla="val 12951"/>
            </a:avLst>
          </a:prstGeom>
          <a:solidFill>
            <a:srgbClr val="D6F5EE"/>
          </a:solidFill>
          <a:ln/>
        </p:spPr>
      </p:sp>
      <p:pic>
        <p:nvPicPr>
          <p:cNvPr id="19" name="Image 4" descr="preencoded.png"/>
          <p:cNvPicPr>
            <a:picLocks noChangeAspect="1"/>
          </p:cNvPicPr>
          <p:nvPr/>
        </p:nvPicPr>
        <p:blipFill>
          <a:blip r:embed="rId5"/>
          <a:stretch>
            <a:fillRect/>
          </a:stretch>
        </p:blipFill>
        <p:spPr>
          <a:xfrm>
            <a:off x="777161" y="5959971"/>
            <a:ext cx="144657" cy="115689"/>
          </a:xfrm>
          <a:prstGeom prst="rect">
            <a:avLst/>
          </a:prstGeom>
        </p:spPr>
      </p:pic>
      <p:sp>
        <p:nvSpPr>
          <p:cNvPr id="20" name="Text 13"/>
          <p:cNvSpPr/>
          <p:nvPr/>
        </p:nvSpPr>
        <p:spPr>
          <a:xfrm>
            <a:off x="1037505" y="5918597"/>
            <a:ext cx="10986614" cy="163810"/>
          </a:xfrm>
          <a:prstGeom prst="rect">
            <a:avLst/>
          </a:prstGeom>
          <a:noFill/>
          <a:ln/>
        </p:spPr>
        <p:txBody>
          <a:bodyPr wrap="none" lIns="0" tIns="0" rIns="0" bIns="0" rtlCol="0" anchor="t"/>
          <a:lstStyle/>
          <a:p>
            <a:pPr marL="0" indent="0" algn="l">
              <a:lnSpc>
                <a:spcPct val="113000"/>
              </a:lnSpc>
              <a:buNone/>
            </a:pPr>
            <a:r>
              <a:rPr lang="en-US" sz="900" b="1" dirty="0">
                <a:solidFill>
                  <a:srgbClr val="000000"/>
                </a:solidFill>
                <a:latin typeface="Times New Roman" panose="02020603050405020304" pitchFamily="18" charset="0"/>
                <a:ea typeface="Open Sans Bold" pitchFamily="34" charset="-122"/>
                <a:cs typeface="Times New Roman" panose="02020603050405020304" pitchFamily="18" charset="0"/>
              </a:rPr>
              <a:t>Free win:</a:t>
            </a:r>
            <a:r>
              <a:rPr lang="en-US" sz="900" dirty="0">
                <a:solidFill>
                  <a:srgbClr val="000000"/>
                </a:solidFill>
                <a:latin typeface="Times New Roman" panose="02020603050405020304" pitchFamily="18" charset="0"/>
                <a:ea typeface="Open Sans" pitchFamily="34" charset="-122"/>
                <a:cs typeface="Times New Roman" panose="02020603050405020304" pitchFamily="18" charset="0"/>
              </a:rPr>
              <a:t> The medicine entity-resolution work and DawaCheck's "generic substitute" feature both need brand-name ↔ active-ingredient mapping. Build it once, both features benefit.</a:t>
            </a:r>
            <a:endParaRPr lang="en-US" sz="900"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8505EEF9-B317-F9F4-7F9C-785E3C32AA64}"/>
              </a:ext>
            </a:extLst>
          </p:cNvPr>
          <p:cNvPicPr>
            <a:picLocks noChangeAspect="1"/>
          </p:cNvPicPr>
          <p:nvPr/>
        </p:nvPicPr>
        <p:blipFill>
          <a:blip r:embed="rId6"/>
          <a:stretch>
            <a:fillRect/>
          </a:stretch>
        </p:blipFill>
        <p:spPr>
          <a:xfrm>
            <a:off x="10661571" y="6515082"/>
            <a:ext cx="1530429" cy="3429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50292"/>
            <a:ext cx="10868745" cy="930275"/>
          </a:xfrm>
          <a:prstGeom prst="rect">
            <a:avLst/>
          </a:prstGeom>
          <a:noFill/>
          <a:ln/>
        </p:spPr>
        <p:txBody>
          <a:bodyPr wrap="square" lIns="0" tIns="0" rIns="0" bIns="0" rtlCol="0" anchor="t">
            <a:normAutofit/>
          </a:bodyPr>
          <a:lstStyle/>
          <a:p>
            <a:pPr marL="0" indent="0" algn="l">
              <a:lnSpc>
                <a:spcPct val="104000"/>
              </a:lnSpc>
              <a:buNone/>
            </a:pPr>
            <a:r>
              <a:rPr lang="en-US" sz="2900" b="1" dirty="0">
                <a:solidFill>
                  <a:srgbClr val="333F70"/>
                </a:solidFill>
                <a:latin typeface="Times New Roman" panose="02020603050405020304" pitchFamily="18" charset="0"/>
                <a:ea typeface="Unbounded Bold" pitchFamily="34" charset="-122"/>
                <a:cs typeface="Times New Roman" panose="02020603050405020304" pitchFamily="18" charset="0"/>
              </a:rPr>
              <a:t>Multilingual Strategy — English, Hindi &amp; Marathi</a:t>
            </a:r>
            <a:endParaRPr lang="en-US" sz="2900" dirty="0">
              <a:latin typeface="Times New Roman" panose="02020603050405020304" pitchFamily="18" charset="0"/>
              <a:cs typeface="Times New Roman" panose="02020603050405020304" pitchFamily="18" charset="0"/>
            </a:endParaRPr>
          </a:p>
        </p:txBody>
      </p:sp>
      <p:sp>
        <p:nvSpPr>
          <p:cNvPr id="3" name="Text 1"/>
          <p:cNvSpPr/>
          <p:nvPr/>
        </p:nvSpPr>
        <p:spPr>
          <a:xfrm>
            <a:off x="661475" y="1948458"/>
            <a:ext cx="10868745"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Full trilingual support is a cross-cutting requirement across all three modules and Kadi — touching OCR, UI, LLM output generation, and entity resolution independently. Each layer has distinct technical considerations.</a:t>
            </a:r>
            <a:endParaRPr lang="en-US" sz="115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551609"/>
            <a:ext cx="372061" cy="372070"/>
          </a:xfrm>
          <a:prstGeom prst="rect">
            <a:avLst/>
          </a:prstGeom>
        </p:spPr>
      </p:pic>
      <p:sp>
        <p:nvSpPr>
          <p:cNvPr id="5" name="Text 2"/>
          <p:cNvSpPr/>
          <p:nvPr/>
        </p:nvSpPr>
        <p:spPr>
          <a:xfrm>
            <a:off x="661475" y="3091061"/>
            <a:ext cx="5350634" cy="232470"/>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Times New Roman" panose="02020603050405020304" pitchFamily="18" charset="0"/>
                <a:ea typeface="Unbounded Bold" pitchFamily="34" charset="-122"/>
                <a:cs typeface="Times New Roman" panose="02020603050405020304" pitchFamily="18" charset="0"/>
              </a:rPr>
              <a:t>OCR on Devanagari Script</a:t>
            </a:r>
            <a:endParaRPr lang="en-US" sz="1450" dirty="0">
              <a:latin typeface="Times New Roman" panose="02020603050405020304" pitchFamily="18" charset="0"/>
              <a:cs typeface="Times New Roman" panose="02020603050405020304" pitchFamily="18" charset="0"/>
            </a:endParaRPr>
          </a:p>
        </p:txBody>
      </p:sp>
      <p:sp>
        <p:nvSpPr>
          <p:cNvPr id="6" name="Text 3"/>
          <p:cNvSpPr/>
          <p:nvPr/>
        </p:nvSpPr>
        <p:spPr>
          <a:xfrm>
            <a:off x="661475" y="3403898"/>
            <a:ext cx="5350634"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Accuracy on non-Latin scripts is a separate technical risk from English OCR. Requires a dedicated Devanagari test set early in the build cycle, not an afterthought at evaluation time.</a:t>
            </a:r>
            <a:endParaRPr lang="en-US" sz="115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9487" y="2551609"/>
            <a:ext cx="372061" cy="372070"/>
          </a:xfrm>
          <a:prstGeom prst="rect">
            <a:avLst/>
          </a:prstGeom>
        </p:spPr>
      </p:pic>
      <p:sp>
        <p:nvSpPr>
          <p:cNvPr id="8" name="Text 4"/>
          <p:cNvSpPr/>
          <p:nvPr/>
        </p:nvSpPr>
        <p:spPr>
          <a:xfrm>
            <a:off x="6179487" y="3091061"/>
            <a:ext cx="5350733" cy="232470"/>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Times New Roman" panose="02020603050405020304" pitchFamily="18" charset="0"/>
                <a:ea typeface="Unbounded Bold" pitchFamily="34" charset="-122"/>
                <a:cs typeface="Times New Roman" panose="02020603050405020304" pitchFamily="18" charset="0"/>
              </a:rPr>
              <a:t>Source vs. Generation Distinction</a:t>
            </a:r>
            <a:endParaRPr lang="en-US" sz="1450" dirty="0">
              <a:latin typeface="Times New Roman" panose="02020603050405020304" pitchFamily="18" charset="0"/>
              <a:cs typeface="Times New Roman" panose="02020603050405020304" pitchFamily="18" charset="0"/>
            </a:endParaRPr>
          </a:p>
        </p:txBody>
      </p:sp>
      <p:sp>
        <p:nvSpPr>
          <p:cNvPr id="9" name="Text 5"/>
          <p:cNvSpPr/>
          <p:nvPr/>
        </p:nvSpPr>
        <p:spPr>
          <a:xfrm>
            <a:off x="6179487" y="3403898"/>
            <a:ext cx="5350733" cy="904875"/>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Whether PMJAY/MJPJAY/CGHS/NPPA source documents exist natively in Hindi/Marathi determines whether support means ingesting native-language source data (RAG/parsing) or generating output from English sources via LLM — different engineering tasks, scoped per data source.</a:t>
            </a:r>
            <a:endParaRPr lang="en-US" sz="115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576663"/>
            <a:ext cx="372061" cy="372070"/>
          </a:xfrm>
          <a:prstGeom prst="rect">
            <a:avLst/>
          </a:prstGeom>
        </p:spPr>
      </p:pic>
      <p:sp>
        <p:nvSpPr>
          <p:cNvPr id="11" name="Text 6"/>
          <p:cNvSpPr/>
          <p:nvPr/>
        </p:nvSpPr>
        <p:spPr>
          <a:xfrm>
            <a:off x="661475" y="5116116"/>
            <a:ext cx="5350634" cy="232470"/>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Times New Roman" panose="02020603050405020304" pitchFamily="18" charset="0"/>
                <a:ea typeface="Unbounded Bold" pitchFamily="34" charset="-122"/>
                <a:cs typeface="Times New Roman" panose="02020603050405020304" pitchFamily="18" charset="0"/>
              </a:rPr>
              <a:t>Terminology QA</a:t>
            </a:r>
            <a:endParaRPr lang="en-US" sz="1450" dirty="0">
              <a:latin typeface="Times New Roman" panose="02020603050405020304" pitchFamily="18" charset="0"/>
              <a:cs typeface="Times New Roman" panose="02020603050405020304" pitchFamily="18" charset="0"/>
            </a:endParaRPr>
          </a:p>
        </p:txBody>
      </p:sp>
      <p:sp>
        <p:nvSpPr>
          <p:cNvPr id="12" name="Text 7"/>
          <p:cNvSpPr/>
          <p:nvPr/>
        </p:nvSpPr>
        <p:spPr>
          <a:xfrm>
            <a:off x="661475" y="5428952"/>
            <a:ext cx="5350634"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A native/fluent Hindi and Marathi speaker reviews generated appeal letters and scheme explanations for </a:t>
            </a:r>
            <a:r>
              <a:rPr lang="en-US" sz="1150" i="1" dirty="0">
                <a:solidFill>
                  <a:srgbClr val="333F70"/>
                </a:solidFill>
                <a:latin typeface="Times New Roman" panose="02020603050405020304" pitchFamily="18" charset="0"/>
                <a:ea typeface="Open Sans" pitchFamily="34" charset="-122"/>
                <a:cs typeface="Times New Roman" panose="02020603050405020304" pitchFamily="18" charset="0"/>
              </a:rPr>
              <a:t>substantive correctness</a:t>
            </a: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 not just fluency. Legal and regulatory accuracy is non-negotiable.</a:t>
            </a:r>
            <a:endParaRPr lang="en-US" sz="1150"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79487" y="4576663"/>
            <a:ext cx="372061" cy="372070"/>
          </a:xfrm>
          <a:prstGeom prst="rect">
            <a:avLst/>
          </a:prstGeom>
        </p:spPr>
      </p:pic>
      <p:sp>
        <p:nvSpPr>
          <p:cNvPr id="14" name="Text 8"/>
          <p:cNvSpPr/>
          <p:nvPr/>
        </p:nvSpPr>
        <p:spPr>
          <a:xfrm>
            <a:off x="6179487" y="5116116"/>
            <a:ext cx="5350733" cy="232470"/>
          </a:xfrm>
          <a:prstGeom prst="rect">
            <a:avLst/>
          </a:prstGeom>
          <a:noFill/>
          <a:ln/>
        </p:spPr>
        <p:txBody>
          <a:bodyPr wrap="none" lIns="0" tIns="0" rIns="0" bIns="0" rtlCol="0" anchor="t"/>
          <a:lstStyle/>
          <a:p>
            <a:pPr marL="0" indent="0" algn="l">
              <a:lnSpc>
                <a:spcPct val="104000"/>
              </a:lnSpc>
              <a:buNone/>
            </a:pPr>
            <a:r>
              <a:rPr lang="en-US" sz="1450" b="1" dirty="0">
                <a:solidFill>
                  <a:srgbClr val="333F70"/>
                </a:solidFill>
                <a:latin typeface="Times New Roman" panose="02020603050405020304" pitchFamily="18" charset="0"/>
                <a:ea typeface="Unbounded Bold" pitchFamily="34" charset="-122"/>
                <a:cs typeface="Times New Roman" panose="02020603050405020304" pitchFamily="18" charset="0"/>
              </a:rPr>
              <a:t>Cross-Script Entity Matching</a:t>
            </a:r>
            <a:endParaRPr lang="en-US" sz="1450" dirty="0">
              <a:latin typeface="Times New Roman" panose="02020603050405020304" pitchFamily="18" charset="0"/>
              <a:cs typeface="Times New Roman" panose="02020603050405020304" pitchFamily="18" charset="0"/>
            </a:endParaRPr>
          </a:p>
        </p:txBody>
      </p:sp>
      <p:sp>
        <p:nvSpPr>
          <p:cNvPr id="15" name="Text 9"/>
          <p:cNvSpPr/>
          <p:nvPr/>
        </p:nvSpPr>
        <p:spPr>
          <a:xfrm>
            <a:off x="6179487" y="5428952"/>
            <a:ext cx="5350733"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333F70"/>
                </a:solidFill>
                <a:latin typeface="Times New Roman" panose="02020603050405020304" pitchFamily="18" charset="0"/>
                <a:ea typeface="Open Sans" pitchFamily="34" charset="-122"/>
                <a:cs typeface="Times New Roman" panose="02020603050405020304" pitchFamily="18" charset="0"/>
              </a:rPr>
              <a:t>Handled by Kadi's entity resolution pipeline via IndicXlit + IndicSBERT. Worth keeping distinct in your own mental model from UI/output-language generation — related systems, but separate engineering concerns.</a:t>
            </a:r>
            <a:endParaRPr lang="en-US" sz="115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5F1A9F3-2423-EF26-4072-5AE0B298582D}"/>
              </a:ext>
            </a:extLst>
          </p:cNvPr>
          <p:cNvPicPr>
            <a:picLocks noChangeAspect="1"/>
          </p:cNvPicPr>
          <p:nvPr/>
        </p:nvPicPr>
        <p:blipFill>
          <a:blip r:embed="rId7"/>
          <a:stretch>
            <a:fillRect/>
          </a:stretch>
        </p:blipFill>
        <p:spPr>
          <a:xfrm>
            <a:off x="10661571" y="6515082"/>
            <a:ext cx="1530429" cy="3429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5625"/>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333F70"/>
                </a:solidFill>
                <a:latin typeface="Times New Roman" panose="02020603050405020304" pitchFamily="18" charset="0"/>
                <a:ea typeface="Unbounded Bold" pitchFamily="34" charset="-122"/>
                <a:cs typeface="Times New Roman" panose="02020603050405020304" pitchFamily="18" charset="0"/>
              </a:rPr>
              <a:t>Technology Stack</a:t>
            </a:r>
            <a:endParaRPr lang="en-US" sz="3250" dirty="0">
              <a:latin typeface="Times New Roman" panose="02020603050405020304" pitchFamily="18" charset="0"/>
              <a:cs typeface="Times New Roman" panose="02020603050405020304" pitchFamily="18" charset="0"/>
            </a:endParaRPr>
          </a:p>
        </p:txBody>
      </p:sp>
      <p:sp>
        <p:nvSpPr>
          <p:cNvPr id="3" name="Shape 1"/>
          <p:cNvSpPr/>
          <p:nvPr/>
        </p:nvSpPr>
        <p:spPr>
          <a:xfrm>
            <a:off x="661475" y="1506438"/>
            <a:ext cx="5232666" cy="4609902"/>
          </a:xfrm>
          <a:prstGeom prst="roundRect">
            <a:avLst>
              <a:gd name="adj" fmla="val 1507"/>
            </a:avLst>
          </a:prstGeom>
          <a:noFill/>
          <a:ln w="6350">
            <a:solidFill>
              <a:srgbClr val="000000">
                <a:alpha val="8000"/>
              </a:srgbClr>
            </a:solidFill>
            <a:prstDash val="solid"/>
          </a:ln>
        </p:spPr>
      </p:sp>
      <p:sp>
        <p:nvSpPr>
          <p:cNvPr id="4" name="Shape 2"/>
          <p:cNvSpPr/>
          <p:nvPr/>
        </p:nvSpPr>
        <p:spPr>
          <a:xfrm>
            <a:off x="661475" y="1991717"/>
            <a:ext cx="5232666" cy="10337"/>
          </a:xfrm>
          <a:prstGeom prst="rect">
            <a:avLst/>
          </a:prstGeom>
          <a:solidFill>
            <a:srgbClr val="000000">
              <a:alpha val="8000"/>
            </a:srgbClr>
          </a:solidFill>
          <a:ln/>
        </p:spPr>
      </p:sp>
      <p:sp>
        <p:nvSpPr>
          <p:cNvPr id="5" name="Shape 3"/>
          <p:cNvSpPr/>
          <p:nvPr/>
        </p:nvSpPr>
        <p:spPr>
          <a:xfrm>
            <a:off x="661475" y="2473821"/>
            <a:ext cx="5232666" cy="10337"/>
          </a:xfrm>
          <a:prstGeom prst="rect">
            <a:avLst/>
          </a:prstGeom>
          <a:solidFill>
            <a:srgbClr val="000000">
              <a:alpha val="8000"/>
            </a:srgbClr>
          </a:solidFill>
          <a:ln/>
        </p:spPr>
      </p:sp>
      <p:sp>
        <p:nvSpPr>
          <p:cNvPr id="6" name="Shape 4"/>
          <p:cNvSpPr/>
          <p:nvPr/>
        </p:nvSpPr>
        <p:spPr>
          <a:xfrm>
            <a:off x="661475" y="2955925"/>
            <a:ext cx="5232666" cy="10337"/>
          </a:xfrm>
          <a:prstGeom prst="rect">
            <a:avLst/>
          </a:prstGeom>
          <a:solidFill>
            <a:srgbClr val="000000">
              <a:alpha val="8000"/>
            </a:srgbClr>
          </a:solidFill>
          <a:ln/>
        </p:spPr>
      </p:sp>
      <p:sp>
        <p:nvSpPr>
          <p:cNvPr id="7" name="Shape 5"/>
          <p:cNvSpPr/>
          <p:nvPr/>
        </p:nvSpPr>
        <p:spPr>
          <a:xfrm>
            <a:off x="661475" y="3438029"/>
            <a:ext cx="5232666" cy="10337"/>
          </a:xfrm>
          <a:prstGeom prst="rect">
            <a:avLst/>
          </a:prstGeom>
          <a:solidFill>
            <a:srgbClr val="000000">
              <a:alpha val="8000"/>
            </a:srgbClr>
          </a:solidFill>
          <a:ln/>
        </p:spPr>
      </p:sp>
      <p:sp>
        <p:nvSpPr>
          <p:cNvPr id="8" name="Shape 6"/>
          <p:cNvSpPr/>
          <p:nvPr/>
        </p:nvSpPr>
        <p:spPr>
          <a:xfrm>
            <a:off x="661475" y="3920133"/>
            <a:ext cx="5232666" cy="10337"/>
          </a:xfrm>
          <a:prstGeom prst="rect">
            <a:avLst/>
          </a:prstGeom>
          <a:solidFill>
            <a:srgbClr val="000000">
              <a:alpha val="8000"/>
            </a:srgbClr>
          </a:solidFill>
          <a:ln/>
        </p:spPr>
      </p:sp>
      <p:sp>
        <p:nvSpPr>
          <p:cNvPr id="9" name="Shape 7"/>
          <p:cNvSpPr/>
          <p:nvPr/>
        </p:nvSpPr>
        <p:spPr>
          <a:xfrm>
            <a:off x="661475" y="4402237"/>
            <a:ext cx="5232666" cy="10337"/>
          </a:xfrm>
          <a:prstGeom prst="rect">
            <a:avLst/>
          </a:prstGeom>
          <a:solidFill>
            <a:srgbClr val="000000">
              <a:alpha val="8000"/>
            </a:srgbClr>
          </a:solidFill>
          <a:ln/>
        </p:spPr>
      </p:sp>
      <p:sp>
        <p:nvSpPr>
          <p:cNvPr id="10" name="Shape 8"/>
          <p:cNvSpPr/>
          <p:nvPr/>
        </p:nvSpPr>
        <p:spPr>
          <a:xfrm>
            <a:off x="661475" y="4884341"/>
            <a:ext cx="5232666" cy="10337"/>
          </a:xfrm>
          <a:prstGeom prst="rect">
            <a:avLst/>
          </a:prstGeom>
          <a:solidFill>
            <a:srgbClr val="000000">
              <a:alpha val="8000"/>
            </a:srgbClr>
          </a:solidFill>
          <a:ln/>
        </p:spPr>
      </p:sp>
      <p:sp>
        <p:nvSpPr>
          <p:cNvPr id="11" name="Shape 9"/>
          <p:cNvSpPr/>
          <p:nvPr/>
        </p:nvSpPr>
        <p:spPr>
          <a:xfrm>
            <a:off x="661475" y="5631061"/>
            <a:ext cx="5232666" cy="10337"/>
          </a:xfrm>
          <a:prstGeom prst="rect">
            <a:avLst/>
          </a:prstGeom>
          <a:solidFill>
            <a:srgbClr val="000000">
              <a:alpha val="8000"/>
            </a:srgbClr>
          </a:solidFill>
          <a:ln/>
        </p:spPr>
      </p:sp>
      <p:sp>
        <p:nvSpPr>
          <p:cNvPr id="12" name="Shape 10"/>
          <p:cNvSpPr/>
          <p:nvPr/>
        </p:nvSpPr>
        <p:spPr>
          <a:xfrm>
            <a:off x="2755831" y="1506438"/>
            <a:ext cx="10337" cy="4609902"/>
          </a:xfrm>
          <a:prstGeom prst="rect">
            <a:avLst/>
          </a:prstGeom>
          <a:solidFill>
            <a:srgbClr val="000000">
              <a:alpha val="8000"/>
            </a:srgbClr>
          </a:solidFill>
          <a:ln/>
        </p:spPr>
      </p:sp>
      <p:sp>
        <p:nvSpPr>
          <p:cNvPr id="13" name="Text 11"/>
          <p:cNvSpPr/>
          <p:nvPr/>
        </p:nvSpPr>
        <p:spPr>
          <a:xfrm>
            <a:off x="833218" y="1618357"/>
            <a:ext cx="2363728" cy="264616"/>
          </a:xfrm>
          <a:prstGeom prst="rect">
            <a:avLst/>
          </a:prstGeom>
          <a:noFill/>
          <a:ln/>
        </p:spPr>
        <p:txBody>
          <a:bodyPr wrap="none" lIns="0" tIns="0" rIns="0" bIns="0" rtlCol="0" anchor="t"/>
          <a:lstStyle/>
          <a:p>
            <a:pPr marL="0" indent="0" algn="l">
              <a:lnSpc>
                <a:spcPct val="133000"/>
              </a:lnSpc>
              <a:buNone/>
            </a:pPr>
            <a:r>
              <a:rPr lang="en-US" sz="1300" b="1" dirty="0">
                <a:solidFill>
                  <a:srgbClr val="333F70"/>
                </a:solidFill>
                <a:latin typeface="Times New Roman" panose="02020603050405020304" pitchFamily="18" charset="0"/>
                <a:ea typeface="Open Sans Bold" pitchFamily="34" charset="-122"/>
                <a:cs typeface="Times New Roman" panose="02020603050405020304" pitchFamily="18" charset="0"/>
              </a:rPr>
              <a:t>Layer</a:t>
            </a:r>
            <a:endParaRPr lang="en-US" sz="1300" dirty="0">
              <a:latin typeface="Times New Roman" panose="02020603050405020304" pitchFamily="18" charset="0"/>
              <a:cs typeface="Times New Roman" panose="02020603050405020304" pitchFamily="18" charset="0"/>
            </a:endParaRPr>
          </a:p>
        </p:txBody>
      </p:sp>
      <p:sp>
        <p:nvSpPr>
          <p:cNvPr id="14" name="Text 12"/>
          <p:cNvSpPr/>
          <p:nvPr/>
        </p:nvSpPr>
        <p:spPr>
          <a:xfrm>
            <a:off x="2924300" y="1618357"/>
            <a:ext cx="3407781" cy="264616"/>
          </a:xfrm>
          <a:prstGeom prst="rect">
            <a:avLst/>
          </a:prstGeom>
          <a:noFill/>
          <a:ln/>
        </p:spPr>
        <p:txBody>
          <a:bodyPr wrap="none" lIns="0" tIns="0" rIns="0" bIns="0" rtlCol="0" anchor="t"/>
          <a:lstStyle/>
          <a:p>
            <a:pPr marL="0" indent="0" algn="l">
              <a:lnSpc>
                <a:spcPct val="133000"/>
              </a:lnSpc>
              <a:buNone/>
            </a:pPr>
            <a:r>
              <a:rPr lang="en-US" sz="1300" b="1" dirty="0">
                <a:solidFill>
                  <a:srgbClr val="333F70"/>
                </a:solidFill>
                <a:latin typeface="Times New Roman" panose="02020603050405020304" pitchFamily="18" charset="0"/>
                <a:ea typeface="Open Sans Bold" pitchFamily="34" charset="-122"/>
                <a:cs typeface="Times New Roman" panose="02020603050405020304" pitchFamily="18" charset="0"/>
              </a:rPr>
              <a:t>Technology</a:t>
            </a:r>
            <a:endParaRPr lang="en-US" sz="1300" dirty="0">
              <a:latin typeface="Times New Roman" panose="02020603050405020304" pitchFamily="18" charset="0"/>
              <a:cs typeface="Times New Roman" panose="02020603050405020304" pitchFamily="18" charset="0"/>
            </a:endParaRPr>
          </a:p>
        </p:txBody>
      </p:sp>
      <p:sp>
        <p:nvSpPr>
          <p:cNvPr id="15" name="Text 13"/>
          <p:cNvSpPr/>
          <p:nvPr/>
        </p:nvSpPr>
        <p:spPr>
          <a:xfrm>
            <a:off x="833218" y="2100461"/>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Backend</a:t>
            </a:r>
            <a:endParaRPr lang="en-US" sz="1300" dirty="0">
              <a:latin typeface="Times New Roman" panose="02020603050405020304" pitchFamily="18" charset="0"/>
              <a:cs typeface="Times New Roman" panose="02020603050405020304" pitchFamily="18" charset="0"/>
            </a:endParaRPr>
          </a:p>
        </p:txBody>
      </p:sp>
      <p:sp>
        <p:nvSpPr>
          <p:cNvPr id="16" name="Text 14"/>
          <p:cNvSpPr/>
          <p:nvPr/>
        </p:nvSpPr>
        <p:spPr>
          <a:xfrm>
            <a:off x="2924300" y="2100461"/>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FastAPI</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833218" y="2582565"/>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Frontend</a:t>
            </a:r>
            <a:endParaRPr lang="en-US" sz="1300" dirty="0">
              <a:latin typeface="Times New Roman" panose="02020603050405020304" pitchFamily="18" charset="0"/>
              <a:cs typeface="Times New Roman" panose="02020603050405020304" pitchFamily="18" charset="0"/>
            </a:endParaRPr>
          </a:p>
        </p:txBody>
      </p:sp>
      <p:sp>
        <p:nvSpPr>
          <p:cNvPr id="18" name="Text 16"/>
          <p:cNvSpPr/>
          <p:nvPr/>
        </p:nvSpPr>
        <p:spPr>
          <a:xfrm>
            <a:off x="2924300" y="2582565"/>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Next.js 15</a:t>
            </a:r>
            <a:endParaRPr lang="en-US" sz="1300" dirty="0">
              <a:latin typeface="Times New Roman" panose="02020603050405020304" pitchFamily="18" charset="0"/>
              <a:cs typeface="Times New Roman" panose="02020603050405020304" pitchFamily="18" charset="0"/>
            </a:endParaRPr>
          </a:p>
        </p:txBody>
      </p:sp>
      <p:sp>
        <p:nvSpPr>
          <p:cNvPr id="19" name="Text 17"/>
          <p:cNvSpPr/>
          <p:nvPr/>
        </p:nvSpPr>
        <p:spPr>
          <a:xfrm>
            <a:off x="833218" y="3064669"/>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Database</a:t>
            </a:r>
            <a:endParaRPr lang="en-US" sz="1300" dirty="0">
              <a:latin typeface="Times New Roman" panose="02020603050405020304" pitchFamily="18" charset="0"/>
              <a:cs typeface="Times New Roman" panose="02020603050405020304" pitchFamily="18" charset="0"/>
            </a:endParaRPr>
          </a:p>
        </p:txBody>
      </p:sp>
      <p:sp>
        <p:nvSpPr>
          <p:cNvPr id="20" name="Text 18"/>
          <p:cNvSpPr/>
          <p:nvPr/>
        </p:nvSpPr>
        <p:spPr>
          <a:xfrm>
            <a:off x="2924300" y="3064669"/>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PostgreSQL + pgvector</a:t>
            </a: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833218" y="3546773"/>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Vector Search</a:t>
            </a:r>
            <a:endParaRPr lang="en-US" sz="1300" dirty="0">
              <a:latin typeface="Times New Roman" panose="02020603050405020304" pitchFamily="18" charset="0"/>
              <a:cs typeface="Times New Roman" panose="02020603050405020304" pitchFamily="18" charset="0"/>
            </a:endParaRPr>
          </a:p>
        </p:txBody>
      </p:sp>
      <p:sp>
        <p:nvSpPr>
          <p:cNvPr id="22" name="Text 20"/>
          <p:cNvSpPr/>
          <p:nvPr/>
        </p:nvSpPr>
        <p:spPr>
          <a:xfrm>
            <a:off x="2924300" y="3546773"/>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FAISS</a:t>
            </a:r>
            <a:endParaRPr lang="en-US" sz="1300" dirty="0">
              <a:latin typeface="Times New Roman" panose="02020603050405020304" pitchFamily="18" charset="0"/>
              <a:cs typeface="Times New Roman" panose="02020603050405020304" pitchFamily="18" charset="0"/>
            </a:endParaRPr>
          </a:p>
        </p:txBody>
      </p:sp>
      <p:sp>
        <p:nvSpPr>
          <p:cNvPr id="23" name="Text 21"/>
          <p:cNvSpPr/>
          <p:nvPr/>
        </p:nvSpPr>
        <p:spPr>
          <a:xfrm>
            <a:off x="833218" y="4028877"/>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LLM Inference</a:t>
            </a:r>
            <a:endParaRPr lang="en-US" sz="1300" dirty="0">
              <a:latin typeface="Times New Roman" panose="02020603050405020304" pitchFamily="18" charset="0"/>
              <a:cs typeface="Times New Roman" panose="02020603050405020304" pitchFamily="18" charset="0"/>
            </a:endParaRPr>
          </a:p>
        </p:txBody>
      </p:sp>
      <p:sp>
        <p:nvSpPr>
          <p:cNvPr id="24" name="Text 22"/>
          <p:cNvSpPr/>
          <p:nvPr/>
        </p:nvSpPr>
        <p:spPr>
          <a:xfrm>
            <a:off x="2924300" y="4028877"/>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Groq API</a:t>
            </a:r>
            <a:endParaRPr lang="en-US" sz="1300" dirty="0">
              <a:latin typeface="Times New Roman" panose="02020603050405020304" pitchFamily="18" charset="0"/>
              <a:cs typeface="Times New Roman" panose="02020603050405020304" pitchFamily="18" charset="0"/>
            </a:endParaRPr>
          </a:p>
        </p:txBody>
      </p:sp>
      <p:sp>
        <p:nvSpPr>
          <p:cNvPr id="25" name="Text 23"/>
          <p:cNvSpPr/>
          <p:nvPr/>
        </p:nvSpPr>
        <p:spPr>
          <a:xfrm>
            <a:off x="833218" y="4510980"/>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Transliteration</a:t>
            </a:r>
            <a:endParaRPr lang="en-US" sz="1300" dirty="0">
              <a:latin typeface="Times New Roman" panose="02020603050405020304" pitchFamily="18" charset="0"/>
              <a:cs typeface="Times New Roman" panose="02020603050405020304" pitchFamily="18" charset="0"/>
            </a:endParaRPr>
          </a:p>
        </p:txBody>
      </p:sp>
      <p:sp>
        <p:nvSpPr>
          <p:cNvPr id="26" name="Text 24"/>
          <p:cNvSpPr/>
          <p:nvPr/>
        </p:nvSpPr>
        <p:spPr>
          <a:xfrm>
            <a:off x="2924300" y="4510980"/>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IndicXlit (AI4Bharat)</a:t>
            </a:r>
            <a:endParaRPr lang="en-US" sz="1300" dirty="0">
              <a:latin typeface="Times New Roman" panose="02020603050405020304" pitchFamily="18" charset="0"/>
              <a:cs typeface="Times New Roman" panose="02020603050405020304" pitchFamily="18" charset="0"/>
            </a:endParaRPr>
          </a:p>
        </p:txBody>
      </p:sp>
      <p:sp>
        <p:nvSpPr>
          <p:cNvPr id="27" name="Text 25"/>
          <p:cNvSpPr/>
          <p:nvPr/>
        </p:nvSpPr>
        <p:spPr>
          <a:xfrm>
            <a:off x="833218" y="4993084"/>
            <a:ext cx="175414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Cross-Lingual Embeddings</a:t>
            </a:r>
            <a:endParaRPr lang="en-US" sz="1300" dirty="0">
              <a:latin typeface="Times New Roman" panose="02020603050405020304" pitchFamily="18" charset="0"/>
              <a:cs typeface="Times New Roman" panose="02020603050405020304" pitchFamily="18" charset="0"/>
            </a:endParaRPr>
          </a:p>
        </p:txBody>
      </p:sp>
      <p:sp>
        <p:nvSpPr>
          <p:cNvPr id="28" name="Text 26"/>
          <p:cNvSpPr/>
          <p:nvPr/>
        </p:nvSpPr>
        <p:spPr>
          <a:xfrm>
            <a:off x="2924300" y="4993084"/>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IndicSBERT (L3Cube)</a:t>
            </a:r>
            <a:endParaRPr lang="en-US" sz="1300" dirty="0">
              <a:latin typeface="Times New Roman" panose="02020603050405020304" pitchFamily="18" charset="0"/>
              <a:cs typeface="Times New Roman" panose="02020603050405020304" pitchFamily="18" charset="0"/>
            </a:endParaRPr>
          </a:p>
        </p:txBody>
      </p:sp>
      <p:sp>
        <p:nvSpPr>
          <p:cNvPr id="29" name="Text 27"/>
          <p:cNvSpPr/>
          <p:nvPr/>
        </p:nvSpPr>
        <p:spPr>
          <a:xfrm>
            <a:off x="833218" y="5739805"/>
            <a:ext cx="2363728"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Containerisation</a:t>
            </a:r>
            <a:endParaRPr lang="en-US" sz="1300" dirty="0">
              <a:latin typeface="Times New Roman" panose="02020603050405020304" pitchFamily="18" charset="0"/>
              <a:cs typeface="Times New Roman" panose="02020603050405020304" pitchFamily="18" charset="0"/>
            </a:endParaRPr>
          </a:p>
        </p:txBody>
      </p:sp>
      <p:sp>
        <p:nvSpPr>
          <p:cNvPr id="30" name="Text 28"/>
          <p:cNvSpPr/>
          <p:nvPr/>
        </p:nvSpPr>
        <p:spPr>
          <a:xfrm>
            <a:off x="2924300" y="5739805"/>
            <a:ext cx="3407781" cy="264616"/>
          </a:xfrm>
          <a:prstGeom prst="rect">
            <a:avLst/>
          </a:prstGeom>
          <a:noFill/>
          <a:ln/>
        </p:spPr>
        <p:txBody>
          <a:bodyPr wrap="none" lIns="0" tIns="0" rIns="0" bIns="0" rtlCol="0" anchor="t"/>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Docker Compose</a:t>
            </a:r>
            <a:endParaRPr lang="en-US" sz="1300" dirty="0">
              <a:latin typeface="Times New Roman" panose="02020603050405020304" pitchFamily="18" charset="0"/>
              <a:cs typeface="Times New Roman" panose="02020603050405020304" pitchFamily="18" charset="0"/>
            </a:endParaRPr>
          </a:p>
        </p:txBody>
      </p:sp>
      <p:sp>
        <p:nvSpPr>
          <p:cNvPr id="31" name="Shape 29"/>
          <p:cNvSpPr/>
          <p:nvPr/>
        </p:nvSpPr>
        <p:spPr>
          <a:xfrm>
            <a:off x="6303904" y="1506438"/>
            <a:ext cx="5232666" cy="1967905"/>
          </a:xfrm>
          <a:prstGeom prst="roundRect">
            <a:avLst>
              <a:gd name="adj" fmla="val 3530"/>
            </a:avLst>
          </a:prstGeom>
          <a:solidFill>
            <a:srgbClr val="FCF2B5"/>
          </a:solidFill>
          <a:ln/>
        </p:spPr>
      </p:sp>
      <p:pic>
        <p:nvPicPr>
          <p:cNvPr id="32" name="Image 0" descr="preencoded.png"/>
          <p:cNvPicPr>
            <a:picLocks noChangeAspect="1"/>
          </p:cNvPicPr>
          <p:nvPr/>
        </p:nvPicPr>
        <p:blipFill>
          <a:blip r:embed="rId3"/>
          <a:stretch>
            <a:fillRect/>
          </a:stretch>
        </p:blipFill>
        <p:spPr>
          <a:xfrm>
            <a:off x="6469198" y="1758851"/>
            <a:ext cx="206667" cy="165298"/>
          </a:xfrm>
          <a:prstGeom prst="rect">
            <a:avLst/>
          </a:prstGeom>
        </p:spPr>
      </p:pic>
      <p:sp>
        <p:nvSpPr>
          <p:cNvPr id="33" name="Text 30"/>
          <p:cNvSpPr/>
          <p:nvPr/>
        </p:nvSpPr>
        <p:spPr>
          <a:xfrm>
            <a:off x="6841160" y="1696541"/>
            <a:ext cx="4530116" cy="1587698"/>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Times New Roman" panose="02020603050405020304" pitchFamily="18" charset="0"/>
                <a:ea typeface="Open Sans Bold" pitchFamily="34" charset="-122"/>
                <a:cs typeface="Times New Roman" panose="02020603050405020304" pitchFamily="18" charset="0"/>
              </a:rPr>
              <a:t>Action Required — Groq Model Swap:</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The original build used </a:t>
            </a:r>
            <a:r>
              <a:rPr lang="en-US" sz="1300" dirty="0">
                <a:solidFill>
                  <a:srgbClr val="000000"/>
                </a:solidFill>
                <a:highlight>
                  <a:srgbClr val="F2F2F2"/>
                </a:highlight>
                <a:latin typeface="Times New Roman" panose="02020603050405020304" pitchFamily="18" charset="0"/>
                <a:ea typeface="Consolas" pitchFamily="34" charset="-122"/>
                <a:cs typeface="Times New Roman" panose="02020603050405020304" pitchFamily="18" charset="0"/>
              </a:rPr>
              <a:t>llama3-70b</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on Groq. Groq deprecated the 70B/8B Llama models on 17 June 2026. Re-point the pipeline to </a:t>
            </a:r>
            <a:r>
              <a:rPr lang="en-US" sz="1300" dirty="0">
                <a:solidFill>
                  <a:srgbClr val="000000"/>
                </a:solidFill>
                <a:highlight>
                  <a:srgbClr val="F2F2F2"/>
                </a:highlight>
                <a:latin typeface="Times New Roman" panose="02020603050405020304" pitchFamily="18" charset="0"/>
                <a:ea typeface="Consolas" pitchFamily="34" charset="-122"/>
                <a:cs typeface="Times New Roman" panose="02020603050405020304" pitchFamily="18" charset="0"/>
              </a:rPr>
              <a:t>openai/gpt-oss-120b</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or </a:t>
            </a:r>
            <a:r>
              <a:rPr lang="en-US" sz="1300" dirty="0">
                <a:solidFill>
                  <a:srgbClr val="000000"/>
                </a:solidFill>
                <a:highlight>
                  <a:srgbClr val="F2F2F2"/>
                </a:highlight>
                <a:latin typeface="Times New Roman" panose="02020603050405020304" pitchFamily="18" charset="0"/>
                <a:ea typeface="Consolas" pitchFamily="34" charset="-122"/>
                <a:cs typeface="Times New Roman" panose="02020603050405020304" pitchFamily="18" charset="0"/>
              </a:rPr>
              <a:t>qwen/qwen3.6-27b</a:t>
            </a:r>
            <a:r>
              <a:rPr lang="en-US" sz="1300" dirty="0">
                <a:solidFill>
                  <a:srgbClr val="000000"/>
                </a:solidFill>
                <a:latin typeface="Times New Roman" panose="02020603050405020304" pitchFamily="18" charset="0"/>
                <a:ea typeface="Open Sans" pitchFamily="34" charset="-122"/>
                <a:cs typeface="Times New Roman" panose="02020603050405020304" pitchFamily="18" charset="0"/>
              </a:rPr>
              <a:t>. Verify against Groq's live deprecations page before committing, as availability shifts.</a:t>
            </a:r>
            <a:endParaRPr lang="en-US" sz="1300" dirty="0">
              <a:latin typeface="Times New Roman" panose="02020603050405020304" pitchFamily="18" charset="0"/>
              <a:cs typeface="Times New Roman" panose="02020603050405020304" pitchFamily="18" charset="0"/>
            </a:endParaRPr>
          </a:p>
        </p:txBody>
      </p:sp>
      <p:sp>
        <p:nvSpPr>
          <p:cNvPr id="34" name="Text 31"/>
          <p:cNvSpPr/>
          <p:nvPr/>
        </p:nvSpPr>
        <p:spPr>
          <a:xfrm>
            <a:off x="6303904" y="3660378"/>
            <a:ext cx="52326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33F70"/>
                </a:solidFill>
                <a:latin typeface="Times New Roman" panose="02020603050405020304" pitchFamily="18" charset="0"/>
                <a:ea typeface="Open Sans" pitchFamily="34" charset="-122"/>
                <a:cs typeface="Times New Roman" panose="02020603050405020304" pitchFamily="18" charset="0"/>
              </a:rPr>
              <a:t>All tools for transliteration and cross-lingual embeddings are open-source and pretrained — no custom training pipeline required, keeping the full entity-resolution version feasible for a 5-person team on an FYP timeline.</a:t>
            </a:r>
            <a:endParaRPr lang="en-US" sz="1300"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1A3C8C07-A5A2-DCB4-70CC-1454C61AF674}"/>
              </a:ext>
            </a:extLst>
          </p:cNvPr>
          <p:cNvPicPr>
            <a:picLocks noChangeAspect="1"/>
          </p:cNvPicPr>
          <p:nvPr/>
        </p:nvPicPr>
        <p:blipFill>
          <a:blip r:embed="rId4"/>
          <a:stretch>
            <a:fillRect/>
          </a:stretch>
        </p:blipFill>
        <p:spPr>
          <a:xfrm>
            <a:off x="10661571" y="6515082"/>
            <a:ext cx="1530429" cy="3429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68127"/>
            <a:ext cx="10868745" cy="361752"/>
          </a:xfrm>
          <a:prstGeom prst="rect">
            <a:avLst/>
          </a:prstGeom>
          <a:noFill/>
          <a:ln/>
        </p:spPr>
        <p:txBody>
          <a:bodyPr wrap="none" lIns="0" tIns="0" rIns="0" bIns="0" rtlCol="0" anchor="t"/>
          <a:lstStyle/>
          <a:p>
            <a:pPr marL="0" indent="0" algn="l">
              <a:lnSpc>
                <a:spcPct val="104000"/>
              </a:lnSpc>
              <a:buNone/>
            </a:pPr>
            <a:r>
              <a:rPr lang="en-US" sz="2250" b="1" dirty="0">
                <a:solidFill>
                  <a:srgbClr val="333F70"/>
                </a:solidFill>
                <a:latin typeface="Times New Roman" panose="02020603050405020304" pitchFamily="18" charset="0"/>
                <a:ea typeface="Unbounded Bold" pitchFamily="34" charset="-122"/>
                <a:cs typeface="Times New Roman" panose="02020603050405020304" pitchFamily="18" charset="0"/>
              </a:rPr>
              <a:t>Repository Structure &amp; Team Roles</a:t>
            </a:r>
            <a:endParaRPr lang="en-US" sz="2250" dirty="0">
              <a:latin typeface="Times New Roman" panose="02020603050405020304" pitchFamily="18" charset="0"/>
              <a:cs typeface="Times New Roman" panose="02020603050405020304" pitchFamily="18" charset="0"/>
            </a:endParaRPr>
          </a:p>
        </p:txBody>
      </p:sp>
      <p:sp>
        <p:nvSpPr>
          <p:cNvPr id="3" name="Text 1"/>
          <p:cNvSpPr/>
          <p:nvPr/>
        </p:nvSpPr>
        <p:spPr>
          <a:xfrm>
            <a:off x="661475" y="1091902"/>
            <a:ext cx="10868745" cy="314920"/>
          </a:xfrm>
          <a:prstGeom prst="rect">
            <a:avLst/>
          </a:prstGeom>
          <a:noFill/>
          <a:ln/>
        </p:spPr>
        <p:txBody>
          <a:bodyPr wrap="square" lIns="0" tIns="0" rIns="0" bIns="0" rtlCol="0" anchor="t">
            <a:normAutofit/>
          </a:bodyPr>
          <a:lstStyle/>
          <a:p>
            <a:pPr marL="0" indent="0" algn="l">
              <a:lnSpc>
                <a:spcPct val="113000"/>
              </a:lnSpc>
              <a:buNone/>
            </a:pPr>
            <a:r>
              <a:rPr lang="en-US" sz="900" b="1" dirty="0">
                <a:solidFill>
                  <a:srgbClr val="333F70"/>
                </a:solidFill>
                <a:latin typeface="Times New Roman" panose="02020603050405020304" pitchFamily="18" charset="0"/>
                <a:ea typeface="Open Sans Bold" pitchFamily="34" charset="-122"/>
                <a:cs typeface="Times New Roman" panose="02020603050405020304" pitchFamily="18" charset="0"/>
              </a:rPr>
              <a:t>Monorepo</a:t>
            </a: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 — resolved this session. With Kadi as shared infrastructure that all three modules depend on, three separate repos would mean painful cross-repo dependency management for no real benefit at this team size.</a:t>
            </a:r>
            <a:endParaRPr lang="en-US" sz="900" dirty="0">
              <a:latin typeface="Times New Roman" panose="02020603050405020304" pitchFamily="18" charset="0"/>
              <a:cs typeface="Times New Roman" panose="02020603050405020304" pitchFamily="18" charset="0"/>
            </a:endParaRPr>
          </a:p>
        </p:txBody>
      </p:sp>
      <p:sp>
        <p:nvSpPr>
          <p:cNvPr id="4" name="Text 2"/>
          <p:cNvSpPr/>
          <p:nvPr/>
        </p:nvSpPr>
        <p:spPr>
          <a:xfrm>
            <a:off x="661475" y="1578868"/>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Repository Layout</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661475" y="1850827"/>
            <a:ext cx="5293188" cy="2120900"/>
          </a:xfrm>
          <a:prstGeom prst="roundRect">
            <a:avLst>
              <a:gd name="adj" fmla="val 2293"/>
            </a:avLst>
          </a:prstGeom>
          <a:solidFill>
            <a:srgbClr val="F2F2F2"/>
          </a:solidFill>
          <a:ln/>
        </p:spPr>
      </p:sp>
      <p:sp>
        <p:nvSpPr>
          <p:cNvPr id="6" name="Shape 4"/>
          <p:cNvSpPr/>
          <p:nvPr/>
        </p:nvSpPr>
        <p:spPr>
          <a:xfrm>
            <a:off x="655720" y="1850827"/>
            <a:ext cx="5304697" cy="2120900"/>
          </a:xfrm>
          <a:prstGeom prst="roundRect">
            <a:avLst>
              <a:gd name="adj" fmla="val 819"/>
            </a:avLst>
          </a:prstGeom>
          <a:solidFill>
            <a:srgbClr val="F2F2F2"/>
          </a:solidFill>
          <a:ln/>
        </p:spPr>
      </p:sp>
      <p:sp>
        <p:nvSpPr>
          <p:cNvPr id="7" name="Text 5"/>
          <p:cNvSpPr/>
          <p:nvPr/>
        </p:nvSpPr>
        <p:spPr>
          <a:xfrm>
            <a:off x="800378" y="1966516"/>
            <a:ext cx="5015382" cy="1889522"/>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arogyarakshak/</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apps/</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 web/           # Next.js 15 frontend</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 api/           # FastAPI backend</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packages/</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 kadi/          # shared context layer</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 billnyay/</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 schemesetu/</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 dawacheck/</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data/              # ingestion scripts + processed data</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docs/              # this spec and future docs</a:t>
            </a:r>
            <a:endParaRPr lang="en-US" sz="900" dirty="0">
              <a:latin typeface="Times New Roman" panose="02020603050405020304" pitchFamily="18" charset="0"/>
              <a:cs typeface="Times New Roman" panose="02020603050405020304" pitchFamily="18" charset="0"/>
            </a:endParaRPr>
          </a:p>
          <a:p>
            <a:pPr marL="0" indent="0" algn="l">
              <a:lnSpc>
                <a:spcPct val="113000"/>
              </a:lnSpc>
              <a:buNone/>
            </a:pPr>
            <a:r>
              <a:rPr lang="en-US" sz="900" dirty="0">
                <a:solidFill>
                  <a:srgbClr val="333F70"/>
                </a:solidFill>
                <a:latin typeface="Times New Roman" panose="02020603050405020304" pitchFamily="18" charset="0"/>
                <a:ea typeface="Consolas" pitchFamily="34" charset="-122"/>
                <a:cs typeface="Times New Roman" panose="02020603050405020304" pitchFamily="18" charset="0"/>
              </a:rPr>
              <a:t>└─ docker-compose.yml</a:t>
            </a:r>
            <a:endParaRPr lang="en-US" sz="900" dirty="0">
              <a:latin typeface="Times New Roman" panose="02020603050405020304" pitchFamily="18" charset="0"/>
              <a:cs typeface="Times New Roman" panose="02020603050405020304" pitchFamily="18" charset="0"/>
            </a:endParaRPr>
          </a:p>
        </p:txBody>
      </p:sp>
      <p:sp>
        <p:nvSpPr>
          <p:cNvPr id="8" name="Text 6"/>
          <p:cNvSpPr/>
          <p:nvPr/>
        </p:nvSpPr>
        <p:spPr>
          <a:xfrm>
            <a:off x="6243382" y="1578868"/>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Team Roles</a:t>
            </a:r>
            <a:endParaRPr lang="en-US" sz="1100" dirty="0">
              <a:latin typeface="Times New Roman" panose="02020603050405020304" pitchFamily="18" charset="0"/>
              <a:cs typeface="Times New Roman" panose="02020603050405020304" pitchFamily="18" charset="0"/>
            </a:endParaRPr>
          </a:p>
        </p:txBody>
      </p:sp>
      <p:sp>
        <p:nvSpPr>
          <p:cNvPr id="9" name="Text 7"/>
          <p:cNvSpPr/>
          <p:nvPr/>
        </p:nvSpPr>
        <p:spPr>
          <a:xfrm>
            <a:off x="6243382" y="1850827"/>
            <a:ext cx="231472" cy="144661"/>
          </a:xfrm>
          <a:prstGeom prst="rect">
            <a:avLst/>
          </a:prstGeom>
          <a:noFill/>
          <a:ln/>
        </p:spPr>
        <p:txBody>
          <a:bodyPr wrap="none" lIns="0" tIns="0" rIns="0" bIns="0" rtlCol="0" anchor="ctr"/>
          <a:lstStyle/>
          <a:p>
            <a:pPr marL="0" indent="0" algn="l">
              <a:lnSpc>
                <a:spcPct val="100000"/>
              </a:lnSpc>
              <a:buNone/>
            </a:pPr>
            <a:r>
              <a:rPr lang="en-US" sz="900" dirty="0">
                <a:solidFill>
                  <a:srgbClr val="333F70"/>
                </a:solidFill>
                <a:latin typeface="Times New Roman" panose="02020603050405020304" pitchFamily="18" charset="0"/>
                <a:ea typeface="Unbounded Light" pitchFamily="34" charset="-122"/>
                <a:cs typeface="Times New Roman" panose="02020603050405020304" pitchFamily="18" charset="0"/>
              </a:rPr>
              <a:t>01</a:t>
            </a:r>
            <a:endParaRPr lang="en-US" sz="900" dirty="0">
              <a:latin typeface="Times New Roman" panose="02020603050405020304" pitchFamily="18" charset="0"/>
              <a:cs typeface="Times New Roman" panose="02020603050405020304" pitchFamily="18" charset="0"/>
            </a:endParaRPr>
          </a:p>
        </p:txBody>
      </p:sp>
      <p:sp>
        <p:nvSpPr>
          <p:cNvPr id="10" name="Shape 8"/>
          <p:cNvSpPr/>
          <p:nvPr/>
        </p:nvSpPr>
        <p:spPr>
          <a:xfrm>
            <a:off x="6243382" y="2034778"/>
            <a:ext cx="5293188" cy="12700"/>
          </a:xfrm>
          <a:prstGeom prst="rect">
            <a:avLst/>
          </a:prstGeom>
          <a:solidFill>
            <a:srgbClr val="26A688"/>
          </a:solidFill>
          <a:ln/>
        </p:spPr>
      </p:sp>
      <p:sp>
        <p:nvSpPr>
          <p:cNvPr id="11" name="Text 9"/>
          <p:cNvSpPr/>
          <p:nvPr/>
        </p:nvSpPr>
        <p:spPr>
          <a:xfrm>
            <a:off x="6243382" y="2118023"/>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Pipeline / Orchestration</a:t>
            </a:r>
            <a:endParaRPr lang="en-US" sz="1100" dirty="0">
              <a:latin typeface="Times New Roman" panose="02020603050405020304" pitchFamily="18" charset="0"/>
              <a:cs typeface="Times New Roman" panose="02020603050405020304" pitchFamily="18" charset="0"/>
            </a:endParaRPr>
          </a:p>
        </p:txBody>
      </p:sp>
      <p:sp>
        <p:nvSpPr>
          <p:cNvPr id="12" name="Text 10"/>
          <p:cNvSpPr/>
          <p:nvPr/>
        </p:nvSpPr>
        <p:spPr>
          <a:xfrm>
            <a:off x="6243382" y="2379861"/>
            <a:ext cx="5293188" cy="314920"/>
          </a:xfrm>
          <a:prstGeom prst="rect">
            <a:avLst/>
          </a:prstGeom>
          <a:noFill/>
          <a:ln/>
        </p:spPr>
        <p:txBody>
          <a:bodyPr wrap="square" lIns="0" tIns="0" rIns="0" bIns="0" rtlCol="0" anchor="t">
            <a:normAutofit/>
          </a:bodyPr>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Multi-agent reasoning across all three modules and Kadi's entity resolution pipeline — the heaviest single role.</a:t>
            </a:r>
            <a:endParaRPr lang="en-US" sz="900" dirty="0">
              <a:latin typeface="Times New Roman" panose="02020603050405020304" pitchFamily="18" charset="0"/>
              <a:cs typeface="Times New Roman" panose="02020603050405020304" pitchFamily="18" charset="0"/>
            </a:endParaRPr>
          </a:p>
        </p:txBody>
      </p:sp>
      <p:sp>
        <p:nvSpPr>
          <p:cNvPr id="13" name="Text 11"/>
          <p:cNvSpPr/>
          <p:nvPr/>
        </p:nvSpPr>
        <p:spPr>
          <a:xfrm>
            <a:off x="6243382" y="2862560"/>
            <a:ext cx="231472" cy="144661"/>
          </a:xfrm>
          <a:prstGeom prst="rect">
            <a:avLst/>
          </a:prstGeom>
          <a:noFill/>
          <a:ln/>
        </p:spPr>
        <p:txBody>
          <a:bodyPr wrap="none" lIns="0" tIns="0" rIns="0" bIns="0" rtlCol="0" anchor="ctr"/>
          <a:lstStyle/>
          <a:p>
            <a:pPr marL="0" indent="0" algn="l">
              <a:lnSpc>
                <a:spcPct val="100000"/>
              </a:lnSpc>
              <a:buNone/>
            </a:pPr>
            <a:r>
              <a:rPr lang="en-US" sz="900" dirty="0">
                <a:solidFill>
                  <a:srgbClr val="333F70"/>
                </a:solidFill>
                <a:latin typeface="Times New Roman" panose="02020603050405020304" pitchFamily="18" charset="0"/>
                <a:ea typeface="Unbounded Light" pitchFamily="34" charset="-122"/>
                <a:cs typeface="Times New Roman" panose="02020603050405020304" pitchFamily="18" charset="0"/>
              </a:rPr>
              <a:t>02</a:t>
            </a:r>
            <a:endParaRPr lang="en-US" sz="900" dirty="0">
              <a:latin typeface="Times New Roman" panose="02020603050405020304" pitchFamily="18" charset="0"/>
              <a:cs typeface="Times New Roman" panose="02020603050405020304" pitchFamily="18" charset="0"/>
            </a:endParaRPr>
          </a:p>
        </p:txBody>
      </p:sp>
      <p:sp>
        <p:nvSpPr>
          <p:cNvPr id="14" name="Shape 12"/>
          <p:cNvSpPr/>
          <p:nvPr/>
        </p:nvSpPr>
        <p:spPr>
          <a:xfrm>
            <a:off x="6243382" y="3046512"/>
            <a:ext cx="5293188" cy="12700"/>
          </a:xfrm>
          <a:prstGeom prst="rect">
            <a:avLst/>
          </a:prstGeom>
          <a:solidFill>
            <a:srgbClr val="26A688"/>
          </a:solidFill>
          <a:ln/>
        </p:spPr>
      </p:sp>
      <p:sp>
        <p:nvSpPr>
          <p:cNvPr id="15" name="Text 13"/>
          <p:cNvSpPr/>
          <p:nvPr/>
        </p:nvSpPr>
        <p:spPr>
          <a:xfrm>
            <a:off x="6243382" y="3129756"/>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OCR + Data Layer</a:t>
            </a:r>
            <a:endParaRPr lang="en-US" sz="1100" dirty="0">
              <a:latin typeface="Times New Roman" panose="02020603050405020304" pitchFamily="18" charset="0"/>
              <a:cs typeface="Times New Roman" panose="02020603050405020304" pitchFamily="18" charset="0"/>
            </a:endParaRPr>
          </a:p>
        </p:txBody>
      </p:sp>
      <p:sp>
        <p:nvSpPr>
          <p:cNvPr id="16" name="Text 14"/>
          <p:cNvSpPr/>
          <p:nvPr/>
        </p:nvSpPr>
        <p:spPr>
          <a:xfrm>
            <a:off x="6243382" y="3391595"/>
            <a:ext cx="5293188" cy="157460"/>
          </a:xfrm>
          <a:prstGeom prst="rect">
            <a:avLst/>
          </a:prstGeom>
          <a:noFill/>
          <a:ln/>
        </p:spPr>
        <p:txBody>
          <a:bodyPr wrap="none" lIns="0" tIns="0" rIns="0" bIns="0" rtlCol="0" anchor="t"/>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Document ingestion, Devanagari OCR validation, RAG ingestion for all reference datasets.</a:t>
            </a:r>
            <a:endParaRPr lang="en-US" sz="900" dirty="0">
              <a:latin typeface="Times New Roman" panose="02020603050405020304" pitchFamily="18" charset="0"/>
              <a:cs typeface="Times New Roman" panose="02020603050405020304" pitchFamily="18" charset="0"/>
            </a:endParaRPr>
          </a:p>
        </p:txBody>
      </p:sp>
      <p:sp>
        <p:nvSpPr>
          <p:cNvPr id="17" name="Text 15"/>
          <p:cNvSpPr/>
          <p:nvPr/>
        </p:nvSpPr>
        <p:spPr>
          <a:xfrm>
            <a:off x="6243382" y="3716834"/>
            <a:ext cx="231472" cy="144661"/>
          </a:xfrm>
          <a:prstGeom prst="rect">
            <a:avLst/>
          </a:prstGeom>
          <a:noFill/>
          <a:ln/>
        </p:spPr>
        <p:txBody>
          <a:bodyPr wrap="none" lIns="0" tIns="0" rIns="0" bIns="0" rtlCol="0" anchor="ctr"/>
          <a:lstStyle/>
          <a:p>
            <a:pPr marL="0" indent="0" algn="l">
              <a:lnSpc>
                <a:spcPct val="100000"/>
              </a:lnSpc>
              <a:buNone/>
            </a:pPr>
            <a:r>
              <a:rPr lang="en-US" sz="900" dirty="0">
                <a:solidFill>
                  <a:srgbClr val="333F70"/>
                </a:solidFill>
                <a:latin typeface="Times New Roman" panose="02020603050405020304" pitchFamily="18" charset="0"/>
                <a:ea typeface="Unbounded Light" pitchFamily="34" charset="-122"/>
                <a:cs typeface="Times New Roman" panose="02020603050405020304" pitchFamily="18" charset="0"/>
              </a:rPr>
              <a:t>03</a:t>
            </a:r>
            <a:endParaRPr lang="en-US" sz="900" dirty="0">
              <a:latin typeface="Times New Roman" panose="02020603050405020304" pitchFamily="18" charset="0"/>
              <a:cs typeface="Times New Roman" panose="02020603050405020304" pitchFamily="18" charset="0"/>
            </a:endParaRPr>
          </a:p>
        </p:txBody>
      </p:sp>
      <p:sp>
        <p:nvSpPr>
          <p:cNvPr id="18" name="Shape 16"/>
          <p:cNvSpPr/>
          <p:nvPr/>
        </p:nvSpPr>
        <p:spPr>
          <a:xfrm>
            <a:off x="6243382" y="3900785"/>
            <a:ext cx="5293188" cy="12700"/>
          </a:xfrm>
          <a:prstGeom prst="rect">
            <a:avLst/>
          </a:prstGeom>
          <a:solidFill>
            <a:srgbClr val="26A688"/>
          </a:solidFill>
          <a:ln/>
        </p:spPr>
      </p:sp>
      <p:sp>
        <p:nvSpPr>
          <p:cNvPr id="19" name="Text 17"/>
          <p:cNvSpPr/>
          <p:nvPr/>
        </p:nvSpPr>
        <p:spPr>
          <a:xfrm>
            <a:off x="6243382" y="3984030"/>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Frontend / UX</a:t>
            </a:r>
            <a:endParaRPr lang="en-US" sz="1100" dirty="0">
              <a:latin typeface="Times New Roman" panose="02020603050405020304" pitchFamily="18" charset="0"/>
              <a:cs typeface="Times New Roman" panose="02020603050405020304" pitchFamily="18" charset="0"/>
            </a:endParaRPr>
          </a:p>
        </p:txBody>
      </p:sp>
      <p:sp>
        <p:nvSpPr>
          <p:cNvPr id="20" name="Text 18"/>
          <p:cNvSpPr/>
          <p:nvPr/>
        </p:nvSpPr>
        <p:spPr>
          <a:xfrm>
            <a:off x="6243382" y="4245868"/>
            <a:ext cx="5293188" cy="157460"/>
          </a:xfrm>
          <a:prstGeom prst="rect">
            <a:avLst/>
          </a:prstGeom>
          <a:noFill/>
          <a:ln/>
        </p:spPr>
        <p:txBody>
          <a:bodyPr wrap="none" lIns="0" tIns="0" rIns="0" bIns="0" rtlCol="0" anchor="t"/>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Next.js interface with trilingual UI across English, Hindi, and Marathi.</a:t>
            </a:r>
            <a:endParaRPr lang="en-US" sz="900" dirty="0">
              <a:latin typeface="Times New Roman" panose="02020603050405020304" pitchFamily="18" charset="0"/>
              <a:cs typeface="Times New Roman" panose="02020603050405020304" pitchFamily="18" charset="0"/>
            </a:endParaRPr>
          </a:p>
        </p:txBody>
      </p:sp>
      <p:sp>
        <p:nvSpPr>
          <p:cNvPr id="21" name="Text 19"/>
          <p:cNvSpPr/>
          <p:nvPr/>
        </p:nvSpPr>
        <p:spPr>
          <a:xfrm>
            <a:off x="6243382" y="4571107"/>
            <a:ext cx="231472" cy="144661"/>
          </a:xfrm>
          <a:prstGeom prst="rect">
            <a:avLst/>
          </a:prstGeom>
          <a:noFill/>
          <a:ln/>
        </p:spPr>
        <p:txBody>
          <a:bodyPr wrap="none" lIns="0" tIns="0" rIns="0" bIns="0" rtlCol="0" anchor="ctr"/>
          <a:lstStyle/>
          <a:p>
            <a:pPr marL="0" indent="0" algn="l">
              <a:lnSpc>
                <a:spcPct val="100000"/>
              </a:lnSpc>
              <a:buNone/>
            </a:pPr>
            <a:r>
              <a:rPr lang="en-US" sz="900" dirty="0">
                <a:solidFill>
                  <a:srgbClr val="333F70"/>
                </a:solidFill>
                <a:latin typeface="Times New Roman" panose="02020603050405020304" pitchFamily="18" charset="0"/>
                <a:ea typeface="Unbounded Light" pitchFamily="34" charset="-122"/>
                <a:cs typeface="Times New Roman" panose="02020603050405020304" pitchFamily="18" charset="0"/>
              </a:rPr>
              <a:t>04</a:t>
            </a:r>
            <a:endParaRPr lang="en-US" sz="900" dirty="0">
              <a:latin typeface="Times New Roman" panose="02020603050405020304" pitchFamily="18" charset="0"/>
              <a:cs typeface="Times New Roman" panose="02020603050405020304" pitchFamily="18" charset="0"/>
            </a:endParaRPr>
          </a:p>
        </p:txBody>
      </p:sp>
      <p:sp>
        <p:nvSpPr>
          <p:cNvPr id="22" name="Shape 20"/>
          <p:cNvSpPr/>
          <p:nvPr/>
        </p:nvSpPr>
        <p:spPr>
          <a:xfrm>
            <a:off x="6243382" y="4755059"/>
            <a:ext cx="5293188" cy="12700"/>
          </a:xfrm>
          <a:prstGeom prst="rect">
            <a:avLst/>
          </a:prstGeom>
          <a:solidFill>
            <a:srgbClr val="26A688"/>
          </a:solidFill>
          <a:ln/>
        </p:spPr>
      </p:sp>
      <p:sp>
        <p:nvSpPr>
          <p:cNvPr id="23" name="Text 21"/>
          <p:cNvSpPr/>
          <p:nvPr/>
        </p:nvSpPr>
        <p:spPr>
          <a:xfrm>
            <a:off x="6243382" y="4838303"/>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Infra / Deployment</a:t>
            </a:r>
            <a:endParaRPr lang="en-US" sz="1100" dirty="0">
              <a:latin typeface="Times New Roman" panose="02020603050405020304" pitchFamily="18" charset="0"/>
              <a:cs typeface="Times New Roman" panose="02020603050405020304" pitchFamily="18" charset="0"/>
            </a:endParaRPr>
          </a:p>
        </p:txBody>
      </p:sp>
      <p:sp>
        <p:nvSpPr>
          <p:cNvPr id="24" name="Text 22"/>
          <p:cNvSpPr/>
          <p:nvPr/>
        </p:nvSpPr>
        <p:spPr>
          <a:xfrm>
            <a:off x="6243382" y="5100141"/>
            <a:ext cx="5293188" cy="157460"/>
          </a:xfrm>
          <a:prstGeom prst="rect">
            <a:avLst/>
          </a:prstGeom>
          <a:noFill/>
          <a:ln/>
        </p:spPr>
        <p:txBody>
          <a:bodyPr wrap="none" lIns="0" tIns="0" rIns="0" bIns="0" rtlCol="0" anchor="t"/>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Docker, database, SSE streaming, and hosting configuration.</a:t>
            </a:r>
            <a:endParaRPr lang="en-US" sz="900" dirty="0">
              <a:latin typeface="Times New Roman" panose="02020603050405020304" pitchFamily="18" charset="0"/>
              <a:cs typeface="Times New Roman" panose="02020603050405020304" pitchFamily="18" charset="0"/>
            </a:endParaRPr>
          </a:p>
        </p:txBody>
      </p:sp>
      <p:sp>
        <p:nvSpPr>
          <p:cNvPr id="25" name="Text 23"/>
          <p:cNvSpPr/>
          <p:nvPr/>
        </p:nvSpPr>
        <p:spPr>
          <a:xfrm>
            <a:off x="6243382" y="5425380"/>
            <a:ext cx="231472" cy="144661"/>
          </a:xfrm>
          <a:prstGeom prst="rect">
            <a:avLst/>
          </a:prstGeom>
          <a:noFill/>
          <a:ln/>
        </p:spPr>
        <p:txBody>
          <a:bodyPr wrap="none" lIns="0" tIns="0" rIns="0" bIns="0" rtlCol="0" anchor="ctr"/>
          <a:lstStyle/>
          <a:p>
            <a:pPr marL="0" indent="0" algn="l">
              <a:lnSpc>
                <a:spcPct val="100000"/>
              </a:lnSpc>
              <a:buNone/>
            </a:pPr>
            <a:r>
              <a:rPr lang="en-US" sz="900" dirty="0">
                <a:solidFill>
                  <a:srgbClr val="333F70"/>
                </a:solidFill>
                <a:latin typeface="Times New Roman" panose="02020603050405020304" pitchFamily="18" charset="0"/>
                <a:ea typeface="Unbounded Light" pitchFamily="34" charset="-122"/>
                <a:cs typeface="Times New Roman" panose="02020603050405020304" pitchFamily="18" charset="0"/>
              </a:rPr>
              <a:t>05</a:t>
            </a:r>
            <a:endParaRPr lang="en-US" sz="900" dirty="0">
              <a:latin typeface="Times New Roman" panose="02020603050405020304" pitchFamily="18" charset="0"/>
              <a:cs typeface="Times New Roman" panose="02020603050405020304" pitchFamily="18" charset="0"/>
            </a:endParaRPr>
          </a:p>
        </p:txBody>
      </p:sp>
      <p:sp>
        <p:nvSpPr>
          <p:cNvPr id="26" name="Shape 24"/>
          <p:cNvSpPr/>
          <p:nvPr/>
        </p:nvSpPr>
        <p:spPr>
          <a:xfrm>
            <a:off x="6243382" y="5609332"/>
            <a:ext cx="5293188" cy="12700"/>
          </a:xfrm>
          <a:prstGeom prst="rect">
            <a:avLst/>
          </a:prstGeom>
          <a:solidFill>
            <a:srgbClr val="26A688"/>
          </a:solidFill>
          <a:ln/>
        </p:spPr>
      </p:sp>
      <p:sp>
        <p:nvSpPr>
          <p:cNvPr id="27" name="Text 25"/>
          <p:cNvSpPr/>
          <p:nvPr/>
        </p:nvSpPr>
        <p:spPr>
          <a:xfrm>
            <a:off x="6243382" y="5692577"/>
            <a:ext cx="5293188" cy="18087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Times New Roman" panose="02020603050405020304" pitchFamily="18" charset="0"/>
                <a:ea typeface="Unbounded Bold" pitchFamily="34" charset="-122"/>
                <a:cs typeface="Times New Roman" panose="02020603050405020304" pitchFamily="18" charset="0"/>
              </a:rPr>
              <a:t>Data + Legal / Multilingual QA</a:t>
            </a:r>
            <a:endParaRPr lang="en-US" sz="1100" dirty="0">
              <a:latin typeface="Times New Roman" panose="02020603050405020304" pitchFamily="18" charset="0"/>
              <a:cs typeface="Times New Roman" panose="02020603050405020304" pitchFamily="18" charset="0"/>
            </a:endParaRPr>
          </a:p>
        </p:txBody>
      </p:sp>
      <p:sp>
        <p:nvSpPr>
          <p:cNvPr id="28" name="Text 26"/>
          <p:cNvSpPr/>
          <p:nvPr/>
        </p:nvSpPr>
        <p:spPr>
          <a:xfrm>
            <a:off x="6243382" y="5954415"/>
            <a:ext cx="5293188" cy="157460"/>
          </a:xfrm>
          <a:prstGeom prst="rect">
            <a:avLst/>
          </a:prstGeom>
          <a:noFill/>
          <a:ln/>
        </p:spPr>
        <p:txBody>
          <a:bodyPr wrap="none" lIns="0" tIns="0" rIns="0" bIns="0" rtlCol="0" anchor="t"/>
          <a:lstStyle/>
          <a:p>
            <a:pPr marL="0" indent="0" algn="l">
              <a:lnSpc>
                <a:spcPct val="113000"/>
              </a:lnSpc>
              <a:buNone/>
            </a:pPr>
            <a:r>
              <a:rPr lang="en-US" sz="900" dirty="0">
                <a:solidFill>
                  <a:srgbClr val="333F70"/>
                </a:solidFill>
                <a:latin typeface="Times New Roman" panose="02020603050405020304" pitchFamily="18" charset="0"/>
                <a:ea typeface="Open Sans" pitchFamily="34" charset="-122"/>
                <a:cs typeface="Times New Roman" panose="02020603050405020304" pitchFamily="18" charset="0"/>
              </a:rPr>
              <a:t>Government data structuring, IRDAI/scheme rule accuracy, Hindi/Marathi terminology review.</a:t>
            </a:r>
            <a:endParaRPr lang="en-US" sz="900" dirty="0">
              <a:latin typeface="Times New Roman" panose="02020603050405020304" pitchFamily="18" charset="0"/>
              <a:cs typeface="Times New Roman" panose="02020603050405020304" pitchFamily="18" charset="0"/>
            </a:endParaRPr>
          </a:p>
        </p:txBody>
      </p:sp>
      <p:pic>
        <p:nvPicPr>
          <p:cNvPr id="30" name="Picture 29">
            <a:extLst>
              <a:ext uri="{FF2B5EF4-FFF2-40B4-BE49-F238E27FC236}">
                <a16:creationId xmlns:a16="http://schemas.microsoft.com/office/drawing/2014/main" id="{6A551781-FA5E-9134-8044-11D3162538D1}"/>
              </a:ext>
            </a:extLst>
          </p:cNvPr>
          <p:cNvPicPr>
            <a:picLocks noChangeAspect="1"/>
          </p:cNvPicPr>
          <p:nvPr/>
        </p:nvPicPr>
        <p:blipFill>
          <a:blip r:embed="rId3"/>
          <a:stretch>
            <a:fillRect/>
          </a:stretch>
        </p:blipFill>
        <p:spPr>
          <a:xfrm>
            <a:off x="10661571" y="6515082"/>
            <a:ext cx="1530429" cy="3429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85775"/>
            <a:ext cx="10868745" cy="490934"/>
          </a:xfrm>
          <a:prstGeom prst="rect">
            <a:avLst/>
          </a:prstGeom>
          <a:noFill/>
          <a:ln/>
        </p:spPr>
        <p:txBody>
          <a:bodyPr wrap="none" lIns="0" tIns="0" rIns="0" bIns="0" rtlCol="0" anchor="t"/>
          <a:lstStyle/>
          <a:p>
            <a:pPr marL="0" indent="0" algn="l">
              <a:lnSpc>
                <a:spcPct val="104000"/>
              </a:lnSpc>
              <a:buNone/>
            </a:pPr>
            <a:r>
              <a:rPr lang="en-US" sz="3050" b="1" dirty="0">
                <a:solidFill>
                  <a:srgbClr val="333F70"/>
                </a:solidFill>
                <a:latin typeface="Times New Roman" panose="02020603050405020304" pitchFamily="18" charset="0"/>
                <a:ea typeface="Unbounded Bold" pitchFamily="34" charset="-122"/>
                <a:cs typeface="Times New Roman" panose="02020603050405020304" pitchFamily="18" charset="0"/>
              </a:rPr>
              <a:t>Decisions, Open Items &amp; Next Steps</a:t>
            </a:r>
            <a:endParaRPr lang="en-US" sz="3050" dirty="0">
              <a:latin typeface="Times New Roman" panose="02020603050405020304" pitchFamily="18" charset="0"/>
              <a:cs typeface="Times New Roman" panose="02020603050405020304" pitchFamily="18" charset="0"/>
            </a:endParaRPr>
          </a:p>
        </p:txBody>
      </p:sp>
      <p:sp>
        <p:nvSpPr>
          <p:cNvPr id="3" name="Shape 1"/>
          <p:cNvSpPr/>
          <p:nvPr/>
        </p:nvSpPr>
        <p:spPr>
          <a:xfrm>
            <a:off x="548269" y="1200547"/>
            <a:ext cx="5469098" cy="5171678"/>
          </a:xfrm>
          <a:prstGeom prst="roundRect">
            <a:avLst>
              <a:gd name="adj" fmla="val 2187"/>
            </a:avLst>
          </a:prstGeom>
          <a:solidFill>
            <a:srgbClr val="26A688"/>
          </a:solidFill>
          <a:ln/>
        </p:spPr>
      </p:sp>
      <p:sp>
        <p:nvSpPr>
          <p:cNvPr id="4" name="Text 2"/>
          <p:cNvSpPr/>
          <p:nvPr/>
        </p:nvSpPr>
        <p:spPr>
          <a:xfrm>
            <a:off x="705328" y="1349772"/>
            <a:ext cx="5154980" cy="251916"/>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Times New Roman" panose="02020603050405020304" pitchFamily="18" charset="0"/>
                <a:ea typeface="Twemoji Mozilla" pitchFamily="34" charset="-122"/>
                <a:cs typeface="Times New Roman" panose="02020603050405020304" pitchFamily="18" charset="0"/>
              </a:rPr>
              <a:t>✅</a:t>
            </a:r>
            <a:r>
              <a:rPr lang="en-US" sz="1500" b="1" dirty="0">
                <a:solidFill>
                  <a:srgbClr val="000000"/>
                </a:solidFill>
                <a:latin typeface="Times New Roman" panose="02020603050405020304" pitchFamily="18" charset="0"/>
                <a:ea typeface="Unbounded Bold" pitchFamily="34" charset="-122"/>
                <a:cs typeface="Times New Roman" panose="02020603050405020304" pitchFamily="18" charset="0"/>
              </a:rPr>
              <a:t> Resolved This Session</a:t>
            </a:r>
            <a:endParaRPr lang="en-US" sz="1500" dirty="0">
              <a:latin typeface="Times New Roman" panose="02020603050405020304" pitchFamily="18" charset="0"/>
              <a:cs typeface="Times New Roman" panose="02020603050405020304" pitchFamily="18" charset="0"/>
            </a:endParaRPr>
          </a:p>
        </p:txBody>
      </p:sp>
      <p:sp>
        <p:nvSpPr>
          <p:cNvPr id="5" name="Text 3"/>
          <p:cNvSpPr/>
          <p:nvPr/>
        </p:nvSpPr>
        <p:spPr>
          <a:xfrm>
            <a:off x="705328" y="1750913"/>
            <a:ext cx="5154980" cy="1924943"/>
          </a:xfrm>
          <a:prstGeom prst="rect">
            <a:avLst/>
          </a:prstGeom>
          <a:noFill/>
          <a:ln/>
        </p:spPr>
        <p:txBody>
          <a:bodyPr wrap="square" lIns="0" tIns="0" rIns="0" bIns="0" rtlCol="0" anchor="t">
            <a:normAutofit/>
          </a:bodyPr>
          <a:lstStyle/>
          <a:p>
            <a:pPr marL="243840" indent="-243840" algn="l">
              <a:lnSpc>
                <a:spcPct val="130000"/>
              </a:lnSpc>
              <a:buSzPct val="100000"/>
              <a:buChar char="•"/>
            </a:pP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BillGuard renamed to </a:t>
            </a:r>
            <a:r>
              <a:rPr lang="en-US" sz="1200" b="1" dirty="0">
                <a:solidFill>
                  <a:srgbClr val="000000"/>
                </a:solidFill>
                <a:latin typeface="Times New Roman" panose="02020603050405020304" pitchFamily="18" charset="0"/>
                <a:ea typeface="Open Sans Bold" pitchFamily="34" charset="-122"/>
                <a:cs typeface="Times New Roman" panose="02020603050405020304" pitchFamily="18" charset="0"/>
              </a:rPr>
              <a:t>BillNyay</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Cross-module linking architecture designed — </a:t>
            </a:r>
            <a:r>
              <a:rPr lang="en-US" sz="1200" b="1" dirty="0">
                <a:solidFill>
                  <a:srgbClr val="000000"/>
                </a:solidFill>
                <a:latin typeface="Times New Roman" panose="02020603050405020304" pitchFamily="18" charset="0"/>
                <a:ea typeface="Open Sans Bold" pitchFamily="34" charset="-122"/>
                <a:cs typeface="Times New Roman" panose="02020603050405020304" pitchFamily="18" charset="0"/>
              </a:rPr>
              <a:t>Kadi</a:t>
            </a: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 shared case context, not a fourth module</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Entity resolution: full version approved, cross-script included, built on IndicXlit + IndicSBERT</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Repo structure: </a:t>
            </a:r>
            <a:r>
              <a:rPr lang="en-US" sz="1200" b="1" dirty="0">
                <a:solidFill>
                  <a:srgbClr val="000000"/>
                </a:solidFill>
                <a:latin typeface="Times New Roman" panose="02020603050405020304" pitchFamily="18" charset="0"/>
                <a:ea typeface="Open Sans Bold" pitchFamily="34" charset="-122"/>
                <a:cs typeface="Times New Roman" panose="02020603050405020304" pitchFamily="18" charset="0"/>
              </a:rPr>
              <a:t>monorepo</a:t>
            </a: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 structure finalised</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Scope, naming, and architecture locked — approved by guide</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6293883" y="1349772"/>
            <a:ext cx="5242687" cy="251916"/>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Times New Roman" panose="02020603050405020304" pitchFamily="18" charset="0"/>
                <a:ea typeface="Twemoji Mozilla" pitchFamily="34" charset="-122"/>
                <a:cs typeface="Times New Roman" panose="02020603050405020304" pitchFamily="18" charset="0"/>
              </a:rPr>
              <a:t>⬜</a:t>
            </a:r>
            <a:r>
              <a:rPr lang="en-US" sz="1500" b="1" dirty="0">
                <a:solidFill>
                  <a:srgbClr val="333F70"/>
                </a:solidFill>
                <a:latin typeface="Times New Roman" panose="02020603050405020304" pitchFamily="18" charset="0"/>
                <a:ea typeface="Unbounded Bold" pitchFamily="34" charset="-122"/>
                <a:cs typeface="Times New Roman" panose="02020603050405020304" pitchFamily="18" charset="0"/>
              </a:rPr>
              <a:t> Open Items — Pending</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6293883" y="1750913"/>
            <a:ext cx="5242687" cy="3202980"/>
          </a:xfrm>
          <a:prstGeom prst="rect">
            <a:avLst/>
          </a:prstGeom>
          <a:noFill/>
          <a:ln/>
        </p:spPr>
        <p:txBody>
          <a:bodyPr wrap="square" lIns="0" tIns="0" rIns="0" bIns="0" rtlCol="0" anchor="t">
            <a:normAutofit/>
          </a:bodyPr>
          <a:lstStyle/>
          <a:p>
            <a:pPr marL="243840" indent="-243840" algn="l">
              <a:lnSpc>
                <a:spcPct val="130000"/>
              </a:lnSpc>
              <a:buSzPct val="100000"/>
              <a:buChar char="•"/>
            </a:pPr>
            <a:r>
              <a:rPr lang="en-US" sz="1200" dirty="0">
                <a:solidFill>
                  <a:srgbClr val="333F70"/>
                </a:solidFill>
                <a:latin typeface="Times New Roman" panose="02020603050405020304" pitchFamily="18" charset="0"/>
                <a:ea typeface="Open Sans" pitchFamily="34" charset="-122"/>
                <a:cs typeface="Times New Roman" panose="02020603050405020304" pitchFamily="18" charset="0"/>
              </a:rPr>
              <a:t>Confirm whether hackathon BillNyay code can carry into FYP submission directly, or must be framed as new work per department rules</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333F70"/>
                </a:solidFill>
                <a:latin typeface="Times New Roman" panose="02020603050405020304" pitchFamily="18" charset="0"/>
                <a:ea typeface="Open Sans" pitchFamily="34" charset="-122"/>
                <a:cs typeface="Times New Roman" panose="02020603050405020304" pitchFamily="18" charset="0"/>
              </a:rPr>
              <a:t>Confirm SPPU Phase-I review date and what "done" looks like by then vs. final submission</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333F70"/>
                </a:solidFill>
                <a:latin typeface="Times New Roman" panose="02020603050405020304" pitchFamily="18" charset="0"/>
                <a:ea typeface="Open Sans" pitchFamily="34" charset="-122"/>
                <a:cs typeface="Times New Roman" panose="02020603050405020304" pitchFamily="18" charset="0"/>
              </a:rPr>
              <a:t>Resolve Hindi/Marathi source-vs-generation per data source — determines real workload</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333F70"/>
                </a:solidFill>
                <a:latin typeface="Times New Roman" panose="02020603050405020304" pitchFamily="18" charset="0"/>
                <a:ea typeface="Open Sans" pitchFamily="34" charset="-122"/>
                <a:cs typeface="Times New Roman" panose="02020603050405020304" pitchFamily="18" charset="0"/>
              </a:rPr>
              <a:t>Execute the Groq model swap — flagged, not yet confirmed done</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333F70"/>
                </a:solidFill>
                <a:latin typeface="Times New Roman" panose="02020603050405020304" pitchFamily="18" charset="0"/>
                <a:ea typeface="Open Sans" pitchFamily="34" charset="-122"/>
                <a:cs typeface="Times New Roman" panose="02020603050405020304" pitchFamily="18" charset="0"/>
              </a:rPr>
              <a:t>Decide synthetic vs. real self-donated test-document dataset for OCR validation</a:t>
            </a:r>
            <a:endParaRPr lang="en-US" sz="1200" dirty="0">
              <a:latin typeface="Times New Roman" panose="02020603050405020304" pitchFamily="18" charset="0"/>
              <a:cs typeface="Times New Roman" panose="02020603050405020304" pitchFamily="18" charset="0"/>
            </a:endParaRPr>
          </a:p>
          <a:p>
            <a:pPr marL="243840" indent="-243840" algn="l">
              <a:lnSpc>
                <a:spcPct val="130000"/>
              </a:lnSpc>
              <a:buSzPct val="100000"/>
              <a:buChar char="•"/>
            </a:pPr>
            <a:r>
              <a:rPr lang="en-US" sz="1200" dirty="0">
                <a:solidFill>
                  <a:srgbClr val="333F70"/>
                </a:solidFill>
                <a:latin typeface="Times New Roman" panose="02020603050405020304" pitchFamily="18" charset="0"/>
                <a:ea typeface="Open Sans" pitchFamily="34" charset="-122"/>
                <a:cs typeface="Times New Roman" panose="02020603050405020304" pitchFamily="18" charset="0"/>
              </a:rPr>
              <a:t>Plan the labelled entity-pair dataset needed to tune entity-resolution confidence thresholds</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6293883" y="5121771"/>
            <a:ext cx="5242687" cy="1082576"/>
          </a:xfrm>
          <a:prstGeom prst="roundRect">
            <a:avLst>
              <a:gd name="adj" fmla="val 6096"/>
            </a:avLst>
          </a:prstGeom>
          <a:solidFill>
            <a:srgbClr val="D6F5EE"/>
          </a:solidFill>
          <a:ln/>
        </p:spPr>
      </p:sp>
      <p:pic>
        <p:nvPicPr>
          <p:cNvPr id="9" name="Image 0" descr="preencoded.png"/>
          <p:cNvPicPr>
            <a:picLocks noChangeAspect="1"/>
          </p:cNvPicPr>
          <p:nvPr/>
        </p:nvPicPr>
        <p:blipFill>
          <a:blip r:embed="rId3"/>
          <a:stretch>
            <a:fillRect/>
          </a:stretch>
        </p:blipFill>
        <p:spPr>
          <a:xfrm>
            <a:off x="6450943" y="5358309"/>
            <a:ext cx="196349" cy="157063"/>
          </a:xfrm>
          <a:prstGeom prst="rect">
            <a:avLst/>
          </a:prstGeom>
        </p:spPr>
      </p:pic>
      <p:sp>
        <p:nvSpPr>
          <p:cNvPr id="10" name="Text 7"/>
          <p:cNvSpPr/>
          <p:nvPr/>
        </p:nvSpPr>
        <p:spPr>
          <a:xfrm>
            <a:off x="6804351" y="5295305"/>
            <a:ext cx="4575160" cy="73550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000000"/>
                </a:solidFill>
                <a:latin typeface="Times New Roman" panose="02020603050405020304" pitchFamily="18" charset="0"/>
                <a:ea typeface="Open Sans Bold" pitchFamily="34" charset="-122"/>
                <a:cs typeface="Times New Roman" panose="02020603050405020304" pitchFamily="18" charset="0"/>
              </a:rPr>
              <a:t>Explicitly Out of Scope:</a:t>
            </a:r>
            <a:r>
              <a:rPr lang="en-US" sz="1200" dirty="0">
                <a:solidFill>
                  <a:srgbClr val="000000"/>
                </a:solidFill>
                <a:latin typeface="Times New Roman" panose="02020603050405020304" pitchFamily="18" charset="0"/>
                <a:ea typeface="Open Sans" pitchFamily="34" charset="-122"/>
                <a:cs typeface="Times New Roman" panose="02020603050405020304" pitchFamily="18" charset="0"/>
              </a:rPr>
              <a:t> Non-Schedule-I drug price variance; state schemes beyond Maharashtra; any stored patient data — every module stays bring-your-own-document.</a:t>
            </a:r>
            <a:endParaRPr lang="en-US" sz="1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5A8613E9-090A-22F1-2165-56E6492142F7}"/>
              </a:ext>
            </a:extLst>
          </p:cNvPr>
          <p:cNvPicPr>
            <a:picLocks noChangeAspect="1"/>
          </p:cNvPicPr>
          <p:nvPr/>
        </p:nvPicPr>
        <p:blipFill>
          <a:blip r:embed="rId4"/>
          <a:stretch>
            <a:fillRect/>
          </a:stretch>
        </p:blipFill>
        <p:spPr>
          <a:xfrm>
            <a:off x="10661571" y="6515082"/>
            <a:ext cx="1530429" cy="3429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1778</Words>
  <Application>Microsoft Office PowerPoint</Application>
  <PresentationFormat>Widescreen</PresentationFormat>
  <Paragraphs>149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Viraj Jadhao</cp:lastModifiedBy>
  <cp:revision>3</cp:revision>
  <dcterms:created xsi:type="dcterms:W3CDTF">2026-07-15T13:49:16Z</dcterms:created>
  <dcterms:modified xsi:type="dcterms:W3CDTF">2026-07-15T16:24:22Z</dcterms:modified>
</cp:coreProperties>
</file>