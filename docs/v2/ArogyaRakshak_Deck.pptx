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presenting ArogyaRakshak — a decision-support platform for hospital billing, insurance claims, government schemes, and medicine pricing. Up front: this is not an AI doctor and it doesn't make decisions for anyone. It supports decisions patients already have to make.
Likely questions: (1) Is this original FYP work or an extension of prior work — say directly: extends an existing hackathon build. (2) What exactly does 'decision support' mean here, legally and technically? (3) Why five modules for a team of five — how was work actually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patient walking out of a hospital holding five documents. Each one sends them somewhere different — a billing desk, an insurer's call center, a government portal, a pharmacist — and at every stop, they re-explain the same case from scratch. That's the problem in one sentence: there is no unified workflow. Not that AI is missing from healthcare — that nothing connects these documents to each other for the patient.
Likely questions: (1) Is this scenario based on real user research, or illustrative? (2) What evidence do you have that re-explaining — not cost or bureaucracy — is the actual bottleneck? (3) Isn't some of this separation deliberate — hospital, insurer, and government are supposed to be separate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existing tool solves one document, one step — an OCR app digitizes, a portal shows that source's own data, none talk to each other. The closest academic work we found benchmarks the same core technique — OCR, retrieval, LLM generation — but on a single document, English-only, producing a passive summary. That's the gap ArogyaRakshak sits in: connecting documents, across three languages, into something the patient can actually submit.
Likely questions: (1) Have you tested these existing tools directly, or is this comparison based on stated scope only? (2) Why is this base paper the right comparison when it's about summarization, not billing or claims? (3) What stops an existing portal from adding cross-document context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direct about scope: this never diagnoses, never approves a claim, never issues a verdict. Our five actual objectives are engineering goals — reduce duplicate processing, maintain shared context across a case, improve transparency, assist rather than replace the patient's own decision, and produce documents they can actually submit. AI is the means to these ends, not the goal.
Likely questions: (1) Where's the specific design line between 'assisting' and 'making' a decision? (2) How would you measure 'improved transparency' concretely? (3) Who's responsible if a generated document has an error the user submits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end to end. Any document — bill, prescription, rejection letter, or ABDM history pull — goes through shared extraction into Kadi, our shared context layer. Four modules then read and write against that same context: BillNyay, SchemeSetu, DawaCheck, DaaviSetu.
Likely questions: (1) What happens if two modules write conflicting data to the same case at once? (2) Is Kadi a hard synchronous dependency for every module? (3) Where does this architecture bottleneck first under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shared layer, four modules independently guessing at the same bill produces four different answers — that's not hypothetical, it's the default outcome of independent extraction. Kadi fixes this as infrastructure: one extraction agent, one case record, every module reading and writing the same store. The practical payoff — a single bill upload can automatically surface a matching scheme, with zero extra input from the patient.
Likely questions: (1) Is Kadi a separate service or a shared library — what's the actual deployment boundary? (2) Can you demo the auto-surfacing behavior live, or is it described but not working end to end? (3) Does one shared context create a privacy problem — does every module see everything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Kadi has four parts: the shared case-and-entity data model, entity resolution, workflow orchestration that routes context to the right modules, and defined module APIs — no module touches another's database directly. Feeding all of it is a four-step extraction pipeline: OCR, normalization, entity extraction, and confidence tagging. Raw OCR only gives you text — it doesn't know 'PCM 650' and 'Paracetamol' are the same medicine. That semantic gap is what our entity resolution pipeline solves, which we'll go deeper into shortly.
Likely questions: (1) Why forbid direct database access between modules — what would actually break? (2) Is orchestration a dedicated agent framework or hand-written control flow? (3) What happens downstream when the extraction confidence score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BillNyay audits a bill against CGHS's own rate schedules and, where it finds a deviation, a five-agent pipeline drafts an appeal. Four hardening decisions matter: we check integrity, not authenticity — that's a deliberate, honest distinction. We never say 'overcharged,' only 'deviation from benchmark.' The QA Judge agent drops any claim it can't cite a source for. And this same pipeline extends to auto-drafting IRDAI complaints — which the user still submits themselves, because IRDAI's own policy doesn't accept third-party filings.
Likely questions: (1) CGHS rates are for government-scheme patients — how do you justify benchmarking a general private bill against them? (2) What's your measured unsupported-claim rate, before and after the QA Judge step? (3) Self-reported outcomes are unverified — how do you keep that from skewing your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DawaCheck checks medicine prices against NPPA's Schedule-I ceiling list — about 800 to 900 price-controlled drugs. We scoped it to Schedule-I on purpose: it's the one place with a real government ground truth. We chose not to guess outside it, rather than ran out of time to cover it. Generic suggestions are framed as awareness only, never a recommendation to switch.
Likely questions: (1) What fraction of medicines a typical patient buys actually falls inside Schedule-I? (2) How do you prevent the generic suggestion from reading as medical advice? (3) How do you handle drift between your local dataset and NPPA's live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SchemeSetu retrieves from PMJAY and MJPJAY documents to reason through eligibility. Two disciplines: we always say 'estimated eligibility,' never 'you qualify,' because approval is a government decision outside our authority. And because scheme rules change, every output is timestamped with when it was last verified, backed by a monthly re-check.
Likely questions: (1) How do you handle a lexical mismatch between plain-language user input and dense statute wording — keyword or semantic retrieval? (2) What happens if PMJAY and MJPJAY rules conflict for a borderline case? (3) Who performs the monthly re-verification, and what if a rule change is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DaaviSetu fills the claim form itself, reusing what Kadi already knows — policy number, diagnosis, cost estimate — so the patient isn't re-entering data. It stops at submission deliberately: no insurer offers a public API today, so the user reviews and submits the generated package themselves.
Likely questions: (1) If it can't submit, what's the actual time saved versus filling the form manually? (2) How do you keep field structures current across different insurers' formats? (3) Should this be a separate module, or a BillNyay sub-flow?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most defensible piece of engineering here. Three completely different surface forms for one medicine, and the system has to know they match. Three independent signals feed one confidence score: string similarity for spelling variants, IndicXlit for same-word-different-script, IndicSBERT for translated concepts like fever and bukhar. High confidence merges automatically, medium asks the user rather than guessing, low treats it as genuinely new. Both underlying tools are pretrained and open-source — we didn't need to train anything from scratch.
Likely questions: (1) How are the three signal scores actually combined — fixed formula or trained model, and on what labeled data? (2) What's the threshold between medium and high confidence, and how was it chosen? (3) What's the measured false-merge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service-level view — how BillNyay, SchemeSetu, DawaCheck, and DaaviSetu are actually deployed, and critically, they never talk to each other directly. Every cross-module interaction routes through Kadi — a deliberate boundary, not an accident.
Likely questions: (1) What's the actual transport between services — REST, queue, or in-process calls in a monorepo? (2) Why enforce 'never directly' instead of allowing direct calls for latency-sensitive cases? (3) Is this true microservices, or a modular monolith — does the distinction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entry here has a specific reason. Postgres with pgvector means relational case data and vector search in one engine instead of two databases. IndicXlit and IndicSBERT are both open, pretrained, and required no training pipeline of our own — a deliberate build-versus-use decision to keep scope realistic.
Likely questions: (1) Why FAISS when pgvector already handles vectors — isn't that redundant? (2) Groq deprecated its hosted Llama models in June 2026 — what model are you running today? (3) What's the single largest risk if one of these external dependencies changes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all together: a document is uploaded, OCR'd, extracted, and lands in Kadi's shared context — from there, any combination of our four modules can act on it, producing a bill audit, a scheme match, a price check, or a claim package.
Likely questions: (1) What's the measured end-to-end latency through the full pipeline? (2) Which stage requires human-in-the-loop review before output reaches the patient? (3) If OCR fails at step one, what does the patient actually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you hear this from us than find a gap in the demo. Everything in the top row is buildable and largely built; ABDM is real but sandbox-only; three things are explicitly, permanently out of scope — not from lack of time, but lack of API or database access. We're evaluating on six axes, including an ablation study on entity resolution to show which signal actually does the work, not just that the combination works.
Likely questions: (1) Which 'implemented' items are demo-ready today versus still needing polish? (2) What's your target threshold for each evaluation metric? (3) Has any of this evaluation actually been run yet, or is this the planned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boundaries are deliberate scope decisions, stated up front rather than surfaced under questioning. And each future-work item maps directly to one: production ABDM addresses the sandbox-only limit, knowledge-graph restructuring for SchemeSetu is a concrete direction from the RAG-grounding literature we reviewed — not a vague aspiration.
Likely questions: (1) Which limitation is closest to being solved with more time? (2) Does 'decision support only' hold up legally if a user acts entirely on a generated document? (3) How much of this roadmap depends on external parties versus your own team's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the healthcare framing and what we built is a shared-context orchestration layer, a cross-lingual entity resolution pipeline, and a citation-enforced generation pipeline — each stands on its own as engineering. Back to the patient we opened with: one upload now does the work of five separate steps, grounded in real government data, in their own language. We're closing without overclaiming — the honest next step is a pilot, not a launch. Thank you — happy to take your questions.
Likely questions: (1) If you had to cut one of the three engineering contributions for time, which would you cut, and what would the project lose? (2) What's the specific next milestone after this submission? (3) What's the single biggest risk to this project's future beyond the FYP?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78D4"/>
          </a:solidFill>
          <a:ln/>
        </p:spPr>
      </p:sp>
      <p:sp>
        <p:nvSpPr>
          <p:cNvPr id="3" name="Text 1"/>
          <p:cNvSpPr/>
          <p:nvPr/>
        </p:nvSpPr>
        <p:spPr>
          <a:xfrm>
            <a:off x="0" y="2377440"/>
            <a:ext cx="12188952" cy="1005840"/>
          </a:xfrm>
          <a:prstGeom prst="rect">
            <a:avLst/>
          </a:prstGeom>
          <a:noFill/>
          <a:ln/>
        </p:spPr>
        <p:txBody>
          <a:bodyPr wrap="square" lIns="0" tIns="0" rIns="0" bIns="0" rtlCol="0" anchor="ctr"/>
          <a:lstStyle/>
          <a:p>
            <a:pPr algn="ctr" indent="0" marL="0">
              <a:buNone/>
            </a:pPr>
            <a:r>
              <a:rPr lang="en-US" sz="5400" b="1" dirty="0">
                <a:solidFill>
                  <a:srgbClr val="005A9E"/>
                </a:solidFill>
                <a:latin typeface="Cambria" pitchFamily="34" charset="0"/>
                <a:ea typeface="Cambria" pitchFamily="34" charset="-122"/>
                <a:cs typeface="Cambria" pitchFamily="34" charset="-120"/>
              </a:rPr>
              <a:t>ArogyaRakshak</a:t>
            </a:r>
            <a:endParaRPr lang="en-US" sz="5400" dirty="0"/>
          </a:p>
        </p:txBody>
      </p:sp>
      <p:sp>
        <p:nvSpPr>
          <p:cNvPr id="4" name="Text 2"/>
          <p:cNvSpPr/>
          <p:nvPr/>
        </p:nvSpPr>
        <p:spPr>
          <a:xfrm>
            <a:off x="0" y="3429000"/>
            <a:ext cx="12188952" cy="502920"/>
          </a:xfrm>
          <a:prstGeom prst="rect">
            <a:avLst/>
          </a:prstGeom>
          <a:noFill/>
          <a:ln/>
        </p:spPr>
        <p:txBody>
          <a:bodyPr wrap="square" lIns="0" tIns="0" rIns="0" bIns="0" rtlCol="0" anchor="ctr"/>
          <a:lstStyle/>
          <a:p>
            <a:pPr algn="ctr" indent="0" marL="0">
              <a:buNone/>
            </a:pPr>
            <a:r>
              <a:rPr lang="en-US" sz="2000" i="1" dirty="0">
                <a:solidFill>
                  <a:srgbClr val="757575"/>
                </a:solidFill>
                <a:latin typeface="Calibri" pitchFamily="34" charset="0"/>
                <a:ea typeface="Calibri" pitchFamily="34" charset="-122"/>
                <a:cs typeface="Calibri" pitchFamily="34" charset="-120"/>
              </a:rPr>
              <a:t>AI-Assisted Healthcare Decision Support Platform</a:t>
            </a:r>
            <a:endParaRPr lang="en-US" sz="2000" dirty="0"/>
          </a:p>
        </p:txBody>
      </p:sp>
      <p:sp>
        <p:nvSpPr>
          <p:cNvPr id="5" name="Shape 3"/>
          <p:cNvSpPr/>
          <p:nvPr/>
        </p:nvSpPr>
        <p:spPr>
          <a:xfrm>
            <a:off x="5175504" y="4160520"/>
            <a:ext cx="1828800" cy="0"/>
          </a:xfrm>
          <a:prstGeom prst="line">
            <a:avLst/>
          </a:prstGeom>
          <a:noFill/>
          <a:ln w="19050">
            <a:solidFill>
              <a:srgbClr val="0078D4"/>
            </a:solidFill>
            <a:prstDash val="solid"/>
          </a:ln>
        </p:spPr>
      </p:sp>
      <p:sp>
        <p:nvSpPr>
          <p:cNvPr id="6" name="Text 4"/>
          <p:cNvSpPr/>
          <p:nvPr/>
        </p:nvSpPr>
        <p:spPr>
          <a:xfrm>
            <a:off x="0" y="4434840"/>
            <a:ext cx="12188952" cy="640080"/>
          </a:xfrm>
          <a:prstGeom prst="rect">
            <a:avLst/>
          </a:prstGeom>
          <a:noFill/>
          <a:ln/>
        </p:spPr>
        <p:txBody>
          <a:bodyPr wrap="square" lIns="0" tIns="0" rIns="0" bIns="0" rtlCol="0" anchor="ctr"/>
          <a:lstStyle/>
          <a:p>
            <a:pPr algn="ctr" indent="0" marL="0">
              <a:lnSpc>
                <a:spcPct val="130000"/>
              </a:lnSpc>
              <a:buNone/>
            </a:pPr>
            <a:r>
              <a:rPr lang="en-US" sz="1400" dirty="0">
                <a:solidFill>
                  <a:srgbClr val="3B3B3B"/>
                </a:solidFill>
                <a:latin typeface="Calibri" pitchFamily="34" charset="0"/>
                <a:ea typeface="Calibri" pitchFamily="34" charset="-122"/>
                <a:cs typeface="Calibri" pitchFamily="34" charset="-120"/>
              </a:rPr>
              <a:t>Team of 5  ·  B.E. Computer Engineering</a:t>
            </a:r>
            <a:endParaRPr lang="en-US" sz="1400" dirty="0"/>
          </a:p>
          <a:p>
            <a:pPr algn="ctr" indent="0" marL="0">
              <a:lnSpc>
                <a:spcPct val="130000"/>
              </a:lnSpc>
              <a:buNone/>
            </a:pPr>
            <a:r>
              <a:rPr lang="en-US" sz="1400" dirty="0">
                <a:solidFill>
                  <a:srgbClr val="3B3B3B"/>
                </a:solidFill>
                <a:latin typeface="Calibri" pitchFamily="34" charset="0"/>
                <a:ea typeface="Calibri" pitchFamily="34" charset="-122"/>
                <a:cs typeface="Calibri" pitchFamily="34" charset="-120"/>
              </a:rPr>
              <a:t>PES Modern College of Engineering, Pune  ·  SPPU</a:t>
            </a:r>
            <a:endParaRPr lang="en-US" sz="1400" dirty="0"/>
          </a:p>
        </p:txBody>
      </p:sp>
      <p:sp>
        <p:nvSpPr>
          <p:cNvPr id="7" name="Text 5"/>
          <p:cNvSpPr/>
          <p:nvPr/>
        </p:nvSpPr>
        <p:spPr>
          <a:xfrm>
            <a:off x="0" y="6035040"/>
            <a:ext cx="12188952" cy="365760"/>
          </a:xfrm>
          <a:prstGeom prst="rect">
            <a:avLst/>
          </a:prstGeom>
          <a:noFill/>
          <a:ln/>
        </p:spPr>
        <p:txBody>
          <a:bodyPr wrap="square" lIns="0" tIns="0" rIns="0" bIns="0" rtlCol="0" anchor="ctr"/>
          <a:lstStyle/>
          <a:p>
            <a:pPr algn="ctr" indent="0" marL="0">
              <a:buNone/>
            </a:pPr>
            <a:r>
              <a:rPr lang="en-US" sz="1200" b="1" dirty="0">
                <a:solidFill>
                  <a:srgbClr val="0078D4"/>
                </a:solidFill>
                <a:latin typeface="Calibri" pitchFamily="34" charset="0"/>
                <a:ea typeface="Calibri" pitchFamily="34" charset="-122"/>
                <a:cs typeface="Calibri" pitchFamily="34" charset="-120"/>
              </a:rPr>
              <a:t>Viraj Jadhao  ·  Anurag Pawar  ·  Arya Chandak  ·  Sanjali Paygude  ·  Raj Janvekar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2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234440"/>
            <a:ext cx="5029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THE DISCHARGE MOMENT</a:t>
            </a:r>
            <a:endParaRPr lang="en-US" sz="1100" dirty="0"/>
          </a:p>
        </p:txBody>
      </p:sp>
      <p:sp>
        <p:nvSpPr>
          <p:cNvPr id="5" name="Shape 3"/>
          <p:cNvSpPr/>
          <p:nvPr/>
        </p:nvSpPr>
        <p:spPr>
          <a:xfrm>
            <a:off x="548640" y="1554480"/>
            <a:ext cx="5120640" cy="2331720"/>
          </a:xfrm>
          <a:prstGeom prst="roundRect">
            <a:avLst>
              <a:gd name="adj" fmla="val 3922"/>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6" name="Text 4"/>
          <p:cNvSpPr/>
          <p:nvPr/>
        </p:nvSpPr>
        <p:spPr>
          <a:xfrm>
            <a:off x="868680" y="1783080"/>
            <a:ext cx="4480560" cy="196596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A discharged patient holds five disconnected artifacts:</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Hospital bill</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Prescription</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Insurance paperwork</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Scheme eligibility documents</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Medical reports</a:t>
            </a:r>
            <a:endParaRPr lang="en-US" sz="1300" dirty="0"/>
          </a:p>
        </p:txBody>
      </p:sp>
      <p:sp>
        <p:nvSpPr>
          <p:cNvPr id="7" name="Text 5"/>
          <p:cNvSpPr/>
          <p:nvPr/>
        </p:nvSpPr>
        <p:spPr>
          <a:xfrm>
            <a:off x="5989320" y="1234440"/>
            <a:ext cx="566928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THE FRAGMENTED WORKFLOW</a:t>
            </a:r>
            <a:endParaRPr lang="en-US" sz="1100" dirty="0"/>
          </a:p>
        </p:txBody>
      </p:sp>
      <p:sp>
        <p:nvSpPr>
          <p:cNvPr id="8" name="Shape 6"/>
          <p:cNvSpPr/>
          <p:nvPr/>
        </p:nvSpPr>
        <p:spPr>
          <a:xfrm>
            <a:off x="5989320" y="1554480"/>
            <a:ext cx="5623560" cy="2331720"/>
          </a:xfrm>
          <a:prstGeom prst="roundRect">
            <a:avLst>
              <a:gd name="adj" fmla="val 3922"/>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9" name="Text 7"/>
          <p:cNvSpPr/>
          <p:nvPr/>
        </p:nvSpPr>
        <p:spPr>
          <a:xfrm>
            <a:off x="6309360" y="1783080"/>
            <a:ext cx="5029200" cy="196596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Each document sends the patient somewhere different — billing desk, insurer, government portal, pharmacist</a:t>
            </a:r>
            <a:endParaRPr lang="en-US" sz="1300" dirty="0"/>
          </a:p>
          <a:p>
            <a:pPr marL="177800" indent="-177800">
              <a:lnSpc>
                <a:spcPct val="105000"/>
              </a:lnSpc>
              <a:spcAft>
                <a:spcPts val="1000"/>
              </a:spcAft>
              <a:buSzPct val="100000"/>
              <a:buChar char="•"/>
            </a:pPr>
            <a:r>
              <a:rPr lang="en-US" sz="1300" dirty="0">
                <a:solidFill>
                  <a:srgbClr val="3B3B3B"/>
                </a:solidFill>
                <a:latin typeface="Calibri" pitchFamily="34" charset="0"/>
                <a:ea typeface="Calibri" pitchFamily="34" charset="-122"/>
                <a:cs typeface="Calibri" pitchFamily="34" charset="-120"/>
              </a:rPr>
              <a:t>The patient re-explains the same case, from scratch, at every single stop</a:t>
            </a:r>
            <a:endParaRPr lang="en-US" sz="1300" dirty="0"/>
          </a:p>
        </p:txBody>
      </p:sp>
      <p:sp>
        <p:nvSpPr>
          <p:cNvPr id="10" name="Shape 8"/>
          <p:cNvSpPr/>
          <p:nvPr/>
        </p:nvSpPr>
        <p:spPr>
          <a:xfrm>
            <a:off x="548640" y="4160520"/>
            <a:ext cx="11091672" cy="1600200"/>
          </a:xfrm>
          <a:prstGeom prst="roundRect">
            <a:avLst>
              <a:gd name="adj" fmla="val 6857"/>
            </a:avLst>
          </a:prstGeom>
          <a:solidFill>
            <a:srgbClr val="005A9E"/>
          </a:solidFill>
          <a:ln/>
        </p:spPr>
      </p:sp>
      <p:sp>
        <p:nvSpPr>
          <p:cNvPr id="11" name="Text 9"/>
          <p:cNvSpPr/>
          <p:nvPr/>
        </p:nvSpPr>
        <p:spPr>
          <a:xfrm>
            <a:off x="914400" y="4389120"/>
            <a:ext cx="10332720" cy="502920"/>
          </a:xfrm>
          <a:prstGeom prst="rect">
            <a:avLst/>
          </a:prstGeom>
          <a:noFill/>
          <a:ln/>
        </p:spPr>
        <p:txBody>
          <a:bodyPr wrap="square" lIns="0" tIns="0" rIns="0" bIns="0" rtlCol="0" anchor="t"/>
          <a:lstStyle/>
          <a:p>
            <a:pPr algn="ctr" indent="0" marL="0">
              <a:buNone/>
            </a:pPr>
            <a:r>
              <a:rPr lang="en-US" sz="2600" b="1" dirty="0">
                <a:solidFill>
                  <a:srgbClr val="FFFFFF"/>
                </a:solidFill>
                <a:latin typeface="Calibri" pitchFamily="34" charset="0"/>
                <a:ea typeface="Calibri" pitchFamily="34" charset="-122"/>
                <a:cs typeface="Calibri" pitchFamily="34" charset="-120"/>
              </a:rPr>
              <a:t>There is no unified workflow.</a:t>
            </a:r>
            <a:endParaRPr lang="en-US" sz="2600" dirty="0"/>
          </a:p>
        </p:txBody>
      </p:sp>
      <p:sp>
        <p:nvSpPr>
          <p:cNvPr id="12" name="Text 10"/>
          <p:cNvSpPr/>
          <p:nvPr/>
        </p:nvSpPr>
        <p:spPr>
          <a:xfrm>
            <a:off x="914400" y="4937760"/>
            <a:ext cx="10332720" cy="731520"/>
          </a:xfrm>
          <a:prstGeom prst="rect">
            <a:avLst/>
          </a:prstGeom>
          <a:noFill/>
          <a:ln/>
        </p:spPr>
        <p:txBody>
          <a:bodyPr wrap="square" lIns="0" tIns="0" rIns="0" bIns="0" rtlCol="0" anchor="t"/>
          <a:lstStyle/>
          <a:p>
            <a:pPr algn="ctr" indent="0" marL="0">
              <a:buNone/>
            </a:pPr>
            <a:r>
              <a:rPr lang="en-US" sz="1400" dirty="0">
                <a:solidFill>
                  <a:srgbClr val="D9EAF7"/>
                </a:solidFill>
                <a:latin typeface="Calibri" pitchFamily="34" charset="0"/>
                <a:ea typeface="Calibri" pitchFamily="34" charset="-122"/>
                <a:cs typeface="Calibri" pitchFamily="34" charset="-120"/>
              </a:rPr>
              <a:t>Every document is processed in isolation; every verification step duplicates work already done elsewhere.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3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Existing Solutions &amp; Gap Analysis</a:t>
            </a:r>
            <a:endParaRPr lang="en-US" sz="3200" dirty="0"/>
          </a:p>
        </p:txBody>
      </p:sp>
      <p:sp>
        <p:nvSpPr>
          <p:cNvPr id="4" name="Text 2"/>
          <p:cNvSpPr/>
          <p:nvPr/>
        </p:nvSpPr>
        <p:spPr>
          <a:xfrm>
            <a:off x="548640" y="1234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WHAT ALREADY EXISTS</a:t>
            </a:r>
            <a:endParaRPr lang="en-US" sz="1100" dirty="0"/>
          </a:p>
        </p:txBody>
      </p:sp>
      <p:sp>
        <p:nvSpPr>
          <p:cNvPr id="5" name="Shape 3"/>
          <p:cNvSpPr/>
          <p:nvPr/>
        </p:nvSpPr>
        <p:spPr>
          <a:xfrm>
            <a:off x="548640" y="1554480"/>
            <a:ext cx="2103120" cy="1005840"/>
          </a:xfrm>
          <a:prstGeom prst="roundRect">
            <a:avLst>
              <a:gd name="adj" fmla="val 9091"/>
            </a:avLst>
          </a:prstGeom>
          <a:solidFill>
            <a:srgbClr val="FFFFFF"/>
          </a:solidFill>
          <a:ln w="9525">
            <a:solidFill>
              <a:srgbClr val="DCDCDC"/>
            </a:solidFill>
            <a:prstDash val="solid"/>
          </a:ln>
        </p:spPr>
      </p:sp>
      <p:sp>
        <p:nvSpPr>
          <p:cNvPr id="6" name="Text 4"/>
          <p:cNvSpPr/>
          <p:nvPr/>
        </p:nvSpPr>
        <p:spPr>
          <a:xfrm>
            <a:off x="548640" y="1783080"/>
            <a:ext cx="2103120" cy="548640"/>
          </a:xfrm>
          <a:prstGeom prst="rect">
            <a:avLst/>
          </a:prstGeom>
          <a:noFill/>
          <a:ln/>
        </p:spPr>
        <p:txBody>
          <a:bodyPr wrap="square" lIns="0" tIns="0" rIns="0" bIns="0" rtlCol="0" anchor="t"/>
          <a:lstStyle/>
          <a:p>
            <a:pPr algn="ctr" indent="0" marL="0">
              <a:buNone/>
            </a:pPr>
            <a:r>
              <a:rPr lang="en-US" sz="1250" b="1" dirty="0">
                <a:solidFill>
                  <a:srgbClr val="3B3B3B"/>
                </a:solidFill>
                <a:latin typeface="Calibri" pitchFamily="34" charset="0"/>
                <a:ea typeface="Calibri" pitchFamily="34" charset="-122"/>
                <a:cs typeface="Calibri" pitchFamily="34" charset="-120"/>
              </a:rPr>
              <a:t>OCR Apps</a:t>
            </a:r>
            <a:endParaRPr lang="en-US" sz="1250" dirty="0"/>
          </a:p>
        </p:txBody>
      </p:sp>
      <p:sp>
        <p:nvSpPr>
          <p:cNvPr id="7" name="Shape 5"/>
          <p:cNvSpPr/>
          <p:nvPr/>
        </p:nvSpPr>
        <p:spPr>
          <a:xfrm>
            <a:off x="2788920" y="1554480"/>
            <a:ext cx="2103120" cy="1005840"/>
          </a:xfrm>
          <a:prstGeom prst="roundRect">
            <a:avLst>
              <a:gd name="adj" fmla="val 9091"/>
            </a:avLst>
          </a:prstGeom>
          <a:solidFill>
            <a:srgbClr val="FFFFFF"/>
          </a:solidFill>
          <a:ln w="9525">
            <a:solidFill>
              <a:srgbClr val="DCDCDC"/>
            </a:solidFill>
            <a:prstDash val="solid"/>
          </a:ln>
        </p:spPr>
      </p:sp>
      <p:sp>
        <p:nvSpPr>
          <p:cNvPr id="8" name="Text 6"/>
          <p:cNvSpPr/>
          <p:nvPr/>
        </p:nvSpPr>
        <p:spPr>
          <a:xfrm>
            <a:off x="2788920" y="1783080"/>
            <a:ext cx="2103120" cy="548640"/>
          </a:xfrm>
          <a:prstGeom prst="rect">
            <a:avLst/>
          </a:prstGeom>
          <a:noFill/>
          <a:ln/>
        </p:spPr>
        <p:txBody>
          <a:bodyPr wrap="square" lIns="0" tIns="0" rIns="0" bIns="0" rtlCol="0" anchor="t"/>
          <a:lstStyle/>
          <a:p>
            <a:pPr algn="ctr" indent="0" marL="0">
              <a:buNone/>
            </a:pPr>
            <a:r>
              <a:rPr lang="en-US" sz="1250" b="1" dirty="0">
                <a:solidFill>
                  <a:srgbClr val="3B3B3B"/>
                </a:solidFill>
                <a:latin typeface="Calibri" pitchFamily="34" charset="0"/>
                <a:ea typeface="Calibri" pitchFamily="34" charset="-122"/>
                <a:cs typeface="Calibri" pitchFamily="34" charset="-120"/>
              </a:rPr>
              <a:t>Hospital Portals</a:t>
            </a:r>
            <a:endParaRPr lang="en-US" sz="1250" dirty="0"/>
          </a:p>
        </p:txBody>
      </p:sp>
      <p:sp>
        <p:nvSpPr>
          <p:cNvPr id="9" name="Shape 7"/>
          <p:cNvSpPr/>
          <p:nvPr/>
        </p:nvSpPr>
        <p:spPr>
          <a:xfrm>
            <a:off x="5029200" y="1554480"/>
            <a:ext cx="2103120" cy="1005840"/>
          </a:xfrm>
          <a:prstGeom prst="roundRect">
            <a:avLst>
              <a:gd name="adj" fmla="val 9091"/>
            </a:avLst>
          </a:prstGeom>
          <a:solidFill>
            <a:srgbClr val="FFFFFF"/>
          </a:solidFill>
          <a:ln w="9525">
            <a:solidFill>
              <a:srgbClr val="DCDCDC"/>
            </a:solidFill>
            <a:prstDash val="solid"/>
          </a:ln>
        </p:spPr>
      </p:sp>
      <p:sp>
        <p:nvSpPr>
          <p:cNvPr id="10" name="Text 8"/>
          <p:cNvSpPr/>
          <p:nvPr/>
        </p:nvSpPr>
        <p:spPr>
          <a:xfrm>
            <a:off x="5029200" y="1783080"/>
            <a:ext cx="2103120" cy="548640"/>
          </a:xfrm>
          <a:prstGeom prst="rect">
            <a:avLst/>
          </a:prstGeom>
          <a:noFill/>
          <a:ln/>
        </p:spPr>
        <p:txBody>
          <a:bodyPr wrap="square" lIns="0" tIns="0" rIns="0" bIns="0" rtlCol="0" anchor="t"/>
          <a:lstStyle/>
          <a:p>
            <a:pPr algn="ctr" indent="0" marL="0">
              <a:buNone/>
            </a:pPr>
            <a:r>
              <a:rPr lang="en-US" sz="1250" b="1" dirty="0">
                <a:solidFill>
                  <a:srgbClr val="3B3B3B"/>
                </a:solidFill>
                <a:latin typeface="Calibri" pitchFamily="34" charset="0"/>
                <a:ea typeface="Calibri" pitchFamily="34" charset="-122"/>
                <a:cs typeface="Calibri" pitchFamily="34" charset="-120"/>
              </a:rPr>
              <a:t>Govt Portals</a:t>
            </a:r>
            <a:endParaRPr lang="en-US" sz="1250" dirty="0"/>
          </a:p>
        </p:txBody>
      </p:sp>
      <p:sp>
        <p:nvSpPr>
          <p:cNvPr id="11" name="Shape 9"/>
          <p:cNvSpPr/>
          <p:nvPr/>
        </p:nvSpPr>
        <p:spPr>
          <a:xfrm>
            <a:off x="7269480" y="1554480"/>
            <a:ext cx="2103120" cy="1005840"/>
          </a:xfrm>
          <a:prstGeom prst="roundRect">
            <a:avLst>
              <a:gd name="adj" fmla="val 9091"/>
            </a:avLst>
          </a:prstGeom>
          <a:solidFill>
            <a:srgbClr val="FFFFFF"/>
          </a:solidFill>
          <a:ln w="9525">
            <a:solidFill>
              <a:srgbClr val="DCDCDC"/>
            </a:solidFill>
            <a:prstDash val="solid"/>
          </a:ln>
        </p:spPr>
      </p:sp>
      <p:sp>
        <p:nvSpPr>
          <p:cNvPr id="12" name="Text 10"/>
          <p:cNvSpPr/>
          <p:nvPr/>
        </p:nvSpPr>
        <p:spPr>
          <a:xfrm>
            <a:off x="7269480" y="1783080"/>
            <a:ext cx="2103120" cy="548640"/>
          </a:xfrm>
          <a:prstGeom prst="rect">
            <a:avLst/>
          </a:prstGeom>
          <a:noFill/>
          <a:ln/>
        </p:spPr>
        <p:txBody>
          <a:bodyPr wrap="square" lIns="0" tIns="0" rIns="0" bIns="0" rtlCol="0" anchor="t"/>
          <a:lstStyle/>
          <a:p>
            <a:pPr algn="ctr" indent="0" marL="0">
              <a:buNone/>
            </a:pPr>
            <a:r>
              <a:rPr lang="en-US" sz="1250" b="1" dirty="0">
                <a:solidFill>
                  <a:srgbClr val="3B3B3B"/>
                </a:solidFill>
                <a:latin typeface="Calibri" pitchFamily="34" charset="0"/>
                <a:ea typeface="Calibri" pitchFamily="34" charset="-122"/>
                <a:cs typeface="Calibri" pitchFamily="34" charset="-120"/>
              </a:rPr>
              <a:t>Insurer Sites</a:t>
            </a:r>
            <a:endParaRPr lang="en-US" sz="1250" dirty="0"/>
          </a:p>
        </p:txBody>
      </p:sp>
      <p:sp>
        <p:nvSpPr>
          <p:cNvPr id="13" name="Shape 11"/>
          <p:cNvSpPr/>
          <p:nvPr/>
        </p:nvSpPr>
        <p:spPr>
          <a:xfrm>
            <a:off x="9509760" y="1554480"/>
            <a:ext cx="2103120" cy="1005840"/>
          </a:xfrm>
          <a:prstGeom prst="roundRect">
            <a:avLst>
              <a:gd name="adj" fmla="val 9091"/>
            </a:avLst>
          </a:prstGeom>
          <a:solidFill>
            <a:srgbClr val="FFFFFF"/>
          </a:solidFill>
          <a:ln w="9525">
            <a:solidFill>
              <a:srgbClr val="DCDCDC"/>
            </a:solidFill>
            <a:prstDash val="solid"/>
          </a:ln>
        </p:spPr>
      </p:sp>
      <p:sp>
        <p:nvSpPr>
          <p:cNvPr id="14" name="Text 12"/>
          <p:cNvSpPr/>
          <p:nvPr/>
        </p:nvSpPr>
        <p:spPr>
          <a:xfrm>
            <a:off x="9509760" y="1783080"/>
            <a:ext cx="2103120" cy="548640"/>
          </a:xfrm>
          <a:prstGeom prst="rect">
            <a:avLst/>
          </a:prstGeom>
          <a:noFill/>
          <a:ln/>
        </p:spPr>
        <p:txBody>
          <a:bodyPr wrap="square" lIns="0" tIns="0" rIns="0" bIns="0" rtlCol="0" anchor="t"/>
          <a:lstStyle/>
          <a:p>
            <a:pPr algn="ctr" indent="0" marL="0">
              <a:buNone/>
            </a:pPr>
            <a:r>
              <a:rPr lang="en-US" sz="1250" b="1" dirty="0">
                <a:solidFill>
                  <a:srgbClr val="3B3B3B"/>
                </a:solidFill>
                <a:latin typeface="Calibri" pitchFamily="34" charset="0"/>
                <a:ea typeface="Calibri" pitchFamily="34" charset="-122"/>
                <a:cs typeface="Calibri" pitchFamily="34" charset="-120"/>
              </a:rPr>
              <a:t>General LLMs</a:t>
            </a:r>
            <a:endParaRPr lang="en-US" sz="1250" dirty="0"/>
          </a:p>
        </p:txBody>
      </p:sp>
      <p:sp>
        <p:nvSpPr>
          <p:cNvPr id="15" name="Text 13"/>
          <p:cNvSpPr/>
          <p:nvPr/>
        </p:nvSpPr>
        <p:spPr>
          <a:xfrm>
            <a:off x="548640" y="2697480"/>
            <a:ext cx="10881360" cy="502920"/>
          </a:xfrm>
          <a:prstGeom prst="rect">
            <a:avLst/>
          </a:prstGeom>
          <a:noFill/>
          <a:ln/>
        </p:spPr>
        <p:txBody>
          <a:bodyPr wrap="square" lIns="0" tIns="0" rIns="0" bIns="0" rtlCol="0" anchor="t"/>
          <a:lstStyle/>
          <a:p>
            <a:pPr algn="ctr" indent="0" marL="0">
              <a:buNone/>
            </a:pPr>
            <a:r>
              <a:rPr lang="en-US" sz="1300" i="1" dirty="0">
                <a:solidFill>
                  <a:srgbClr val="757575"/>
                </a:solidFill>
                <a:latin typeface="Calibri" pitchFamily="34" charset="0"/>
                <a:ea typeface="Calibri" pitchFamily="34" charset="-122"/>
                <a:cs typeface="Calibri" pitchFamily="34" charset="-120"/>
              </a:rPr>
              <a:t>Each solves one document, one step, one moment — none carry context across documents or link a bill to a scheme to a medicine price.</a:t>
            </a:r>
            <a:endParaRPr lang="en-US" sz="1300" dirty="0"/>
          </a:p>
        </p:txBody>
      </p:sp>
      <p:sp>
        <p:nvSpPr>
          <p:cNvPr id="16" name="Text 14"/>
          <p:cNvSpPr/>
          <p:nvPr/>
        </p:nvSpPr>
        <p:spPr>
          <a:xfrm>
            <a:off x="548640" y="342900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CLOSEST ACADEMIC PRECEDENT</a:t>
            </a:r>
            <a:endParaRPr lang="en-US" sz="1100" dirty="0"/>
          </a:p>
        </p:txBody>
      </p:sp>
      <p:sp>
        <p:nvSpPr>
          <p:cNvPr id="17" name="Shape 15"/>
          <p:cNvSpPr/>
          <p:nvPr/>
        </p:nvSpPr>
        <p:spPr>
          <a:xfrm>
            <a:off x="548640" y="3749040"/>
            <a:ext cx="10881360" cy="1371600"/>
          </a:xfrm>
          <a:prstGeom prst="roundRect">
            <a:avLst>
              <a:gd name="adj" fmla="val 666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18" name="Text 16"/>
          <p:cNvSpPr/>
          <p:nvPr/>
        </p:nvSpPr>
        <p:spPr>
          <a:xfrm>
            <a:off x="868680" y="3913632"/>
            <a:ext cx="10241280" cy="320040"/>
          </a:xfrm>
          <a:prstGeom prst="rect">
            <a:avLst/>
          </a:prstGeom>
          <a:noFill/>
          <a:ln/>
        </p:spPr>
        <p:txBody>
          <a:bodyPr wrap="square" lIns="0" tIns="0" rIns="0" bIns="0" rtlCol="0" anchor="t"/>
          <a:lstStyle/>
          <a:p>
            <a:pPr algn="l" indent="0" marL="0">
              <a:buNone/>
            </a:pPr>
            <a:r>
              <a:rPr lang="en-US" sz="1400" b="1" dirty="0">
                <a:solidFill>
                  <a:srgbClr val="005A9E"/>
                </a:solidFill>
                <a:latin typeface="Calibri" pitchFamily="34" charset="0"/>
                <a:ea typeface="Calibri" pitchFamily="34" charset="-122"/>
                <a:cs typeface="Calibri" pitchFamily="34" charset="-120"/>
              </a:rPr>
              <a:t>"AI in Healthcare: Simplifying Medical Reports..." — IEEE ETCC 2025</a:t>
            </a:r>
            <a:endParaRPr lang="en-US" sz="1400" dirty="0"/>
          </a:p>
        </p:txBody>
      </p:sp>
      <p:sp>
        <p:nvSpPr>
          <p:cNvPr id="19" name="Text 17"/>
          <p:cNvSpPr/>
          <p:nvPr/>
        </p:nvSpPr>
        <p:spPr>
          <a:xfrm>
            <a:off x="868680" y="4251960"/>
            <a:ext cx="10241280" cy="777240"/>
          </a:xfrm>
          <a:prstGeom prst="rect">
            <a:avLst/>
          </a:prstGeom>
          <a:noFill/>
          <a:ln/>
        </p:spPr>
        <p:txBody>
          <a:bodyPr wrap="square" lIns="0" tIns="0" rIns="0" bIns="0" rtlCol="0" anchor="t"/>
          <a:lstStyle/>
          <a:p>
            <a:pPr algn="l" indent="0" marL="0">
              <a:buNone/>
            </a:pPr>
            <a:r>
              <a:rPr lang="en-US" sz="1300" dirty="0">
                <a:solidFill>
                  <a:srgbClr val="3B3B3B"/>
                </a:solidFill>
                <a:latin typeface="Calibri" pitchFamily="34" charset="0"/>
                <a:ea typeface="Calibri" pitchFamily="34" charset="-122"/>
                <a:cs typeface="Calibri" pitchFamily="34" charset="-120"/>
              </a:rPr>
              <a:t>Same OCR + RAG + LLM backbone — but single-document, English-only, output is a passive summary.</a:t>
            </a:r>
            <a:endParaRPr lang="en-US" sz="1300" dirty="0"/>
          </a:p>
        </p:txBody>
      </p:sp>
      <p:sp>
        <p:nvSpPr>
          <p:cNvPr id="20" name="Shape 18"/>
          <p:cNvSpPr/>
          <p:nvPr/>
        </p:nvSpPr>
        <p:spPr>
          <a:xfrm>
            <a:off x="548640" y="5349240"/>
            <a:ext cx="10881360" cy="868680"/>
          </a:xfrm>
          <a:prstGeom prst="roundRect">
            <a:avLst>
              <a:gd name="adj" fmla="val 10526"/>
            </a:avLst>
          </a:prstGeom>
          <a:solidFill>
            <a:srgbClr val="005A9E"/>
          </a:solidFill>
          <a:ln/>
        </p:spPr>
      </p:sp>
      <p:sp>
        <p:nvSpPr>
          <p:cNvPr id="21" name="Text 19"/>
          <p:cNvSpPr/>
          <p:nvPr/>
        </p:nvSpPr>
        <p:spPr>
          <a:xfrm>
            <a:off x="822960" y="5349240"/>
            <a:ext cx="10332720" cy="8686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The Gap: no existing tool or paper links multiple documents, in multiple Indian languages, into an actionable output.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4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Project Objectives</a:t>
            </a:r>
            <a:endParaRPr lang="en-US" sz="3200" dirty="0"/>
          </a:p>
        </p:txBody>
      </p:sp>
      <p:sp>
        <p:nvSpPr>
          <p:cNvPr id="4" name="Text 2"/>
          <p:cNvSpPr/>
          <p:nvPr/>
        </p:nvSpPr>
        <p:spPr>
          <a:xfrm>
            <a:off x="548640" y="1234440"/>
            <a:ext cx="5212080" cy="274320"/>
          </a:xfrm>
          <a:prstGeom prst="rect">
            <a:avLst/>
          </a:prstGeom>
          <a:noFill/>
          <a:ln/>
        </p:spPr>
        <p:txBody>
          <a:bodyPr wrap="square" lIns="0" tIns="0" rIns="0" bIns="0" rtlCol="0" anchor="ctr"/>
          <a:lstStyle/>
          <a:p>
            <a:pPr algn="l" indent="0" marL="0">
              <a:buNone/>
            </a:pPr>
            <a:r>
              <a:rPr lang="en-US" sz="1100" b="1" spc="100" kern="0" dirty="0">
                <a:solidFill>
                  <a:srgbClr val="8E4A42"/>
                </a:solidFill>
                <a:latin typeface="Calibri" pitchFamily="34" charset="0"/>
                <a:ea typeface="Calibri" pitchFamily="34" charset="-122"/>
                <a:cs typeface="Calibri" pitchFamily="34" charset="-120"/>
              </a:rPr>
              <a:t>NOT</a:t>
            </a:r>
            <a:endParaRPr lang="en-US" sz="1100" dirty="0"/>
          </a:p>
        </p:txBody>
      </p:sp>
      <p:sp>
        <p:nvSpPr>
          <p:cNvPr id="5" name="Shape 3"/>
          <p:cNvSpPr/>
          <p:nvPr/>
        </p:nvSpPr>
        <p:spPr>
          <a:xfrm>
            <a:off x="548640" y="1554480"/>
            <a:ext cx="5212080" cy="1417320"/>
          </a:xfrm>
          <a:prstGeom prst="roundRect">
            <a:avLst>
              <a:gd name="adj" fmla="val 6452"/>
            </a:avLst>
          </a:prstGeom>
          <a:solidFill>
            <a:srgbClr val="F6EBE9"/>
          </a:solidFill>
          <a:ln w="9525">
            <a:solidFill>
              <a:srgbClr val="8E4A42"/>
            </a:solidFill>
            <a:prstDash val="solid"/>
          </a:ln>
          <a:effectLst>
            <a:outerShdw sx="100000" sy="100000" kx="0" ky="0" algn="bl" rotWithShape="0" blurRad="76200" dist="25400" dir="5400000">
              <a:srgbClr val="BFBFBF">
                <a:alpha val="35000"/>
              </a:srgbClr>
            </a:outerShdw>
          </a:effectLst>
        </p:spPr>
      </p:sp>
      <p:sp>
        <p:nvSpPr>
          <p:cNvPr id="6" name="Text 4"/>
          <p:cNvSpPr/>
          <p:nvPr/>
        </p:nvSpPr>
        <p:spPr>
          <a:xfrm>
            <a:off x="868680" y="1737360"/>
            <a:ext cx="4663440" cy="114300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300" dirty="0">
                <a:solidFill>
                  <a:srgbClr val="6E322D"/>
                </a:solidFill>
                <a:latin typeface="Calibri" pitchFamily="34" charset="0"/>
                <a:ea typeface="Calibri" pitchFamily="34" charset="-122"/>
                <a:cs typeface="Calibri" pitchFamily="34" charset="-120"/>
              </a:rPr>
              <a:t>An AI doctor</a:t>
            </a:r>
            <a:endParaRPr lang="en-US" sz="1300" dirty="0"/>
          </a:p>
          <a:p>
            <a:pPr marL="177800" indent="-177800">
              <a:lnSpc>
                <a:spcPct val="105000"/>
              </a:lnSpc>
              <a:spcAft>
                <a:spcPts val="1000"/>
              </a:spcAft>
              <a:buSzPct val="100000"/>
              <a:buChar char="•"/>
            </a:pPr>
            <a:r>
              <a:rPr lang="en-US" sz="1300" dirty="0">
                <a:solidFill>
                  <a:srgbClr val="6E322D"/>
                </a:solidFill>
                <a:latin typeface="Calibri" pitchFamily="34" charset="0"/>
                <a:ea typeface="Calibri" pitchFamily="34" charset="-122"/>
                <a:cs typeface="Calibri" pitchFamily="34" charset="-120"/>
              </a:rPr>
              <a:t>An insurance approval engine</a:t>
            </a:r>
            <a:endParaRPr lang="en-US" sz="1300" dirty="0"/>
          </a:p>
          <a:p>
            <a:pPr marL="177800" indent="-177800">
              <a:lnSpc>
                <a:spcPct val="105000"/>
              </a:lnSpc>
              <a:spcAft>
                <a:spcPts val="1000"/>
              </a:spcAft>
              <a:buSzPct val="100000"/>
              <a:buChar char="•"/>
            </a:pPr>
            <a:r>
              <a:rPr lang="en-US" sz="1300" dirty="0">
                <a:solidFill>
                  <a:srgbClr val="6E322D"/>
                </a:solidFill>
                <a:latin typeface="Calibri" pitchFamily="34" charset="0"/>
                <a:ea typeface="Calibri" pitchFamily="34" charset="-122"/>
                <a:cs typeface="Calibri" pitchFamily="34" charset="-120"/>
              </a:rPr>
              <a:t>An automated medical decision-maker</a:t>
            </a:r>
            <a:endParaRPr lang="en-US" sz="1300" dirty="0"/>
          </a:p>
        </p:txBody>
      </p:sp>
      <p:sp>
        <p:nvSpPr>
          <p:cNvPr id="7" name="Text 5"/>
          <p:cNvSpPr/>
          <p:nvPr/>
        </p:nvSpPr>
        <p:spPr>
          <a:xfrm>
            <a:off x="5989320" y="1234440"/>
            <a:ext cx="521208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IS</a:t>
            </a:r>
            <a:endParaRPr lang="en-US" sz="1100" dirty="0"/>
          </a:p>
        </p:txBody>
      </p:sp>
      <p:sp>
        <p:nvSpPr>
          <p:cNvPr id="8" name="Shape 6"/>
          <p:cNvSpPr/>
          <p:nvPr/>
        </p:nvSpPr>
        <p:spPr>
          <a:xfrm>
            <a:off x="5989320" y="1554480"/>
            <a:ext cx="5623560" cy="1417320"/>
          </a:xfrm>
          <a:prstGeom prst="roundRect">
            <a:avLst>
              <a:gd name="adj" fmla="val 6452"/>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9" name="Text 7"/>
          <p:cNvSpPr/>
          <p:nvPr/>
        </p:nvSpPr>
        <p:spPr>
          <a:xfrm>
            <a:off x="6309360" y="1783080"/>
            <a:ext cx="5029200" cy="1051560"/>
          </a:xfrm>
          <a:prstGeom prst="rect">
            <a:avLst/>
          </a:prstGeom>
          <a:noFill/>
          <a:ln/>
        </p:spPr>
        <p:txBody>
          <a:bodyPr wrap="square" lIns="0" tIns="0" rIns="0" bIns="0" rtlCol="0" anchor="t"/>
          <a:lstStyle/>
          <a:p>
            <a:pPr algn="l" indent="0" marL="0">
              <a:buNone/>
            </a:pPr>
            <a:r>
              <a:rPr lang="en-US" sz="1350" b="1" dirty="0">
                <a:solidFill>
                  <a:srgbClr val="005A9E"/>
                </a:solidFill>
                <a:latin typeface="Calibri" pitchFamily="34" charset="0"/>
                <a:ea typeface="Calibri" pitchFamily="34" charset="-122"/>
                <a:cs typeface="Calibri" pitchFamily="34" charset="-120"/>
              </a:rPr>
              <a:t>An AI-assisted decision-support platform for billing, eligibility, pricing, and claim documentation.</a:t>
            </a:r>
            <a:endParaRPr lang="en-US" sz="1350" dirty="0"/>
          </a:p>
        </p:txBody>
      </p:sp>
      <p:sp>
        <p:nvSpPr>
          <p:cNvPr id="10" name="Text 8"/>
          <p:cNvSpPr/>
          <p:nvPr/>
        </p:nvSpPr>
        <p:spPr>
          <a:xfrm>
            <a:off x="548640" y="324612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ENGINEERING OBJECTIVES</a:t>
            </a:r>
            <a:endParaRPr lang="en-US" sz="1100" dirty="0"/>
          </a:p>
        </p:txBody>
      </p:sp>
      <p:sp>
        <p:nvSpPr>
          <p:cNvPr id="11" name="Shape 9"/>
          <p:cNvSpPr/>
          <p:nvPr/>
        </p:nvSpPr>
        <p:spPr>
          <a:xfrm>
            <a:off x="1325880" y="3611880"/>
            <a:ext cx="502920" cy="502920"/>
          </a:xfrm>
          <a:prstGeom prst="ellipse">
            <a:avLst/>
          </a:prstGeom>
          <a:solidFill>
            <a:srgbClr val="0078D4"/>
          </a:solidFill>
          <a:ln/>
        </p:spPr>
      </p:sp>
      <p:sp>
        <p:nvSpPr>
          <p:cNvPr id="12" name="Text 10"/>
          <p:cNvSpPr/>
          <p:nvPr/>
        </p:nvSpPr>
        <p:spPr>
          <a:xfrm>
            <a:off x="1325880" y="3611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3" name="Text 11"/>
          <p:cNvSpPr/>
          <p:nvPr/>
        </p:nvSpPr>
        <p:spPr>
          <a:xfrm>
            <a:off x="548640" y="4251960"/>
            <a:ext cx="2057400" cy="822960"/>
          </a:xfrm>
          <a:prstGeom prst="rect">
            <a:avLst/>
          </a:prstGeom>
          <a:noFill/>
          <a:ln/>
        </p:spPr>
        <p:txBody>
          <a:bodyPr wrap="square" lIns="0" tIns="0" rIns="0" bIns="0" rtlCol="0" anchor="t"/>
          <a:lstStyle/>
          <a:p>
            <a:pPr algn="ctr" indent="0" marL="0">
              <a:buNone/>
            </a:pPr>
            <a:r>
              <a:rPr lang="en-US" sz="1200" b="1" dirty="0">
                <a:solidFill>
                  <a:srgbClr val="3B3B3B"/>
                </a:solidFill>
                <a:latin typeface="Calibri" pitchFamily="34" charset="0"/>
                <a:ea typeface="Calibri" pitchFamily="34" charset="-122"/>
                <a:cs typeface="Calibri" pitchFamily="34" charset="-120"/>
              </a:rPr>
              <a:t>Reduce duplicate</a:t>
            </a:r>
            <a:endParaRPr lang="en-US" sz="1200" dirty="0"/>
          </a:p>
          <a:p>
            <a:pPr algn="ctr" indent="0" marL="0">
              <a:buNone/>
            </a:pPr>
            <a:r>
              <a:rPr lang="en-US" sz="1200" b="1" dirty="0">
                <a:solidFill>
                  <a:srgbClr val="3B3B3B"/>
                </a:solidFill>
                <a:latin typeface="Calibri" pitchFamily="34" charset="0"/>
                <a:ea typeface="Calibri" pitchFamily="34" charset="-122"/>
                <a:cs typeface="Calibri" pitchFamily="34" charset="-120"/>
              </a:rPr>
              <a:t>processing</a:t>
            </a:r>
            <a:endParaRPr lang="en-US" sz="1200" dirty="0"/>
          </a:p>
        </p:txBody>
      </p:sp>
      <p:sp>
        <p:nvSpPr>
          <p:cNvPr id="14" name="Shape 12"/>
          <p:cNvSpPr/>
          <p:nvPr/>
        </p:nvSpPr>
        <p:spPr>
          <a:xfrm>
            <a:off x="3538728" y="3611880"/>
            <a:ext cx="502920" cy="502920"/>
          </a:xfrm>
          <a:prstGeom prst="ellipse">
            <a:avLst/>
          </a:prstGeom>
          <a:solidFill>
            <a:srgbClr val="0078D4"/>
          </a:solidFill>
          <a:ln/>
        </p:spPr>
      </p:sp>
      <p:sp>
        <p:nvSpPr>
          <p:cNvPr id="15" name="Text 13"/>
          <p:cNvSpPr/>
          <p:nvPr/>
        </p:nvSpPr>
        <p:spPr>
          <a:xfrm>
            <a:off x="3538728" y="3611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2761488" y="4251960"/>
            <a:ext cx="2057400" cy="822960"/>
          </a:xfrm>
          <a:prstGeom prst="rect">
            <a:avLst/>
          </a:prstGeom>
          <a:noFill/>
          <a:ln/>
        </p:spPr>
        <p:txBody>
          <a:bodyPr wrap="square" lIns="0" tIns="0" rIns="0" bIns="0" rtlCol="0" anchor="t"/>
          <a:lstStyle/>
          <a:p>
            <a:pPr algn="ctr" indent="0" marL="0">
              <a:buNone/>
            </a:pPr>
            <a:r>
              <a:rPr lang="en-US" sz="1200" b="1" dirty="0">
                <a:solidFill>
                  <a:srgbClr val="3B3B3B"/>
                </a:solidFill>
                <a:latin typeface="Calibri" pitchFamily="34" charset="0"/>
                <a:ea typeface="Calibri" pitchFamily="34" charset="-122"/>
                <a:cs typeface="Calibri" pitchFamily="34" charset="-120"/>
              </a:rPr>
              <a:t>Create persistent</a:t>
            </a:r>
            <a:endParaRPr lang="en-US" sz="1200" dirty="0"/>
          </a:p>
          <a:p>
            <a:pPr algn="ctr" indent="0" marL="0">
              <a:buNone/>
            </a:pPr>
            <a:r>
              <a:rPr lang="en-US" sz="1200" b="1" dirty="0">
                <a:solidFill>
                  <a:srgbClr val="3B3B3B"/>
                </a:solidFill>
                <a:latin typeface="Calibri" pitchFamily="34" charset="0"/>
                <a:ea typeface="Calibri" pitchFamily="34" charset="-122"/>
                <a:cs typeface="Calibri" pitchFamily="34" charset="-120"/>
              </a:rPr>
              <a:t>shared context</a:t>
            </a:r>
            <a:endParaRPr lang="en-US" sz="1200" dirty="0"/>
          </a:p>
        </p:txBody>
      </p:sp>
      <p:sp>
        <p:nvSpPr>
          <p:cNvPr id="17" name="Shape 15"/>
          <p:cNvSpPr/>
          <p:nvPr/>
        </p:nvSpPr>
        <p:spPr>
          <a:xfrm>
            <a:off x="5751576" y="3611880"/>
            <a:ext cx="502920" cy="502920"/>
          </a:xfrm>
          <a:prstGeom prst="ellipse">
            <a:avLst/>
          </a:prstGeom>
          <a:solidFill>
            <a:srgbClr val="0078D4"/>
          </a:solidFill>
          <a:ln/>
        </p:spPr>
      </p:sp>
      <p:sp>
        <p:nvSpPr>
          <p:cNvPr id="18" name="Text 16"/>
          <p:cNvSpPr/>
          <p:nvPr/>
        </p:nvSpPr>
        <p:spPr>
          <a:xfrm>
            <a:off x="5751576" y="3611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4974336" y="4251960"/>
            <a:ext cx="2057400" cy="822960"/>
          </a:xfrm>
          <a:prstGeom prst="rect">
            <a:avLst/>
          </a:prstGeom>
          <a:noFill/>
          <a:ln/>
        </p:spPr>
        <p:txBody>
          <a:bodyPr wrap="square" lIns="0" tIns="0" rIns="0" bIns="0" rtlCol="0" anchor="t"/>
          <a:lstStyle/>
          <a:p>
            <a:pPr algn="ctr" indent="0" marL="0">
              <a:buNone/>
            </a:pPr>
            <a:r>
              <a:rPr lang="en-US" sz="1200" b="1" dirty="0">
                <a:solidFill>
                  <a:srgbClr val="3B3B3B"/>
                </a:solidFill>
                <a:latin typeface="Calibri" pitchFamily="34" charset="0"/>
                <a:ea typeface="Calibri" pitchFamily="34" charset="-122"/>
                <a:cs typeface="Calibri" pitchFamily="34" charset="-120"/>
              </a:rPr>
              <a:t>Improve</a:t>
            </a:r>
            <a:endParaRPr lang="en-US" sz="1200" dirty="0"/>
          </a:p>
          <a:p>
            <a:pPr algn="ctr" indent="0" marL="0">
              <a:buNone/>
            </a:pPr>
            <a:r>
              <a:rPr lang="en-US" sz="1200" b="1" dirty="0">
                <a:solidFill>
                  <a:srgbClr val="3B3B3B"/>
                </a:solidFill>
                <a:latin typeface="Calibri" pitchFamily="34" charset="0"/>
                <a:ea typeface="Calibri" pitchFamily="34" charset="-122"/>
                <a:cs typeface="Calibri" pitchFamily="34" charset="-120"/>
              </a:rPr>
              <a:t>transparency</a:t>
            </a:r>
            <a:endParaRPr lang="en-US" sz="1200" dirty="0"/>
          </a:p>
        </p:txBody>
      </p:sp>
      <p:sp>
        <p:nvSpPr>
          <p:cNvPr id="20" name="Shape 18"/>
          <p:cNvSpPr/>
          <p:nvPr/>
        </p:nvSpPr>
        <p:spPr>
          <a:xfrm>
            <a:off x="7964424" y="3611880"/>
            <a:ext cx="502920" cy="502920"/>
          </a:xfrm>
          <a:prstGeom prst="ellipse">
            <a:avLst/>
          </a:prstGeom>
          <a:solidFill>
            <a:srgbClr val="0078D4"/>
          </a:solidFill>
          <a:ln/>
        </p:spPr>
      </p:sp>
      <p:sp>
        <p:nvSpPr>
          <p:cNvPr id="21" name="Text 19"/>
          <p:cNvSpPr/>
          <p:nvPr/>
        </p:nvSpPr>
        <p:spPr>
          <a:xfrm>
            <a:off x="7964424" y="3611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7187184" y="4251960"/>
            <a:ext cx="2057400" cy="822960"/>
          </a:xfrm>
          <a:prstGeom prst="rect">
            <a:avLst/>
          </a:prstGeom>
          <a:noFill/>
          <a:ln/>
        </p:spPr>
        <p:txBody>
          <a:bodyPr wrap="square" lIns="0" tIns="0" rIns="0" bIns="0" rtlCol="0" anchor="t"/>
          <a:lstStyle/>
          <a:p>
            <a:pPr algn="ctr" indent="0" marL="0">
              <a:buNone/>
            </a:pPr>
            <a:r>
              <a:rPr lang="en-US" sz="1200" b="1" dirty="0">
                <a:solidFill>
                  <a:srgbClr val="3B3B3B"/>
                </a:solidFill>
                <a:latin typeface="Calibri" pitchFamily="34" charset="0"/>
                <a:ea typeface="Calibri" pitchFamily="34" charset="-122"/>
                <a:cs typeface="Calibri" pitchFamily="34" charset="-120"/>
              </a:rPr>
              <a:t>Assist, never</a:t>
            </a:r>
            <a:endParaRPr lang="en-US" sz="1200" dirty="0"/>
          </a:p>
          <a:p>
            <a:pPr algn="ctr" indent="0" marL="0">
              <a:buNone/>
            </a:pPr>
            <a:r>
              <a:rPr lang="en-US" sz="1200" b="1" dirty="0">
                <a:solidFill>
                  <a:srgbClr val="3B3B3B"/>
                </a:solidFill>
                <a:latin typeface="Calibri" pitchFamily="34" charset="0"/>
                <a:ea typeface="Calibri" pitchFamily="34" charset="-122"/>
                <a:cs typeface="Calibri" pitchFamily="34" charset="-120"/>
              </a:rPr>
              <a:t>replace, decisions</a:t>
            </a:r>
            <a:endParaRPr lang="en-US" sz="1200" dirty="0"/>
          </a:p>
        </p:txBody>
      </p:sp>
      <p:sp>
        <p:nvSpPr>
          <p:cNvPr id="23" name="Shape 21"/>
          <p:cNvSpPr/>
          <p:nvPr/>
        </p:nvSpPr>
        <p:spPr>
          <a:xfrm>
            <a:off x="10177272" y="3611880"/>
            <a:ext cx="502920" cy="502920"/>
          </a:xfrm>
          <a:prstGeom prst="ellipse">
            <a:avLst/>
          </a:prstGeom>
          <a:solidFill>
            <a:srgbClr val="0078D4"/>
          </a:solidFill>
          <a:ln/>
        </p:spPr>
      </p:sp>
      <p:sp>
        <p:nvSpPr>
          <p:cNvPr id="24" name="Text 22"/>
          <p:cNvSpPr/>
          <p:nvPr/>
        </p:nvSpPr>
        <p:spPr>
          <a:xfrm>
            <a:off x="10177272" y="3611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5" name="Text 23"/>
          <p:cNvSpPr/>
          <p:nvPr/>
        </p:nvSpPr>
        <p:spPr>
          <a:xfrm>
            <a:off x="9400032" y="4251960"/>
            <a:ext cx="2057400" cy="822960"/>
          </a:xfrm>
          <a:prstGeom prst="rect">
            <a:avLst/>
          </a:prstGeom>
          <a:noFill/>
          <a:ln/>
        </p:spPr>
        <p:txBody>
          <a:bodyPr wrap="square" lIns="0" tIns="0" rIns="0" bIns="0" rtlCol="0" anchor="t"/>
          <a:lstStyle/>
          <a:p>
            <a:pPr algn="ctr" indent="0" marL="0">
              <a:buNone/>
            </a:pPr>
            <a:r>
              <a:rPr lang="en-US" sz="1200" b="1" dirty="0">
                <a:solidFill>
                  <a:srgbClr val="3B3B3B"/>
                </a:solidFill>
                <a:latin typeface="Calibri" pitchFamily="34" charset="0"/>
                <a:ea typeface="Calibri" pitchFamily="34" charset="-122"/>
                <a:cs typeface="Calibri" pitchFamily="34" charset="-120"/>
              </a:rPr>
              <a:t>Generate structured,</a:t>
            </a:r>
            <a:endParaRPr lang="en-US" sz="1200" dirty="0"/>
          </a:p>
          <a:p>
            <a:pPr algn="ctr" indent="0" marL="0">
              <a:buNone/>
            </a:pPr>
            <a:r>
              <a:rPr lang="en-US" sz="1200" b="1" dirty="0">
                <a:solidFill>
                  <a:srgbClr val="3B3B3B"/>
                </a:solidFill>
                <a:latin typeface="Calibri" pitchFamily="34" charset="0"/>
                <a:ea typeface="Calibri" pitchFamily="34" charset="-122"/>
                <a:cs typeface="Calibri" pitchFamily="34" charset="-120"/>
              </a:rPr>
              <a:t>submittable output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High-Level Architecture</a:t>
            </a:r>
            <a:endParaRPr lang="en-US" sz="3200" dirty="0"/>
          </a:p>
        </p:txBody>
      </p:sp>
      <p:sp>
        <p:nvSpPr>
          <p:cNvPr id="3" name="Text 1"/>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5 / 18</a:t>
            </a:r>
            <a:endParaRPr lang="en-US" sz="900" dirty="0"/>
          </a:p>
        </p:txBody>
      </p:sp>
      <p:sp>
        <p:nvSpPr>
          <p:cNvPr id="4" name="Shape 2"/>
          <p:cNvSpPr/>
          <p:nvPr/>
        </p:nvSpPr>
        <p:spPr>
          <a:xfrm>
            <a:off x="914400" y="1188720"/>
            <a:ext cx="10360152" cy="4251960"/>
          </a:xfrm>
          <a:prstGeom prst="roundRect">
            <a:avLst>
              <a:gd name="adj" fmla="val 2581"/>
            </a:avLst>
          </a:prstGeom>
          <a:solidFill>
            <a:srgbClr val="F7F7F7"/>
          </a:solidFill>
          <a:ln w="15875">
            <a:solidFill>
              <a:srgbClr val="DCDCDC"/>
            </a:solidFill>
            <a:prstDash val="dash"/>
          </a:ln>
        </p:spPr>
      </p:sp>
      <p:sp>
        <p:nvSpPr>
          <p:cNvPr id="5" name="Text 3"/>
          <p:cNvSpPr/>
          <p:nvPr/>
        </p:nvSpPr>
        <p:spPr>
          <a:xfrm>
            <a:off x="914400" y="3063240"/>
            <a:ext cx="10360152" cy="548640"/>
          </a:xfrm>
          <a:prstGeom prst="rect">
            <a:avLst/>
          </a:prstGeom>
          <a:noFill/>
          <a:ln/>
        </p:spPr>
        <p:txBody>
          <a:bodyPr wrap="square" rtlCol="0" anchor="ctr"/>
          <a:lstStyle/>
          <a:p>
            <a:pPr algn="ctr" indent="0" marL="0">
              <a:buNone/>
            </a:pPr>
            <a:r>
              <a:rPr lang="en-US" sz="1600" i="1" dirty="0">
                <a:solidFill>
                  <a:srgbClr val="757575"/>
                </a:solidFill>
                <a:latin typeface="Calibri" pitchFamily="34" charset="0"/>
                <a:ea typeface="Calibri" pitchFamily="34" charset="-122"/>
                <a:cs typeface="Calibri" pitchFamily="34" charset="-120"/>
              </a:rPr>
              <a:t>[ INSERT HIGH-LEVEL ARCHITECTURE DIAGRAM HERE ]</a:t>
            </a:r>
            <a:endParaRPr lang="en-US" sz="1600" dirty="0"/>
          </a:p>
        </p:txBody>
      </p:sp>
      <p:sp>
        <p:nvSpPr>
          <p:cNvPr id="6" name="Text 4"/>
          <p:cNvSpPr/>
          <p:nvPr/>
        </p:nvSpPr>
        <p:spPr>
          <a:xfrm>
            <a:off x="914400" y="5623560"/>
            <a:ext cx="10360152" cy="457200"/>
          </a:xfrm>
          <a:prstGeom prst="rect">
            <a:avLst/>
          </a:prstGeom>
          <a:noFill/>
          <a:ln/>
        </p:spPr>
        <p:txBody>
          <a:bodyPr wrap="square" lIns="0" tIns="0" rIns="0" bIns="0" rtlCol="0" anchor="t"/>
          <a:lstStyle/>
          <a:p>
            <a:pPr algn="ctr" indent="0" marL="0">
              <a:buNone/>
            </a:pPr>
            <a:r>
              <a:rPr lang="en-US" sz="1500" b="1" dirty="0">
                <a:solidFill>
                  <a:srgbClr val="005A9E"/>
                </a:solidFill>
                <a:latin typeface="Calibri" pitchFamily="34" charset="0"/>
                <a:ea typeface="Calibri" pitchFamily="34" charset="-122"/>
                <a:cs typeface="Calibri" pitchFamily="34" charset="-120"/>
              </a:rPr>
              <a:t>Four modules, one shared context layer — Kadi.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6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Why KADI?</a:t>
            </a:r>
            <a:endParaRPr lang="en-US" sz="3200" dirty="0"/>
          </a:p>
        </p:txBody>
      </p:sp>
      <p:sp>
        <p:nvSpPr>
          <p:cNvPr id="4" name="Text 2"/>
          <p:cNvSpPr/>
          <p:nvPr/>
        </p:nvSpPr>
        <p:spPr>
          <a:xfrm>
            <a:off x="548640" y="1234440"/>
            <a:ext cx="5029200" cy="274320"/>
          </a:xfrm>
          <a:prstGeom prst="rect">
            <a:avLst/>
          </a:prstGeom>
          <a:noFill/>
          <a:ln/>
        </p:spPr>
        <p:txBody>
          <a:bodyPr wrap="square" lIns="0" tIns="0" rIns="0" bIns="0" rtlCol="0" anchor="ctr"/>
          <a:lstStyle/>
          <a:p>
            <a:pPr algn="l" indent="0" marL="0">
              <a:buNone/>
            </a:pPr>
            <a:r>
              <a:rPr lang="en-US" sz="1100" b="1" spc="100" kern="0" dirty="0">
                <a:solidFill>
                  <a:srgbClr val="6E6E6E"/>
                </a:solidFill>
                <a:latin typeface="Calibri" pitchFamily="34" charset="0"/>
                <a:ea typeface="Calibri" pitchFamily="34" charset="-122"/>
                <a:cs typeface="Calibri" pitchFamily="34" charset="-120"/>
              </a:rPr>
              <a:t>WITHOUT KADI</a:t>
            </a:r>
            <a:endParaRPr lang="en-US" sz="1100" dirty="0"/>
          </a:p>
        </p:txBody>
      </p:sp>
      <p:sp>
        <p:nvSpPr>
          <p:cNvPr id="5" name="Shape 3"/>
          <p:cNvSpPr/>
          <p:nvPr/>
        </p:nvSpPr>
        <p:spPr>
          <a:xfrm>
            <a:off x="548640" y="1554480"/>
            <a:ext cx="5120640" cy="2834640"/>
          </a:xfrm>
          <a:prstGeom prst="roundRect">
            <a:avLst>
              <a:gd name="adj" fmla="val 3226"/>
            </a:avLst>
          </a:prstGeom>
          <a:solidFill>
            <a:srgbClr val="F0F0F0"/>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6" name="Shape 4"/>
          <p:cNvSpPr/>
          <p:nvPr/>
        </p:nvSpPr>
        <p:spPr>
          <a:xfrm>
            <a:off x="868680" y="1783080"/>
            <a:ext cx="1554480" cy="384048"/>
          </a:xfrm>
          <a:prstGeom prst="roundRect">
            <a:avLst>
              <a:gd name="adj" fmla="val 19048"/>
            </a:avLst>
          </a:prstGeom>
          <a:solidFill>
            <a:srgbClr val="9E9E9E"/>
          </a:solidFill>
          <a:ln/>
        </p:spPr>
      </p:sp>
      <p:sp>
        <p:nvSpPr>
          <p:cNvPr id="7" name="Text 5"/>
          <p:cNvSpPr/>
          <p:nvPr/>
        </p:nvSpPr>
        <p:spPr>
          <a:xfrm>
            <a:off x="868680" y="1783080"/>
            <a:ext cx="1554480" cy="384048"/>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BillNyay</a:t>
            </a:r>
            <a:endParaRPr lang="en-US" sz="1050" dirty="0"/>
          </a:p>
        </p:txBody>
      </p:sp>
      <p:sp>
        <p:nvSpPr>
          <p:cNvPr id="8" name="Text 6"/>
          <p:cNvSpPr/>
          <p:nvPr/>
        </p:nvSpPr>
        <p:spPr>
          <a:xfrm>
            <a:off x="2606040" y="1783080"/>
            <a:ext cx="2880360" cy="384048"/>
          </a:xfrm>
          <a:prstGeom prst="rect">
            <a:avLst/>
          </a:prstGeom>
          <a:noFill/>
          <a:ln/>
        </p:spPr>
        <p:txBody>
          <a:bodyPr wrap="square" lIns="0" tIns="0" rIns="0" bIns="0" rtlCol="0" anchor="ctr"/>
          <a:lstStyle/>
          <a:p>
            <a:pPr algn="l" indent="0" marL="0">
              <a:buNone/>
            </a:pPr>
            <a:r>
              <a:rPr lang="en-US" sz="1050" dirty="0">
                <a:solidFill>
                  <a:srgbClr val="757575"/>
                </a:solidFill>
                <a:latin typeface="Calibri" pitchFamily="34" charset="0"/>
                <a:ea typeface="Calibri" pitchFamily="34" charset="-122"/>
                <a:cs typeface="Calibri" pitchFamily="34" charset="-120"/>
              </a:rPr>
              <a:t>own OCR  ·  own extraction  ·  own context</a:t>
            </a:r>
            <a:endParaRPr lang="en-US" sz="1050" dirty="0"/>
          </a:p>
        </p:txBody>
      </p:sp>
      <p:sp>
        <p:nvSpPr>
          <p:cNvPr id="9" name="Shape 7"/>
          <p:cNvSpPr/>
          <p:nvPr/>
        </p:nvSpPr>
        <p:spPr>
          <a:xfrm>
            <a:off x="868680" y="2404872"/>
            <a:ext cx="1554480" cy="384048"/>
          </a:xfrm>
          <a:prstGeom prst="roundRect">
            <a:avLst>
              <a:gd name="adj" fmla="val 19048"/>
            </a:avLst>
          </a:prstGeom>
          <a:solidFill>
            <a:srgbClr val="9E9E9E"/>
          </a:solidFill>
          <a:ln/>
        </p:spPr>
      </p:sp>
      <p:sp>
        <p:nvSpPr>
          <p:cNvPr id="10" name="Text 8"/>
          <p:cNvSpPr/>
          <p:nvPr/>
        </p:nvSpPr>
        <p:spPr>
          <a:xfrm>
            <a:off x="868680" y="2404872"/>
            <a:ext cx="1554480" cy="384048"/>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SchemeSetu</a:t>
            </a:r>
            <a:endParaRPr lang="en-US" sz="1050" dirty="0"/>
          </a:p>
        </p:txBody>
      </p:sp>
      <p:sp>
        <p:nvSpPr>
          <p:cNvPr id="11" name="Text 9"/>
          <p:cNvSpPr/>
          <p:nvPr/>
        </p:nvSpPr>
        <p:spPr>
          <a:xfrm>
            <a:off x="2606040" y="2404872"/>
            <a:ext cx="2880360" cy="384048"/>
          </a:xfrm>
          <a:prstGeom prst="rect">
            <a:avLst/>
          </a:prstGeom>
          <a:noFill/>
          <a:ln/>
        </p:spPr>
        <p:txBody>
          <a:bodyPr wrap="square" lIns="0" tIns="0" rIns="0" bIns="0" rtlCol="0" anchor="ctr"/>
          <a:lstStyle/>
          <a:p>
            <a:pPr algn="l" indent="0" marL="0">
              <a:buNone/>
            </a:pPr>
            <a:r>
              <a:rPr lang="en-US" sz="1050" dirty="0">
                <a:solidFill>
                  <a:srgbClr val="757575"/>
                </a:solidFill>
                <a:latin typeface="Calibri" pitchFamily="34" charset="0"/>
                <a:ea typeface="Calibri" pitchFamily="34" charset="-122"/>
                <a:cs typeface="Calibri" pitchFamily="34" charset="-120"/>
              </a:rPr>
              <a:t>own OCR  ·  own extraction  ·  own context</a:t>
            </a:r>
            <a:endParaRPr lang="en-US" sz="1050" dirty="0"/>
          </a:p>
        </p:txBody>
      </p:sp>
      <p:sp>
        <p:nvSpPr>
          <p:cNvPr id="12" name="Shape 10"/>
          <p:cNvSpPr/>
          <p:nvPr/>
        </p:nvSpPr>
        <p:spPr>
          <a:xfrm>
            <a:off x="868680" y="3026664"/>
            <a:ext cx="1554480" cy="384048"/>
          </a:xfrm>
          <a:prstGeom prst="roundRect">
            <a:avLst>
              <a:gd name="adj" fmla="val 19048"/>
            </a:avLst>
          </a:prstGeom>
          <a:solidFill>
            <a:srgbClr val="9E9E9E"/>
          </a:solidFill>
          <a:ln/>
        </p:spPr>
      </p:sp>
      <p:sp>
        <p:nvSpPr>
          <p:cNvPr id="13" name="Text 11"/>
          <p:cNvSpPr/>
          <p:nvPr/>
        </p:nvSpPr>
        <p:spPr>
          <a:xfrm>
            <a:off x="868680" y="3026664"/>
            <a:ext cx="1554480" cy="384048"/>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DawaCheck</a:t>
            </a:r>
            <a:endParaRPr lang="en-US" sz="1050" dirty="0"/>
          </a:p>
        </p:txBody>
      </p:sp>
      <p:sp>
        <p:nvSpPr>
          <p:cNvPr id="14" name="Text 12"/>
          <p:cNvSpPr/>
          <p:nvPr/>
        </p:nvSpPr>
        <p:spPr>
          <a:xfrm>
            <a:off x="2606040" y="3026664"/>
            <a:ext cx="2880360" cy="384048"/>
          </a:xfrm>
          <a:prstGeom prst="rect">
            <a:avLst/>
          </a:prstGeom>
          <a:noFill/>
          <a:ln/>
        </p:spPr>
        <p:txBody>
          <a:bodyPr wrap="square" lIns="0" tIns="0" rIns="0" bIns="0" rtlCol="0" anchor="ctr"/>
          <a:lstStyle/>
          <a:p>
            <a:pPr algn="l" indent="0" marL="0">
              <a:buNone/>
            </a:pPr>
            <a:r>
              <a:rPr lang="en-US" sz="1050" dirty="0">
                <a:solidFill>
                  <a:srgbClr val="757575"/>
                </a:solidFill>
                <a:latin typeface="Calibri" pitchFamily="34" charset="0"/>
                <a:ea typeface="Calibri" pitchFamily="34" charset="-122"/>
                <a:cs typeface="Calibri" pitchFamily="34" charset="-120"/>
              </a:rPr>
              <a:t>own OCR  ·  own extraction  ·  own context</a:t>
            </a:r>
            <a:endParaRPr lang="en-US" sz="1050" dirty="0"/>
          </a:p>
        </p:txBody>
      </p:sp>
      <p:sp>
        <p:nvSpPr>
          <p:cNvPr id="15" name="Shape 13"/>
          <p:cNvSpPr/>
          <p:nvPr/>
        </p:nvSpPr>
        <p:spPr>
          <a:xfrm>
            <a:off x="868680" y="3648456"/>
            <a:ext cx="1554480" cy="384048"/>
          </a:xfrm>
          <a:prstGeom prst="roundRect">
            <a:avLst>
              <a:gd name="adj" fmla="val 19048"/>
            </a:avLst>
          </a:prstGeom>
          <a:solidFill>
            <a:srgbClr val="9E9E9E"/>
          </a:solidFill>
          <a:ln/>
        </p:spPr>
      </p:sp>
      <p:sp>
        <p:nvSpPr>
          <p:cNvPr id="16" name="Text 14"/>
          <p:cNvSpPr/>
          <p:nvPr/>
        </p:nvSpPr>
        <p:spPr>
          <a:xfrm>
            <a:off x="868680" y="3648456"/>
            <a:ext cx="1554480" cy="384048"/>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DaaviSetu</a:t>
            </a:r>
            <a:endParaRPr lang="en-US" sz="1050" dirty="0"/>
          </a:p>
        </p:txBody>
      </p:sp>
      <p:sp>
        <p:nvSpPr>
          <p:cNvPr id="17" name="Text 15"/>
          <p:cNvSpPr/>
          <p:nvPr/>
        </p:nvSpPr>
        <p:spPr>
          <a:xfrm>
            <a:off x="2606040" y="3648456"/>
            <a:ext cx="2880360" cy="384048"/>
          </a:xfrm>
          <a:prstGeom prst="rect">
            <a:avLst/>
          </a:prstGeom>
          <a:noFill/>
          <a:ln/>
        </p:spPr>
        <p:txBody>
          <a:bodyPr wrap="square" lIns="0" tIns="0" rIns="0" bIns="0" rtlCol="0" anchor="ctr"/>
          <a:lstStyle/>
          <a:p>
            <a:pPr algn="l" indent="0" marL="0">
              <a:buNone/>
            </a:pPr>
            <a:r>
              <a:rPr lang="en-US" sz="1050" dirty="0">
                <a:solidFill>
                  <a:srgbClr val="757575"/>
                </a:solidFill>
                <a:latin typeface="Calibri" pitchFamily="34" charset="0"/>
                <a:ea typeface="Calibri" pitchFamily="34" charset="-122"/>
                <a:cs typeface="Calibri" pitchFamily="34" charset="-120"/>
              </a:rPr>
              <a:t>own OCR  ·  own extraction  ·  own context</a:t>
            </a:r>
            <a:endParaRPr lang="en-US" sz="1050" dirty="0"/>
          </a:p>
        </p:txBody>
      </p:sp>
      <p:sp>
        <p:nvSpPr>
          <p:cNvPr id="18" name="Text 16"/>
          <p:cNvSpPr/>
          <p:nvPr/>
        </p:nvSpPr>
        <p:spPr>
          <a:xfrm>
            <a:off x="868680" y="3977640"/>
            <a:ext cx="4572000" cy="365760"/>
          </a:xfrm>
          <a:prstGeom prst="rect">
            <a:avLst/>
          </a:prstGeom>
          <a:noFill/>
          <a:ln/>
        </p:spPr>
        <p:txBody>
          <a:bodyPr wrap="square" lIns="0" tIns="0" rIns="0" bIns="0" rtlCol="0" anchor="t"/>
          <a:lstStyle/>
          <a:p>
            <a:pPr algn="l" indent="0" marL="0">
              <a:buNone/>
            </a:pPr>
            <a:r>
              <a:rPr lang="en-US" sz="1150" i="1" dirty="0">
                <a:solidFill>
                  <a:srgbClr val="5A5A5A"/>
                </a:solidFill>
                <a:latin typeface="Calibri" pitchFamily="34" charset="0"/>
                <a:ea typeface="Calibri" pitchFamily="34" charset="-122"/>
                <a:cs typeface="Calibri" pitchFamily="34" charset="-120"/>
              </a:rPr>
              <a:t>Same bill, parsed four different ways — four different results.</a:t>
            </a:r>
            <a:endParaRPr lang="en-US" sz="1150" dirty="0"/>
          </a:p>
        </p:txBody>
      </p:sp>
      <p:sp>
        <p:nvSpPr>
          <p:cNvPr id="19" name="Text 17"/>
          <p:cNvSpPr/>
          <p:nvPr/>
        </p:nvSpPr>
        <p:spPr>
          <a:xfrm>
            <a:off x="5989320" y="1234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KADI (कड़ी — "LINK")</a:t>
            </a:r>
            <a:endParaRPr lang="en-US" sz="1100" dirty="0"/>
          </a:p>
        </p:txBody>
      </p:sp>
      <p:sp>
        <p:nvSpPr>
          <p:cNvPr id="20" name="Shape 18"/>
          <p:cNvSpPr/>
          <p:nvPr/>
        </p:nvSpPr>
        <p:spPr>
          <a:xfrm>
            <a:off x="5989320" y="1554480"/>
            <a:ext cx="5623560" cy="2834640"/>
          </a:xfrm>
          <a:prstGeom prst="roundRect">
            <a:avLst>
              <a:gd name="adj" fmla="val 3226"/>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21" name="Text 19"/>
          <p:cNvSpPr/>
          <p:nvPr/>
        </p:nvSpPr>
        <p:spPr>
          <a:xfrm>
            <a:off x="6309360" y="1783080"/>
            <a:ext cx="5029200" cy="137160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300" dirty="0">
                <a:solidFill>
                  <a:srgbClr val="005A9E"/>
                </a:solidFill>
                <a:latin typeface="Calibri" pitchFamily="34" charset="0"/>
                <a:ea typeface="Calibri" pitchFamily="34" charset="-122"/>
                <a:cs typeface="Calibri" pitchFamily="34" charset="-120"/>
              </a:rPr>
              <a:t>Shared infrastructure, not a fifth module</a:t>
            </a:r>
            <a:endParaRPr lang="en-US" sz="1300" dirty="0"/>
          </a:p>
          <a:p>
            <a:pPr marL="177800" indent="-177800">
              <a:lnSpc>
                <a:spcPct val="105000"/>
              </a:lnSpc>
              <a:spcAft>
                <a:spcPts val="1000"/>
              </a:spcAft>
              <a:buSzPct val="100000"/>
              <a:buChar char="•"/>
            </a:pPr>
            <a:r>
              <a:rPr lang="en-US" sz="1300" dirty="0">
                <a:solidFill>
                  <a:srgbClr val="005A9E"/>
                </a:solidFill>
                <a:latin typeface="Calibri" pitchFamily="34" charset="0"/>
                <a:ea typeface="Calibri" pitchFamily="34" charset="-122"/>
                <a:cs typeface="Calibri" pitchFamily="34" charset="-120"/>
              </a:rPr>
              <a:t>One extraction agent · one case record · one entity store</a:t>
            </a:r>
            <a:endParaRPr lang="en-US" sz="1300" dirty="0"/>
          </a:p>
          <a:p>
            <a:pPr marL="177800" indent="-177800">
              <a:lnSpc>
                <a:spcPct val="105000"/>
              </a:lnSpc>
              <a:spcAft>
                <a:spcPts val="1000"/>
              </a:spcAft>
              <a:buSzPct val="100000"/>
              <a:buChar char="•"/>
            </a:pPr>
            <a:r>
              <a:rPr lang="en-US" sz="1300" dirty="0">
                <a:solidFill>
                  <a:srgbClr val="005A9E"/>
                </a:solidFill>
                <a:latin typeface="Calibri" pitchFamily="34" charset="0"/>
                <a:ea typeface="Calibri" pitchFamily="34" charset="-122"/>
                <a:cs typeface="Calibri" pitchFamily="34" charset="-120"/>
              </a:rPr>
              <a:t>Every module reads and writes the same context</a:t>
            </a:r>
            <a:endParaRPr lang="en-US" sz="1300" dirty="0"/>
          </a:p>
        </p:txBody>
      </p:sp>
      <p:sp>
        <p:nvSpPr>
          <p:cNvPr id="22" name="Text 20"/>
          <p:cNvSpPr/>
          <p:nvPr/>
        </p:nvSpPr>
        <p:spPr>
          <a:xfrm>
            <a:off x="6309360" y="3337560"/>
            <a:ext cx="5029200" cy="914400"/>
          </a:xfrm>
          <a:prstGeom prst="rect">
            <a:avLst/>
          </a:prstGeom>
          <a:noFill/>
          <a:ln/>
        </p:spPr>
        <p:txBody>
          <a:bodyPr wrap="square" lIns="0" tIns="0" rIns="0" bIns="0" rtlCol="0" anchor="t"/>
          <a:lstStyle/>
          <a:p>
            <a:pPr algn="l" indent="0" marL="0">
              <a:buNone/>
            </a:pPr>
            <a:r>
              <a:rPr lang="en-US" sz="1250" b="1" dirty="0">
                <a:solidFill>
                  <a:srgbClr val="3B3B3B"/>
                </a:solidFill>
                <a:latin typeface="Calibri" pitchFamily="34" charset="0"/>
                <a:ea typeface="Calibri" pitchFamily="34" charset="-122"/>
                <a:cs typeface="Calibri" pitchFamily="34" charset="-120"/>
              </a:rPr>
              <a:t>Payoff: a bill upload can auto-surface a matching scheme, with zero extra input from the patient.</a:t>
            </a:r>
            <a:endParaRPr lang="en-US" sz="1250" dirty="0"/>
          </a:p>
        </p:txBody>
      </p:sp>
      <p:sp>
        <p:nvSpPr>
          <p:cNvPr id="23" name="Shape 21"/>
          <p:cNvSpPr/>
          <p:nvPr/>
        </p:nvSpPr>
        <p:spPr>
          <a:xfrm>
            <a:off x="5760720" y="2971800"/>
            <a:ext cx="182880" cy="0"/>
          </a:xfrm>
          <a:prstGeom prst="line">
            <a:avLst/>
          </a:prstGeom>
          <a:noFill/>
          <a:ln w="31750">
            <a:solidFill>
              <a:srgbClr val="0078D4"/>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7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05A9E"/>
                </a:solidFill>
                <a:latin typeface="Cambria" pitchFamily="34" charset="0"/>
                <a:ea typeface="Cambria" pitchFamily="34" charset="-122"/>
                <a:cs typeface="Cambria" pitchFamily="34" charset="-120"/>
              </a:rPr>
              <a:t>KADI Internal Architecture</a:t>
            </a:r>
            <a:endParaRPr lang="en-US" sz="3000" dirty="0"/>
          </a:p>
        </p:txBody>
      </p:sp>
      <p:sp>
        <p:nvSpPr>
          <p:cNvPr id="4" name="Shape 2"/>
          <p:cNvSpPr/>
          <p:nvPr/>
        </p:nvSpPr>
        <p:spPr>
          <a:xfrm>
            <a:off x="548640" y="1188720"/>
            <a:ext cx="11091672" cy="3246120"/>
          </a:xfrm>
          <a:prstGeom prst="roundRect">
            <a:avLst>
              <a:gd name="adj" fmla="val 3380"/>
            </a:avLst>
          </a:prstGeom>
          <a:solidFill>
            <a:srgbClr val="F7F7F7"/>
          </a:solidFill>
          <a:ln w="15875">
            <a:solidFill>
              <a:srgbClr val="DCDCDC"/>
            </a:solidFill>
            <a:prstDash val="dash"/>
          </a:ln>
        </p:spPr>
      </p:sp>
      <p:sp>
        <p:nvSpPr>
          <p:cNvPr id="5" name="Text 3"/>
          <p:cNvSpPr/>
          <p:nvPr/>
        </p:nvSpPr>
        <p:spPr>
          <a:xfrm>
            <a:off x="548640" y="2606040"/>
            <a:ext cx="11091672" cy="457200"/>
          </a:xfrm>
          <a:prstGeom prst="rect">
            <a:avLst/>
          </a:prstGeom>
          <a:noFill/>
          <a:ln/>
        </p:spPr>
        <p:txBody>
          <a:bodyPr wrap="square" lIns="0" tIns="0" rIns="0" bIns="0" rtlCol="0" anchor="ctr"/>
          <a:lstStyle/>
          <a:p>
            <a:pPr algn="ctr" indent="0" marL="0">
              <a:buNone/>
            </a:pPr>
            <a:r>
              <a:rPr lang="en-US" sz="1500" i="1" dirty="0">
                <a:solidFill>
                  <a:srgbClr val="757575"/>
                </a:solidFill>
                <a:latin typeface="Calibri" pitchFamily="34" charset="0"/>
                <a:ea typeface="Calibri" pitchFamily="34" charset="-122"/>
                <a:cs typeface="Calibri" pitchFamily="34" charset="-120"/>
              </a:rPr>
              <a:t>[ INSERT KADI INTERNAL ARCHITECTURE DIAGRAM HERE ]</a:t>
            </a:r>
            <a:endParaRPr lang="en-US" sz="1500" dirty="0"/>
          </a:p>
        </p:txBody>
      </p:sp>
      <p:sp>
        <p:nvSpPr>
          <p:cNvPr id="6" name="Text 4"/>
          <p:cNvSpPr/>
          <p:nvPr/>
        </p:nvSpPr>
        <p:spPr>
          <a:xfrm>
            <a:off x="548640" y="4023360"/>
            <a:ext cx="11091672" cy="320040"/>
          </a:xfrm>
          <a:prstGeom prst="rect">
            <a:avLst/>
          </a:prstGeom>
          <a:noFill/>
          <a:ln/>
        </p:spPr>
        <p:txBody>
          <a:bodyPr wrap="square" lIns="0" tIns="0" rIns="0" bIns="0" rtlCol="0" anchor="t"/>
          <a:lstStyle/>
          <a:p>
            <a:pPr algn="ctr" indent="0" marL="0">
              <a:buNone/>
            </a:pPr>
            <a:r>
              <a:rPr lang="en-US" sz="1250" b="1" dirty="0">
                <a:solidFill>
                  <a:srgbClr val="005A9E"/>
                </a:solidFill>
                <a:latin typeface="Calibri" pitchFamily="34" charset="0"/>
                <a:ea typeface="Calibri" pitchFamily="34" charset="-122"/>
                <a:cs typeface="Calibri" pitchFamily="34" charset="-120"/>
              </a:rPr>
              <a:t>Shared context  ·  Entity resolution  ·  Workflow orchestration  ·  Module APIs</a:t>
            </a:r>
            <a:endParaRPr lang="en-US" sz="1250" dirty="0"/>
          </a:p>
        </p:txBody>
      </p:sp>
      <p:sp>
        <p:nvSpPr>
          <p:cNvPr id="7" name="Text 5"/>
          <p:cNvSpPr/>
          <p:nvPr/>
        </p:nvSpPr>
        <p:spPr>
          <a:xfrm>
            <a:off x="548640" y="4663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SHARED EXTRACTION PIPELINE</a:t>
            </a:r>
            <a:endParaRPr lang="en-US" sz="1100" dirty="0"/>
          </a:p>
        </p:txBody>
      </p:sp>
      <p:sp>
        <p:nvSpPr>
          <p:cNvPr id="8" name="Shape 6"/>
          <p:cNvSpPr/>
          <p:nvPr/>
        </p:nvSpPr>
        <p:spPr>
          <a:xfrm>
            <a:off x="548640" y="4983480"/>
            <a:ext cx="2331720" cy="502920"/>
          </a:xfrm>
          <a:prstGeom prst="roundRect">
            <a:avLst>
              <a:gd name="adj" fmla="val 14545"/>
            </a:avLst>
          </a:prstGeom>
          <a:solidFill>
            <a:srgbClr val="0078D4"/>
          </a:solidFill>
          <a:ln/>
        </p:spPr>
      </p:sp>
      <p:sp>
        <p:nvSpPr>
          <p:cNvPr id="9" name="Text 7"/>
          <p:cNvSpPr/>
          <p:nvPr/>
        </p:nvSpPr>
        <p:spPr>
          <a:xfrm>
            <a:off x="548640" y="4983480"/>
            <a:ext cx="2331720" cy="50292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OCR</a:t>
            </a:r>
            <a:endParaRPr lang="en-US" sz="1150" dirty="0"/>
          </a:p>
        </p:txBody>
      </p:sp>
      <p:sp>
        <p:nvSpPr>
          <p:cNvPr id="10" name="Shape 8"/>
          <p:cNvSpPr/>
          <p:nvPr/>
        </p:nvSpPr>
        <p:spPr>
          <a:xfrm>
            <a:off x="2926080" y="5230368"/>
            <a:ext cx="320040" cy="0"/>
          </a:xfrm>
          <a:prstGeom prst="line">
            <a:avLst/>
          </a:prstGeom>
          <a:noFill/>
          <a:ln w="15875">
            <a:solidFill>
              <a:srgbClr val="0078D4"/>
            </a:solidFill>
            <a:prstDash val="solid"/>
            <a:tailEnd type="triangle"/>
          </a:ln>
        </p:spPr>
      </p:sp>
      <p:sp>
        <p:nvSpPr>
          <p:cNvPr id="11" name="Shape 9"/>
          <p:cNvSpPr/>
          <p:nvPr/>
        </p:nvSpPr>
        <p:spPr>
          <a:xfrm>
            <a:off x="3246120" y="4983480"/>
            <a:ext cx="2331720" cy="502920"/>
          </a:xfrm>
          <a:prstGeom prst="roundRect">
            <a:avLst>
              <a:gd name="adj" fmla="val 14545"/>
            </a:avLst>
          </a:prstGeom>
          <a:solidFill>
            <a:srgbClr val="0078D4"/>
          </a:solidFill>
          <a:ln/>
        </p:spPr>
      </p:sp>
      <p:sp>
        <p:nvSpPr>
          <p:cNvPr id="12" name="Text 10"/>
          <p:cNvSpPr/>
          <p:nvPr/>
        </p:nvSpPr>
        <p:spPr>
          <a:xfrm>
            <a:off x="3246120" y="4983480"/>
            <a:ext cx="2331720" cy="50292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Normalize</a:t>
            </a:r>
            <a:endParaRPr lang="en-US" sz="1150" dirty="0"/>
          </a:p>
        </p:txBody>
      </p:sp>
      <p:sp>
        <p:nvSpPr>
          <p:cNvPr id="13" name="Shape 11"/>
          <p:cNvSpPr/>
          <p:nvPr/>
        </p:nvSpPr>
        <p:spPr>
          <a:xfrm>
            <a:off x="5623560" y="5230368"/>
            <a:ext cx="320040" cy="0"/>
          </a:xfrm>
          <a:prstGeom prst="line">
            <a:avLst/>
          </a:prstGeom>
          <a:noFill/>
          <a:ln w="15875">
            <a:solidFill>
              <a:srgbClr val="0078D4"/>
            </a:solidFill>
            <a:prstDash val="solid"/>
            <a:tailEnd type="triangle"/>
          </a:ln>
        </p:spPr>
      </p:sp>
      <p:sp>
        <p:nvSpPr>
          <p:cNvPr id="14" name="Shape 12"/>
          <p:cNvSpPr/>
          <p:nvPr/>
        </p:nvSpPr>
        <p:spPr>
          <a:xfrm>
            <a:off x="5943600" y="4983480"/>
            <a:ext cx="2331720" cy="502920"/>
          </a:xfrm>
          <a:prstGeom prst="roundRect">
            <a:avLst>
              <a:gd name="adj" fmla="val 14545"/>
            </a:avLst>
          </a:prstGeom>
          <a:solidFill>
            <a:srgbClr val="0078D4"/>
          </a:solidFill>
          <a:ln/>
        </p:spPr>
      </p:sp>
      <p:sp>
        <p:nvSpPr>
          <p:cNvPr id="15" name="Text 13"/>
          <p:cNvSpPr/>
          <p:nvPr/>
        </p:nvSpPr>
        <p:spPr>
          <a:xfrm>
            <a:off x="5943600" y="4983480"/>
            <a:ext cx="2331720" cy="50292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Extract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Entities</a:t>
            </a:r>
            <a:endParaRPr lang="en-US" sz="1150" dirty="0"/>
          </a:p>
        </p:txBody>
      </p:sp>
      <p:sp>
        <p:nvSpPr>
          <p:cNvPr id="16" name="Shape 14"/>
          <p:cNvSpPr/>
          <p:nvPr/>
        </p:nvSpPr>
        <p:spPr>
          <a:xfrm>
            <a:off x="8321040" y="5230368"/>
            <a:ext cx="320040" cy="0"/>
          </a:xfrm>
          <a:prstGeom prst="line">
            <a:avLst/>
          </a:prstGeom>
          <a:noFill/>
          <a:ln w="15875">
            <a:solidFill>
              <a:srgbClr val="0078D4"/>
            </a:solidFill>
            <a:prstDash val="solid"/>
            <a:tailEnd type="triangle"/>
          </a:ln>
        </p:spPr>
      </p:sp>
      <p:sp>
        <p:nvSpPr>
          <p:cNvPr id="17" name="Shape 15"/>
          <p:cNvSpPr/>
          <p:nvPr/>
        </p:nvSpPr>
        <p:spPr>
          <a:xfrm>
            <a:off x="8641080" y="4983480"/>
            <a:ext cx="2331720" cy="502920"/>
          </a:xfrm>
          <a:prstGeom prst="roundRect">
            <a:avLst>
              <a:gd name="adj" fmla="val 14545"/>
            </a:avLst>
          </a:prstGeom>
          <a:solidFill>
            <a:srgbClr val="0078D4"/>
          </a:solidFill>
          <a:ln/>
        </p:spPr>
      </p:sp>
      <p:sp>
        <p:nvSpPr>
          <p:cNvPr id="18" name="Text 16"/>
          <p:cNvSpPr/>
          <p:nvPr/>
        </p:nvSpPr>
        <p:spPr>
          <a:xfrm>
            <a:off x="8641080" y="4983480"/>
            <a:ext cx="2331720" cy="50292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Confidence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Tag</a:t>
            </a:r>
            <a:endParaRPr lang="en-US" sz="1150" dirty="0"/>
          </a:p>
        </p:txBody>
      </p:sp>
      <p:sp>
        <p:nvSpPr>
          <p:cNvPr id="19" name="Text 17"/>
          <p:cNvSpPr/>
          <p:nvPr/>
        </p:nvSpPr>
        <p:spPr>
          <a:xfrm>
            <a:off x="548640" y="5669280"/>
            <a:ext cx="11091672" cy="457200"/>
          </a:xfrm>
          <a:prstGeom prst="rect">
            <a:avLst/>
          </a:prstGeom>
          <a:noFill/>
          <a:ln/>
        </p:spPr>
        <p:txBody>
          <a:bodyPr wrap="square" lIns="0" tIns="0" rIns="0" bIns="0" rtlCol="0" anchor="t"/>
          <a:lstStyle/>
          <a:p>
            <a:pPr algn="ctr" indent="0" marL="0">
              <a:buNone/>
            </a:pPr>
            <a:r>
              <a:rPr lang="en-US" sz="1150" i="1" dirty="0">
                <a:solidFill>
                  <a:srgbClr val="757575"/>
                </a:solidFill>
                <a:latin typeface="Calibri" pitchFamily="34" charset="0"/>
                <a:ea typeface="Calibri" pitchFamily="34" charset="-122"/>
                <a:cs typeface="Calibri" pitchFamily="34" charset="-120"/>
              </a:rPr>
              <a:t>Raw OCR gives text, not meaning — "PCM 650," "Paracetamol," and "Acetaminophen" need semantic linking (entity resolution, next).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8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BillNyay</a:t>
            </a:r>
            <a:endParaRPr lang="en-US" sz="3200" dirty="0"/>
          </a:p>
        </p:txBody>
      </p:sp>
      <p:sp>
        <p:nvSpPr>
          <p:cNvPr id="4" name="Text 2"/>
          <p:cNvSpPr/>
          <p:nvPr/>
        </p:nvSpPr>
        <p:spPr>
          <a:xfrm>
            <a:off x="548640" y="118872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FLOW — 5-AGENT PIPELINE</a:t>
            </a:r>
            <a:endParaRPr lang="en-US" sz="1100" dirty="0"/>
          </a:p>
        </p:txBody>
      </p:sp>
      <p:sp>
        <p:nvSpPr>
          <p:cNvPr id="5" name="Shape 3"/>
          <p:cNvSpPr/>
          <p:nvPr/>
        </p:nvSpPr>
        <p:spPr>
          <a:xfrm>
            <a:off x="1188720" y="1508760"/>
            <a:ext cx="640080" cy="640080"/>
          </a:xfrm>
          <a:prstGeom prst="ellipse">
            <a:avLst/>
          </a:prstGeom>
          <a:solidFill>
            <a:srgbClr val="0078D4"/>
          </a:solidFill>
          <a:ln/>
        </p:spPr>
      </p:sp>
      <p:sp>
        <p:nvSpPr>
          <p:cNvPr id="6" name="Text 4"/>
          <p:cNvSpPr/>
          <p:nvPr/>
        </p:nvSpPr>
        <p:spPr>
          <a:xfrm>
            <a:off x="1188720" y="15087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548640" y="2212848"/>
            <a:ext cx="2057400" cy="502920"/>
          </a:xfrm>
          <a:prstGeom prst="rect">
            <a:avLst/>
          </a:prstGeom>
          <a:noFill/>
          <a:ln/>
        </p:spPr>
        <p:txBody>
          <a:bodyPr wrap="square" lIns="0" tIns="0" rIns="0" bIns="0" rtlCol="0" anchor="t"/>
          <a:lstStyle/>
          <a:p>
            <a:pPr algn="ctr" indent="0" marL="0">
              <a:buNone/>
            </a:pPr>
            <a:r>
              <a:rPr lang="en-US" sz="1050" b="1" dirty="0">
                <a:solidFill>
                  <a:srgbClr val="3B3B3B"/>
                </a:solidFill>
                <a:latin typeface="Calibri" pitchFamily="34" charset="0"/>
                <a:ea typeface="Calibri" pitchFamily="34" charset="-122"/>
                <a:cs typeface="Calibri" pitchFamily="34" charset="-120"/>
              </a:rPr>
              <a:t>Document</a:t>
            </a:r>
            <a:endParaRPr lang="en-US" sz="1050" dirty="0"/>
          </a:p>
          <a:p>
            <a:pPr algn="ctr" indent="0" marL="0">
              <a:buNone/>
            </a:pPr>
            <a:r>
              <a:rPr lang="en-US" sz="1050" b="1" dirty="0">
                <a:solidFill>
                  <a:srgbClr val="3B3B3B"/>
                </a:solidFill>
                <a:latin typeface="Calibri" pitchFamily="34" charset="0"/>
                <a:ea typeface="Calibri" pitchFamily="34" charset="-122"/>
                <a:cs typeface="Calibri" pitchFamily="34" charset="-120"/>
              </a:rPr>
              <a:t>Auditor</a:t>
            </a:r>
            <a:endParaRPr lang="en-US" sz="1050" dirty="0"/>
          </a:p>
        </p:txBody>
      </p:sp>
      <p:sp>
        <p:nvSpPr>
          <p:cNvPr id="8" name="Shape 6"/>
          <p:cNvSpPr/>
          <p:nvPr/>
        </p:nvSpPr>
        <p:spPr>
          <a:xfrm>
            <a:off x="1920240" y="1828800"/>
            <a:ext cx="822960" cy="0"/>
          </a:xfrm>
          <a:prstGeom prst="line">
            <a:avLst/>
          </a:prstGeom>
          <a:noFill/>
          <a:ln w="15875">
            <a:solidFill>
              <a:srgbClr val="0078D4"/>
            </a:solidFill>
            <a:prstDash val="solid"/>
            <a:tailEnd type="triangle"/>
          </a:ln>
        </p:spPr>
      </p:sp>
      <p:sp>
        <p:nvSpPr>
          <p:cNvPr id="9" name="Shape 7"/>
          <p:cNvSpPr/>
          <p:nvPr/>
        </p:nvSpPr>
        <p:spPr>
          <a:xfrm>
            <a:off x="3401568" y="1508760"/>
            <a:ext cx="640080" cy="640080"/>
          </a:xfrm>
          <a:prstGeom prst="ellipse">
            <a:avLst/>
          </a:prstGeom>
          <a:solidFill>
            <a:srgbClr val="0078D4"/>
          </a:solidFill>
          <a:ln/>
        </p:spPr>
      </p:sp>
      <p:sp>
        <p:nvSpPr>
          <p:cNvPr id="10" name="Text 8"/>
          <p:cNvSpPr/>
          <p:nvPr/>
        </p:nvSpPr>
        <p:spPr>
          <a:xfrm>
            <a:off x="3401568" y="15087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2761488" y="2212848"/>
            <a:ext cx="2057400" cy="502920"/>
          </a:xfrm>
          <a:prstGeom prst="rect">
            <a:avLst/>
          </a:prstGeom>
          <a:noFill/>
          <a:ln/>
        </p:spPr>
        <p:txBody>
          <a:bodyPr wrap="square" lIns="0" tIns="0" rIns="0" bIns="0" rtlCol="0" anchor="t"/>
          <a:lstStyle/>
          <a:p>
            <a:pPr algn="ctr" indent="0" marL="0">
              <a:buNone/>
            </a:pPr>
            <a:r>
              <a:rPr lang="en-US" sz="1050" b="1" dirty="0">
                <a:solidFill>
                  <a:srgbClr val="3B3B3B"/>
                </a:solidFill>
                <a:latin typeface="Calibri" pitchFamily="34" charset="0"/>
                <a:ea typeface="Calibri" pitchFamily="34" charset="-122"/>
                <a:cs typeface="Calibri" pitchFamily="34" charset="-120"/>
              </a:rPr>
              <a:t>Clinical</a:t>
            </a:r>
            <a:endParaRPr lang="en-US" sz="1050" dirty="0"/>
          </a:p>
          <a:p>
            <a:pPr algn="ctr" indent="0" marL="0">
              <a:buNone/>
            </a:pPr>
            <a:r>
              <a:rPr lang="en-US" sz="1050" b="1" dirty="0">
                <a:solidFill>
                  <a:srgbClr val="3B3B3B"/>
                </a:solidFill>
                <a:latin typeface="Calibri" pitchFamily="34" charset="0"/>
                <a:ea typeface="Calibri" pitchFamily="34" charset="-122"/>
                <a:cs typeface="Calibri" pitchFamily="34" charset="-120"/>
              </a:rPr>
              <a:t>Reviewer</a:t>
            </a:r>
            <a:endParaRPr lang="en-US" sz="1050" dirty="0"/>
          </a:p>
        </p:txBody>
      </p:sp>
      <p:sp>
        <p:nvSpPr>
          <p:cNvPr id="12" name="Shape 10"/>
          <p:cNvSpPr/>
          <p:nvPr/>
        </p:nvSpPr>
        <p:spPr>
          <a:xfrm>
            <a:off x="4133088" y="1828800"/>
            <a:ext cx="822960" cy="0"/>
          </a:xfrm>
          <a:prstGeom prst="line">
            <a:avLst/>
          </a:prstGeom>
          <a:noFill/>
          <a:ln w="15875">
            <a:solidFill>
              <a:srgbClr val="0078D4"/>
            </a:solidFill>
            <a:prstDash val="solid"/>
            <a:tailEnd type="triangle"/>
          </a:ln>
        </p:spPr>
      </p:sp>
      <p:sp>
        <p:nvSpPr>
          <p:cNvPr id="13" name="Shape 11"/>
          <p:cNvSpPr/>
          <p:nvPr/>
        </p:nvSpPr>
        <p:spPr>
          <a:xfrm>
            <a:off x="5614416" y="1508760"/>
            <a:ext cx="640080" cy="640080"/>
          </a:xfrm>
          <a:prstGeom prst="ellipse">
            <a:avLst/>
          </a:prstGeom>
          <a:solidFill>
            <a:srgbClr val="0078D4"/>
          </a:solidFill>
          <a:ln/>
        </p:spPr>
      </p:sp>
      <p:sp>
        <p:nvSpPr>
          <p:cNvPr id="14" name="Text 12"/>
          <p:cNvSpPr/>
          <p:nvPr/>
        </p:nvSpPr>
        <p:spPr>
          <a:xfrm>
            <a:off x="5614416" y="15087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4974336" y="2212848"/>
            <a:ext cx="2057400" cy="502920"/>
          </a:xfrm>
          <a:prstGeom prst="rect">
            <a:avLst/>
          </a:prstGeom>
          <a:noFill/>
          <a:ln/>
        </p:spPr>
        <p:txBody>
          <a:bodyPr wrap="square" lIns="0" tIns="0" rIns="0" bIns="0" rtlCol="0" anchor="t"/>
          <a:lstStyle/>
          <a:p>
            <a:pPr algn="ctr" indent="0" marL="0">
              <a:buNone/>
            </a:pPr>
            <a:r>
              <a:rPr lang="en-US" sz="1050" b="1" dirty="0">
                <a:solidFill>
                  <a:srgbClr val="3B3B3B"/>
                </a:solidFill>
                <a:latin typeface="Calibri" pitchFamily="34" charset="0"/>
                <a:ea typeface="Calibri" pitchFamily="34" charset="-122"/>
                <a:cs typeface="Calibri" pitchFamily="34" charset="-120"/>
              </a:rPr>
              <a:t>Regulatory</a:t>
            </a:r>
            <a:endParaRPr lang="en-US" sz="1050" dirty="0"/>
          </a:p>
          <a:p>
            <a:pPr algn="ctr" indent="0" marL="0">
              <a:buNone/>
            </a:pPr>
            <a:r>
              <a:rPr lang="en-US" sz="1050" b="1" dirty="0">
                <a:solidFill>
                  <a:srgbClr val="3B3B3B"/>
                </a:solidFill>
                <a:latin typeface="Calibri" pitchFamily="34" charset="0"/>
                <a:ea typeface="Calibri" pitchFamily="34" charset="-122"/>
                <a:cs typeface="Calibri" pitchFamily="34" charset="-120"/>
              </a:rPr>
              <a:t>Advisor</a:t>
            </a:r>
            <a:endParaRPr lang="en-US" sz="1050" dirty="0"/>
          </a:p>
        </p:txBody>
      </p:sp>
      <p:sp>
        <p:nvSpPr>
          <p:cNvPr id="16" name="Shape 14"/>
          <p:cNvSpPr/>
          <p:nvPr/>
        </p:nvSpPr>
        <p:spPr>
          <a:xfrm>
            <a:off x="6345936" y="1828800"/>
            <a:ext cx="822960" cy="0"/>
          </a:xfrm>
          <a:prstGeom prst="line">
            <a:avLst/>
          </a:prstGeom>
          <a:noFill/>
          <a:ln w="15875">
            <a:solidFill>
              <a:srgbClr val="0078D4"/>
            </a:solidFill>
            <a:prstDash val="solid"/>
            <a:tailEnd type="triangle"/>
          </a:ln>
        </p:spPr>
      </p:sp>
      <p:sp>
        <p:nvSpPr>
          <p:cNvPr id="17" name="Shape 15"/>
          <p:cNvSpPr/>
          <p:nvPr/>
        </p:nvSpPr>
        <p:spPr>
          <a:xfrm>
            <a:off x="7827264" y="1508760"/>
            <a:ext cx="640080" cy="640080"/>
          </a:xfrm>
          <a:prstGeom prst="ellipse">
            <a:avLst/>
          </a:prstGeom>
          <a:solidFill>
            <a:srgbClr val="0078D4"/>
          </a:solidFill>
          <a:ln/>
        </p:spPr>
      </p:sp>
      <p:sp>
        <p:nvSpPr>
          <p:cNvPr id="18" name="Text 16"/>
          <p:cNvSpPr/>
          <p:nvPr/>
        </p:nvSpPr>
        <p:spPr>
          <a:xfrm>
            <a:off x="7827264" y="15087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187184" y="2212848"/>
            <a:ext cx="2057400" cy="502920"/>
          </a:xfrm>
          <a:prstGeom prst="rect">
            <a:avLst/>
          </a:prstGeom>
          <a:noFill/>
          <a:ln/>
        </p:spPr>
        <p:txBody>
          <a:bodyPr wrap="square" lIns="0" tIns="0" rIns="0" bIns="0" rtlCol="0" anchor="t"/>
          <a:lstStyle/>
          <a:p>
            <a:pPr algn="ctr" indent="0" marL="0">
              <a:buNone/>
            </a:pPr>
            <a:r>
              <a:rPr lang="en-US" sz="1050" b="1" dirty="0">
                <a:solidFill>
                  <a:srgbClr val="3B3B3B"/>
                </a:solidFill>
                <a:latin typeface="Calibri" pitchFamily="34" charset="0"/>
                <a:ea typeface="Calibri" pitchFamily="34" charset="-122"/>
                <a:cs typeface="Calibri" pitchFamily="34" charset="-120"/>
              </a:rPr>
              <a:t>Appeal</a:t>
            </a:r>
            <a:endParaRPr lang="en-US" sz="1050" dirty="0"/>
          </a:p>
          <a:p>
            <a:pPr algn="ctr" indent="0" marL="0">
              <a:buNone/>
            </a:pPr>
            <a:r>
              <a:rPr lang="en-US" sz="1050" b="1" dirty="0">
                <a:solidFill>
                  <a:srgbClr val="3B3B3B"/>
                </a:solidFill>
                <a:latin typeface="Calibri" pitchFamily="34" charset="0"/>
                <a:ea typeface="Calibri" pitchFamily="34" charset="-122"/>
                <a:cs typeface="Calibri" pitchFamily="34" charset="-120"/>
              </a:rPr>
              <a:t>Drafter</a:t>
            </a:r>
            <a:endParaRPr lang="en-US" sz="1050" dirty="0"/>
          </a:p>
        </p:txBody>
      </p:sp>
      <p:sp>
        <p:nvSpPr>
          <p:cNvPr id="20" name="Shape 18"/>
          <p:cNvSpPr/>
          <p:nvPr/>
        </p:nvSpPr>
        <p:spPr>
          <a:xfrm>
            <a:off x="8558784" y="1828800"/>
            <a:ext cx="822960" cy="0"/>
          </a:xfrm>
          <a:prstGeom prst="line">
            <a:avLst/>
          </a:prstGeom>
          <a:noFill/>
          <a:ln w="15875">
            <a:solidFill>
              <a:srgbClr val="0078D4"/>
            </a:solidFill>
            <a:prstDash val="solid"/>
            <a:tailEnd type="triangle"/>
          </a:ln>
        </p:spPr>
      </p:sp>
      <p:sp>
        <p:nvSpPr>
          <p:cNvPr id="21" name="Shape 19"/>
          <p:cNvSpPr/>
          <p:nvPr/>
        </p:nvSpPr>
        <p:spPr>
          <a:xfrm>
            <a:off x="10040112" y="1508760"/>
            <a:ext cx="640080" cy="640080"/>
          </a:xfrm>
          <a:prstGeom prst="ellipse">
            <a:avLst/>
          </a:prstGeom>
          <a:solidFill>
            <a:srgbClr val="0078D4"/>
          </a:solidFill>
          <a:ln/>
        </p:spPr>
      </p:sp>
      <p:sp>
        <p:nvSpPr>
          <p:cNvPr id="22" name="Text 20"/>
          <p:cNvSpPr/>
          <p:nvPr/>
        </p:nvSpPr>
        <p:spPr>
          <a:xfrm>
            <a:off x="10040112" y="15087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9400032" y="2212848"/>
            <a:ext cx="2057400" cy="502920"/>
          </a:xfrm>
          <a:prstGeom prst="rect">
            <a:avLst/>
          </a:prstGeom>
          <a:noFill/>
          <a:ln/>
        </p:spPr>
        <p:txBody>
          <a:bodyPr wrap="square" lIns="0" tIns="0" rIns="0" bIns="0" rtlCol="0" anchor="t"/>
          <a:lstStyle/>
          <a:p>
            <a:pPr algn="ctr" indent="0" marL="0">
              <a:buNone/>
            </a:pPr>
            <a:r>
              <a:rPr lang="en-US" sz="1050" b="1" dirty="0">
                <a:solidFill>
                  <a:srgbClr val="3B3B3B"/>
                </a:solidFill>
                <a:latin typeface="Calibri" pitchFamily="34" charset="0"/>
                <a:ea typeface="Calibri" pitchFamily="34" charset="-122"/>
                <a:cs typeface="Calibri" pitchFamily="34" charset="-120"/>
              </a:rPr>
              <a:t>QA</a:t>
            </a:r>
            <a:endParaRPr lang="en-US" sz="1050" dirty="0"/>
          </a:p>
          <a:p>
            <a:pPr algn="ctr" indent="0" marL="0">
              <a:buNone/>
            </a:pPr>
            <a:r>
              <a:rPr lang="en-US" sz="1050" b="1" dirty="0">
                <a:solidFill>
                  <a:srgbClr val="3B3B3B"/>
                </a:solidFill>
                <a:latin typeface="Calibri" pitchFamily="34" charset="0"/>
                <a:ea typeface="Calibri" pitchFamily="34" charset="-122"/>
                <a:cs typeface="Calibri" pitchFamily="34" charset="-120"/>
              </a:rPr>
              <a:t>Judge</a:t>
            </a:r>
            <a:endParaRPr lang="en-US" sz="1050" dirty="0"/>
          </a:p>
        </p:txBody>
      </p:sp>
      <p:sp>
        <p:nvSpPr>
          <p:cNvPr id="24" name="Text 22"/>
          <p:cNvSpPr/>
          <p:nvPr/>
        </p:nvSpPr>
        <p:spPr>
          <a:xfrm>
            <a:off x="548640" y="2788920"/>
            <a:ext cx="11064240" cy="457200"/>
          </a:xfrm>
          <a:prstGeom prst="rect">
            <a:avLst/>
          </a:prstGeom>
          <a:noFill/>
          <a:ln/>
        </p:spPr>
        <p:txBody>
          <a:bodyPr wrap="square" lIns="0" tIns="0" rIns="0" bIns="0" rtlCol="0" anchor="t"/>
          <a:lstStyle/>
          <a:p>
            <a:pPr algn="ctr" indent="0" marL="0">
              <a:buNone/>
            </a:pPr>
            <a:r>
              <a:rPr lang="en-US" sz="1200" i="1" dirty="0">
                <a:solidFill>
                  <a:srgbClr val="757575"/>
                </a:solidFill>
                <a:latin typeface="Calibri" pitchFamily="34" charset="0"/>
                <a:ea typeface="Calibri" pitchFamily="34" charset="-122"/>
                <a:cs typeface="Calibri" pitchFamily="34" charset="-120"/>
              </a:rPr>
              <a:t>Upload bill → OCR → benchmark against CGHS rates (city-tier / room variants) → flag deviations → draft IRDAI-compliant appeal.</a:t>
            </a:r>
            <a:endParaRPr lang="en-US" sz="1200" dirty="0"/>
          </a:p>
        </p:txBody>
      </p:sp>
      <p:sp>
        <p:nvSpPr>
          <p:cNvPr id="25" name="Text 23"/>
          <p:cNvSpPr/>
          <p:nvPr/>
        </p:nvSpPr>
        <p:spPr>
          <a:xfrm>
            <a:off x="548640" y="342900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ENGINEERING HARDENING</a:t>
            </a:r>
            <a:endParaRPr lang="en-US" sz="1100" dirty="0"/>
          </a:p>
        </p:txBody>
      </p:sp>
      <p:sp>
        <p:nvSpPr>
          <p:cNvPr id="26" name="Shape 24"/>
          <p:cNvSpPr/>
          <p:nvPr/>
        </p:nvSpPr>
        <p:spPr>
          <a:xfrm>
            <a:off x="548640" y="3730752"/>
            <a:ext cx="6858000" cy="2331720"/>
          </a:xfrm>
          <a:prstGeom prst="roundRect">
            <a:avLst>
              <a:gd name="adj" fmla="val 3922"/>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27" name="Text 25"/>
          <p:cNvSpPr/>
          <p:nvPr/>
        </p:nvSpPr>
        <p:spPr>
          <a:xfrm>
            <a:off x="822960" y="3913632"/>
            <a:ext cx="6309360" cy="201168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200" dirty="0">
                <a:solidFill>
                  <a:srgbClr val="3B3B3B"/>
                </a:solidFill>
                <a:latin typeface="Calibri" pitchFamily="34" charset="0"/>
                <a:ea typeface="Calibri" pitchFamily="34" charset="-122"/>
                <a:cs typeface="Calibri" pitchFamily="34" charset="-120"/>
              </a:rPr>
              <a:t>Integrity checks (arithmetic, date-logic, duplicate-hash) — not authenticity, which needs DB access we don't have</a:t>
            </a:r>
            <a:endParaRPr lang="en-US" sz="1200" dirty="0"/>
          </a:p>
          <a:p>
            <a:pPr marL="177800" indent="-177800">
              <a:lnSpc>
                <a:spcPct val="105000"/>
              </a:lnSpc>
              <a:spcAft>
                <a:spcPts val="800"/>
              </a:spcAft>
              <a:buSzPct val="100000"/>
              <a:buChar char="•"/>
            </a:pPr>
            <a:r>
              <a:rPr lang="en-US" sz="1200" dirty="0">
                <a:solidFill>
                  <a:srgbClr val="3B3B3B"/>
                </a:solidFill>
                <a:latin typeface="Calibri" pitchFamily="34" charset="0"/>
                <a:ea typeface="Calibri" pitchFamily="34" charset="-122"/>
                <a:cs typeface="Calibri" pitchFamily="34" charset="-120"/>
              </a:rPr>
              <a:t>Language discipline: "flags a deviation of X%," never "overcharged"</a:t>
            </a:r>
            <a:endParaRPr lang="en-US" sz="1200" dirty="0"/>
          </a:p>
          <a:p>
            <a:pPr marL="177800" indent="-177800">
              <a:lnSpc>
                <a:spcPct val="105000"/>
              </a:lnSpc>
              <a:spcAft>
                <a:spcPts val="800"/>
              </a:spcAft>
              <a:buSzPct val="100000"/>
              <a:buChar char="•"/>
            </a:pPr>
            <a:r>
              <a:rPr lang="en-US" sz="1200" dirty="0">
                <a:solidFill>
                  <a:srgbClr val="3B3B3B"/>
                </a:solidFill>
                <a:latin typeface="Calibri" pitchFamily="34" charset="0"/>
                <a:ea typeface="Calibri" pitchFamily="34" charset="-122"/>
                <a:cs typeface="Calibri" pitchFamily="34" charset="-120"/>
              </a:rPr>
              <a:t>QA Judge requires a cited source per claim; unsupported claims dropped</a:t>
            </a:r>
            <a:endParaRPr lang="en-US" sz="1200" dirty="0"/>
          </a:p>
          <a:p>
            <a:pPr marL="177800" indent="-177800">
              <a:lnSpc>
                <a:spcPct val="105000"/>
              </a:lnSpc>
              <a:spcAft>
                <a:spcPts val="800"/>
              </a:spcAft>
              <a:buSzPct val="100000"/>
              <a:buChar char="•"/>
            </a:pPr>
            <a:r>
              <a:rPr lang="en-US" sz="1200" dirty="0">
                <a:solidFill>
                  <a:srgbClr val="3B3B3B"/>
                </a:solidFill>
                <a:latin typeface="Calibri" pitchFamily="34" charset="0"/>
                <a:ea typeface="Calibri" pitchFamily="34" charset="-122"/>
                <a:cs typeface="Calibri" pitchFamily="34" charset="-120"/>
              </a:rPr>
              <a:t>Self-report outcome tracker closes the loop</a:t>
            </a:r>
            <a:endParaRPr lang="en-US" sz="1200" dirty="0"/>
          </a:p>
        </p:txBody>
      </p:sp>
      <p:sp>
        <p:nvSpPr>
          <p:cNvPr id="28" name="Text 26"/>
          <p:cNvSpPr/>
          <p:nvPr/>
        </p:nvSpPr>
        <p:spPr>
          <a:xfrm>
            <a:off x="7635240" y="3429000"/>
            <a:ext cx="36576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EXTENDS TO</a:t>
            </a:r>
            <a:endParaRPr lang="en-US" sz="1100" dirty="0"/>
          </a:p>
        </p:txBody>
      </p:sp>
      <p:sp>
        <p:nvSpPr>
          <p:cNvPr id="29" name="Shape 27"/>
          <p:cNvSpPr/>
          <p:nvPr/>
        </p:nvSpPr>
        <p:spPr>
          <a:xfrm>
            <a:off x="7635240" y="3730752"/>
            <a:ext cx="4023360" cy="2331720"/>
          </a:xfrm>
          <a:prstGeom prst="roundRect">
            <a:avLst>
              <a:gd name="adj" fmla="val 3922"/>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30" name="Text 28"/>
          <p:cNvSpPr/>
          <p:nvPr/>
        </p:nvSpPr>
        <p:spPr>
          <a:xfrm>
            <a:off x="7863840" y="3886200"/>
            <a:ext cx="3566160" cy="41148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Grievance Tracking &amp; IRDAI Complaint Drafting</a:t>
            </a:r>
            <a:endParaRPr lang="en-US" sz="1250" dirty="0"/>
          </a:p>
        </p:txBody>
      </p:sp>
      <p:sp>
        <p:nvSpPr>
          <p:cNvPr id="31" name="Text 29"/>
          <p:cNvSpPr/>
          <p:nvPr/>
        </p:nvSpPr>
        <p:spPr>
          <a:xfrm>
            <a:off x="7863840" y="4297680"/>
            <a:ext cx="3566160" cy="1554480"/>
          </a:xfrm>
          <a:prstGeom prst="rect">
            <a:avLst/>
          </a:prstGeom>
          <a:noFill/>
          <a:ln/>
        </p:spPr>
        <p:txBody>
          <a:bodyPr wrap="square" lIns="0" tIns="0" rIns="0" bIns="0" rtlCol="0" anchor="t"/>
          <a:lstStyle/>
          <a:p>
            <a:pPr algn="l" indent="0" marL="0">
              <a:buNone/>
            </a:pPr>
            <a:r>
              <a:rPr lang="en-US" sz="1150" dirty="0">
                <a:solidFill>
                  <a:srgbClr val="3B3B3B"/>
                </a:solidFill>
                <a:latin typeface="Calibri" pitchFamily="34" charset="0"/>
                <a:ea typeface="Calibri" pitchFamily="34" charset="-122"/>
                <a:cs typeface="Calibri" pitchFamily="34" charset="-120"/>
              </a:rPr>
              <a:t>Same pipeline auto-drafts a Bima Bharosa complaint, deep-linked — user submits themselves, since IRDAI bars third-party filing.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9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DawaCheck</a:t>
            </a:r>
            <a:endParaRPr lang="en-US" sz="3200" dirty="0"/>
          </a:p>
        </p:txBody>
      </p:sp>
      <p:sp>
        <p:nvSpPr>
          <p:cNvPr id="4" name="Text 2"/>
          <p:cNvSpPr/>
          <p:nvPr/>
        </p:nvSpPr>
        <p:spPr>
          <a:xfrm>
            <a:off x="548640" y="1234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FLOW</a:t>
            </a:r>
            <a:endParaRPr lang="en-US" sz="1100" dirty="0"/>
          </a:p>
        </p:txBody>
      </p:sp>
      <p:sp>
        <p:nvSpPr>
          <p:cNvPr id="5" name="Shape 3"/>
          <p:cNvSpPr/>
          <p:nvPr/>
        </p:nvSpPr>
        <p:spPr>
          <a:xfrm>
            <a:off x="548640" y="1554480"/>
            <a:ext cx="1965960" cy="594360"/>
          </a:xfrm>
          <a:prstGeom prst="roundRect">
            <a:avLst>
              <a:gd name="adj" fmla="val 12308"/>
            </a:avLst>
          </a:prstGeom>
          <a:solidFill>
            <a:srgbClr val="0078D4"/>
          </a:solidFill>
          <a:ln/>
        </p:spPr>
      </p:sp>
      <p:sp>
        <p:nvSpPr>
          <p:cNvPr id="6" name="Text 4"/>
          <p:cNvSpPr/>
          <p:nvPr/>
        </p:nvSpPr>
        <p:spPr>
          <a:xfrm>
            <a:off x="548640"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Upload photo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prescription</a:t>
            </a:r>
            <a:endParaRPr lang="en-US" sz="1150" dirty="0"/>
          </a:p>
        </p:txBody>
      </p:sp>
      <p:sp>
        <p:nvSpPr>
          <p:cNvPr id="7" name="Shape 5"/>
          <p:cNvSpPr/>
          <p:nvPr/>
        </p:nvSpPr>
        <p:spPr>
          <a:xfrm>
            <a:off x="2560320" y="1847088"/>
            <a:ext cx="201168" cy="0"/>
          </a:xfrm>
          <a:prstGeom prst="line">
            <a:avLst/>
          </a:prstGeom>
          <a:noFill/>
          <a:ln w="15875">
            <a:solidFill>
              <a:srgbClr val="0078D4"/>
            </a:solidFill>
            <a:prstDash val="solid"/>
            <a:tailEnd type="triangle"/>
          </a:ln>
        </p:spPr>
      </p:sp>
      <p:sp>
        <p:nvSpPr>
          <p:cNvPr id="8" name="Shape 6"/>
          <p:cNvSpPr/>
          <p:nvPr/>
        </p:nvSpPr>
        <p:spPr>
          <a:xfrm>
            <a:off x="2761488" y="1554480"/>
            <a:ext cx="1965960" cy="594360"/>
          </a:xfrm>
          <a:prstGeom prst="roundRect">
            <a:avLst>
              <a:gd name="adj" fmla="val 12308"/>
            </a:avLst>
          </a:prstGeom>
          <a:solidFill>
            <a:srgbClr val="0078D4"/>
          </a:solidFill>
          <a:ln/>
        </p:spPr>
      </p:sp>
      <p:sp>
        <p:nvSpPr>
          <p:cNvPr id="9" name="Text 7"/>
          <p:cNvSpPr/>
          <p:nvPr/>
        </p:nvSpPr>
        <p:spPr>
          <a:xfrm>
            <a:off x="2761488"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OCR reads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drug name</a:t>
            </a:r>
            <a:endParaRPr lang="en-US" sz="1150" dirty="0"/>
          </a:p>
        </p:txBody>
      </p:sp>
      <p:sp>
        <p:nvSpPr>
          <p:cNvPr id="10" name="Shape 8"/>
          <p:cNvSpPr/>
          <p:nvPr/>
        </p:nvSpPr>
        <p:spPr>
          <a:xfrm>
            <a:off x="4773168" y="1847088"/>
            <a:ext cx="201168" cy="0"/>
          </a:xfrm>
          <a:prstGeom prst="line">
            <a:avLst/>
          </a:prstGeom>
          <a:noFill/>
          <a:ln w="15875">
            <a:solidFill>
              <a:srgbClr val="0078D4"/>
            </a:solidFill>
            <a:prstDash val="solid"/>
            <a:tailEnd type="triangle"/>
          </a:ln>
        </p:spPr>
      </p:sp>
      <p:sp>
        <p:nvSpPr>
          <p:cNvPr id="11" name="Shape 9"/>
          <p:cNvSpPr/>
          <p:nvPr/>
        </p:nvSpPr>
        <p:spPr>
          <a:xfrm>
            <a:off x="4974336" y="1554480"/>
            <a:ext cx="1965960" cy="594360"/>
          </a:xfrm>
          <a:prstGeom prst="roundRect">
            <a:avLst>
              <a:gd name="adj" fmla="val 12308"/>
            </a:avLst>
          </a:prstGeom>
          <a:solidFill>
            <a:srgbClr val="0078D4"/>
          </a:solidFill>
          <a:ln/>
        </p:spPr>
      </p:sp>
      <p:sp>
        <p:nvSpPr>
          <p:cNvPr id="12" name="Text 10"/>
          <p:cNvSpPr/>
          <p:nvPr/>
        </p:nvSpPr>
        <p:spPr>
          <a:xfrm>
            <a:off x="4974336"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Benchmark vs.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NPPA ceiling</a:t>
            </a:r>
            <a:endParaRPr lang="en-US" sz="1150" dirty="0"/>
          </a:p>
        </p:txBody>
      </p:sp>
      <p:sp>
        <p:nvSpPr>
          <p:cNvPr id="13" name="Shape 11"/>
          <p:cNvSpPr/>
          <p:nvPr/>
        </p:nvSpPr>
        <p:spPr>
          <a:xfrm>
            <a:off x="6986016" y="1847088"/>
            <a:ext cx="201168" cy="0"/>
          </a:xfrm>
          <a:prstGeom prst="line">
            <a:avLst/>
          </a:prstGeom>
          <a:noFill/>
          <a:ln w="15875">
            <a:solidFill>
              <a:srgbClr val="0078D4"/>
            </a:solidFill>
            <a:prstDash val="solid"/>
            <a:tailEnd type="triangle"/>
          </a:ln>
        </p:spPr>
      </p:sp>
      <p:sp>
        <p:nvSpPr>
          <p:cNvPr id="14" name="Shape 12"/>
          <p:cNvSpPr/>
          <p:nvPr/>
        </p:nvSpPr>
        <p:spPr>
          <a:xfrm>
            <a:off x="7187184" y="1554480"/>
            <a:ext cx="1965960" cy="594360"/>
          </a:xfrm>
          <a:prstGeom prst="roundRect">
            <a:avLst>
              <a:gd name="adj" fmla="val 12308"/>
            </a:avLst>
          </a:prstGeom>
          <a:solidFill>
            <a:srgbClr val="0078D4"/>
          </a:solidFill>
          <a:ln/>
        </p:spPr>
      </p:sp>
      <p:sp>
        <p:nvSpPr>
          <p:cNvPr id="15" name="Text 13"/>
          <p:cNvSpPr/>
          <p:nvPr/>
        </p:nvSpPr>
        <p:spPr>
          <a:xfrm>
            <a:off x="7187184"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Flag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suggest generic</a:t>
            </a:r>
            <a:endParaRPr lang="en-US" sz="1150" dirty="0"/>
          </a:p>
        </p:txBody>
      </p:sp>
      <p:sp>
        <p:nvSpPr>
          <p:cNvPr id="16" name="Shape 14"/>
          <p:cNvSpPr/>
          <p:nvPr/>
        </p:nvSpPr>
        <p:spPr>
          <a:xfrm>
            <a:off x="548640" y="2514600"/>
            <a:ext cx="10881360" cy="1691640"/>
          </a:xfrm>
          <a:prstGeom prst="roundRect">
            <a:avLst>
              <a:gd name="adj" fmla="val 5405"/>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17" name="Text 15"/>
          <p:cNvSpPr/>
          <p:nvPr/>
        </p:nvSpPr>
        <p:spPr>
          <a:xfrm>
            <a:off x="868680" y="2697480"/>
            <a:ext cx="10241280" cy="1371600"/>
          </a:xfrm>
          <a:prstGeom prst="rect">
            <a:avLst/>
          </a:prstGeom>
          <a:noFill/>
          <a:ln/>
        </p:spPr>
        <p:txBody>
          <a:bodyPr wrap="square" lIns="0" tIns="0" rIns="0" bIns="0" rtlCol="0" anchor="t"/>
          <a:lstStyle/>
          <a:p>
            <a:pPr algn="l" indent="0" marL="0">
              <a:buNone/>
            </a:pPr>
            <a:r>
              <a:rPr lang="en-US" sz="1300" dirty="0">
                <a:solidFill>
                  <a:srgbClr val="3B3B3B"/>
                </a:solidFill>
                <a:latin typeface="Calibri" pitchFamily="34" charset="0"/>
                <a:ea typeface="Calibri" pitchFamily="34" charset="-122"/>
                <a:cs typeface="Calibri" pitchFamily="34" charset="-120"/>
              </a:rPr>
              <a:t>DawaCheck checks a medicine strip photo or prescription against NPPA's Schedule-I ceiling price list, flags overcharging, and surfaces generic awareness — never a medical recommendation.</a:t>
            </a:r>
            <a:endParaRPr lang="en-US" sz="1300" dirty="0"/>
          </a:p>
        </p:txBody>
      </p:sp>
      <p:sp>
        <p:nvSpPr>
          <p:cNvPr id="18" name="Shape 16"/>
          <p:cNvSpPr/>
          <p:nvPr/>
        </p:nvSpPr>
        <p:spPr>
          <a:xfrm>
            <a:off x="548640" y="4434840"/>
            <a:ext cx="10881360" cy="1600200"/>
          </a:xfrm>
          <a:prstGeom prst="roundRect">
            <a:avLst>
              <a:gd name="adj" fmla="val 6857"/>
            </a:avLst>
          </a:prstGeom>
          <a:solidFill>
            <a:srgbClr val="EAF3FB"/>
          </a:solidFill>
          <a:ln w="12700">
            <a:solidFill>
              <a:srgbClr val="0078D4"/>
            </a:solidFill>
            <a:prstDash val="solid"/>
          </a:ln>
        </p:spPr>
      </p:sp>
      <p:sp>
        <p:nvSpPr>
          <p:cNvPr id="19" name="Text 17"/>
          <p:cNvSpPr/>
          <p:nvPr/>
        </p:nvSpPr>
        <p:spPr>
          <a:xfrm>
            <a:off x="868680" y="4590288"/>
            <a:ext cx="10241280" cy="320040"/>
          </a:xfrm>
          <a:prstGeom prst="rect">
            <a:avLst/>
          </a:prstGeom>
          <a:noFill/>
          <a:ln/>
        </p:spPr>
        <p:txBody>
          <a:bodyPr wrap="square" lIns="0" tIns="0" rIns="0" bIns="0" rtlCol="0" anchor="t"/>
          <a:lstStyle/>
          <a:p>
            <a:pPr algn="l" indent="0" marL="0">
              <a:buNone/>
            </a:pPr>
            <a:r>
              <a:rPr lang="en-US" sz="1350" b="1" dirty="0">
                <a:solidFill>
                  <a:srgbClr val="005A9E"/>
                </a:solidFill>
                <a:latin typeface="Calibri" pitchFamily="34" charset="0"/>
                <a:ea typeface="Calibri" pitchFamily="34" charset="-122"/>
                <a:cs typeface="Calibri" pitchFamily="34" charset="-120"/>
              </a:rPr>
              <a:t>Scoped to Schedule-I — by Design</a:t>
            </a:r>
            <a:endParaRPr lang="en-US" sz="1350" dirty="0"/>
          </a:p>
        </p:txBody>
      </p:sp>
      <p:sp>
        <p:nvSpPr>
          <p:cNvPr id="20" name="Text 18"/>
          <p:cNvSpPr/>
          <p:nvPr/>
        </p:nvSpPr>
        <p:spPr>
          <a:xfrm>
            <a:off x="868680" y="4937760"/>
            <a:ext cx="10241280" cy="10058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The one segment with a clean, finite, government-published ground truth (~800–900 formulations)</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Non-scheduled / patented drugs have no defensible benchmark — a deliberate boundary, not a gap</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Generic suggestions are awareness-only ("available at your nearest Jan Aushadhi/PMBJP store") — never a switch recommendation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10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SchemeSetu</a:t>
            </a:r>
            <a:endParaRPr lang="en-US" sz="3200" dirty="0"/>
          </a:p>
        </p:txBody>
      </p:sp>
      <p:sp>
        <p:nvSpPr>
          <p:cNvPr id="4" name="Text 2"/>
          <p:cNvSpPr/>
          <p:nvPr/>
        </p:nvSpPr>
        <p:spPr>
          <a:xfrm>
            <a:off x="548640" y="1234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FLOW</a:t>
            </a:r>
            <a:endParaRPr lang="en-US" sz="1100" dirty="0"/>
          </a:p>
        </p:txBody>
      </p:sp>
      <p:sp>
        <p:nvSpPr>
          <p:cNvPr id="5" name="Shape 3"/>
          <p:cNvSpPr/>
          <p:nvPr/>
        </p:nvSpPr>
        <p:spPr>
          <a:xfrm>
            <a:off x="548640" y="1554480"/>
            <a:ext cx="1965960" cy="594360"/>
          </a:xfrm>
          <a:prstGeom prst="roundRect">
            <a:avLst>
              <a:gd name="adj" fmla="val 12308"/>
            </a:avLst>
          </a:prstGeom>
          <a:solidFill>
            <a:srgbClr val="0078D4"/>
          </a:solidFill>
          <a:ln/>
        </p:spPr>
      </p:sp>
      <p:sp>
        <p:nvSpPr>
          <p:cNvPr id="6" name="Text 4"/>
          <p:cNvSpPr/>
          <p:nvPr/>
        </p:nvSpPr>
        <p:spPr>
          <a:xfrm>
            <a:off x="548640"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Intake or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upload</a:t>
            </a:r>
            <a:endParaRPr lang="en-US" sz="1150" dirty="0"/>
          </a:p>
        </p:txBody>
      </p:sp>
      <p:sp>
        <p:nvSpPr>
          <p:cNvPr id="7" name="Shape 5"/>
          <p:cNvSpPr/>
          <p:nvPr/>
        </p:nvSpPr>
        <p:spPr>
          <a:xfrm>
            <a:off x="2560320" y="1847088"/>
            <a:ext cx="201168" cy="0"/>
          </a:xfrm>
          <a:prstGeom prst="line">
            <a:avLst/>
          </a:prstGeom>
          <a:noFill/>
          <a:ln w="15875">
            <a:solidFill>
              <a:srgbClr val="0078D4"/>
            </a:solidFill>
            <a:prstDash val="solid"/>
            <a:tailEnd type="triangle"/>
          </a:ln>
        </p:spPr>
      </p:sp>
      <p:sp>
        <p:nvSpPr>
          <p:cNvPr id="8" name="Shape 6"/>
          <p:cNvSpPr/>
          <p:nvPr/>
        </p:nvSpPr>
        <p:spPr>
          <a:xfrm>
            <a:off x="2761488" y="1554480"/>
            <a:ext cx="1965960" cy="594360"/>
          </a:xfrm>
          <a:prstGeom prst="roundRect">
            <a:avLst>
              <a:gd name="adj" fmla="val 12308"/>
            </a:avLst>
          </a:prstGeom>
          <a:solidFill>
            <a:srgbClr val="0078D4"/>
          </a:solidFill>
          <a:ln/>
        </p:spPr>
      </p:sp>
      <p:sp>
        <p:nvSpPr>
          <p:cNvPr id="9" name="Text 7"/>
          <p:cNvSpPr/>
          <p:nvPr/>
        </p:nvSpPr>
        <p:spPr>
          <a:xfrm>
            <a:off x="2761488"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RAG over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PMJAY/MJPJAY</a:t>
            </a:r>
            <a:endParaRPr lang="en-US" sz="1150" dirty="0"/>
          </a:p>
        </p:txBody>
      </p:sp>
      <p:sp>
        <p:nvSpPr>
          <p:cNvPr id="10" name="Shape 8"/>
          <p:cNvSpPr/>
          <p:nvPr/>
        </p:nvSpPr>
        <p:spPr>
          <a:xfrm>
            <a:off x="4773168" y="1847088"/>
            <a:ext cx="201168" cy="0"/>
          </a:xfrm>
          <a:prstGeom prst="line">
            <a:avLst/>
          </a:prstGeom>
          <a:noFill/>
          <a:ln w="15875">
            <a:solidFill>
              <a:srgbClr val="0078D4"/>
            </a:solidFill>
            <a:prstDash val="solid"/>
            <a:tailEnd type="triangle"/>
          </a:ln>
        </p:spPr>
      </p:sp>
      <p:sp>
        <p:nvSpPr>
          <p:cNvPr id="11" name="Shape 9"/>
          <p:cNvSpPr/>
          <p:nvPr/>
        </p:nvSpPr>
        <p:spPr>
          <a:xfrm>
            <a:off x="4974336" y="1554480"/>
            <a:ext cx="1965960" cy="594360"/>
          </a:xfrm>
          <a:prstGeom prst="roundRect">
            <a:avLst>
              <a:gd name="adj" fmla="val 12308"/>
            </a:avLst>
          </a:prstGeom>
          <a:solidFill>
            <a:srgbClr val="0078D4"/>
          </a:solidFill>
          <a:ln/>
        </p:spPr>
      </p:sp>
      <p:sp>
        <p:nvSpPr>
          <p:cNvPr id="12" name="Text 10"/>
          <p:cNvSpPr/>
          <p:nvPr/>
        </p:nvSpPr>
        <p:spPr>
          <a:xfrm>
            <a:off x="4974336"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Eligibility</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reasoning</a:t>
            </a:r>
            <a:endParaRPr lang="en-US" sz="1150" dirty="0"/>
          </a:p>
        </p:txBody>
      </p:sp>
      <p:sp>
        <p:nvSpPr>
          <p:cNvPr id="13" name="Shape 11"/>
          <p:cNvSpPr/>
          <p:nvPr/>
        </p:nvSpPr>
        <p:spPr>
          <a:xfrm>
            <a:off x="6986016" y="1847088"/>
            <a:ext cx="201168" cy="0"/>
          </a:xfrm>
          <a:prstGeom prst="line">
            <a:avLst/>
          </a:prstGeom>
          <a:noFill/>
          <a:ln w="15875">
            <a:solidFill>
              <a:srgbClr val="0078D4"/>
            </a:solidFill>
            <a:prstDash val="solid"/>
            <a:tailEnd type="triangle"/>
          </a:ln>
        </p:spPr>
      </p:sp>
      <p:sp>
        <p:nvSpPr>
          <p:cNvPr id="14" name="Shape 12"/>
          <p:cNvSpPr/>
          <p:nvPr/>
        </p:nvSpPr>
        <p:spPr>
          <a:xfrm>
            <a:off x="7187184" y="1554480"/>
            <a:ext cx="1965960" cy="594360"/>
          </a:xfrm>
          <a:prstGeom prst="roundRect">
            <a:avLst>
              <a:gd name="adj" fmla="val 12308"/>
            </a:avLst>
          </a:prstGeom>
          <a:solidFill>
            <a:srgbClr val="0078D4"/>
          </a:solidFill>
          <a:ln/>
        </p:spPr>
      </p:sp>
      <p:sp>
        <p:nvSpPr>
          <p:cNvPr id="15" name="Text 13"/>
          <p:cNvSpPr/>
          <p:nvPr/>
        </p:nvSpPr>
        <p:spPr>
          <a:xfrm>
            <a:off x="7187184"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Step-by-step</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claim guide</a:t>
            </a:r>
            <a:endParaRPr lang="en-US" sz="1150" dirty="0"/>
          </a:p>
        </p:txBody>
      </p:sp>
      <p:sp>
        <p:nvSpPr>
          <p:cNvPr id="16" name="Shape 14"/>
          <p:cNvSpPr/>
          <p:nvPr/>
        </p:nvSpPr>
        <p:spPr>
          <a:xfrm>
            <a:off x="548640" y="2514600"/>
            <a:ext cx="10881360" cy="1691640"/>
          </a:xfrm>
          <a:prstGeom prst="roundRect">
            <a:avLst>
              <a:gd name="adj" fmla="val 5405"/>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17" name="Text 15"/>
          <p:cNvSpPr/>
          <p:nvPr/>
        </p:nvSpPr>
        <p:spPr>
          <a:xfrm>
            <a:off x="868680" y="2697480"/>
            <a:ext cx="10241280" cy="1371600"/>
          </a:xfrm>
          <a:prstGeom prst="rect">
            <a:avLst/>
          </a:prstGeom>
          <a:noFill/>
          <a:ln/>
        </p:spPr>
        <p:txBody>
          <a:bodyPr wrap="square" lIns="0" tIns="0" rIns="0" bIns="0" rtlCol="0" anchor="t"/>
          <a:lstStyle/>
          <a:p>
            <a:pPr algn="l" indent="0" marL="0">
              <a:buNone/>
            </a:pPr>
            <a:r>
              <a:rPr lang="en-US" sz="1300" dirty="0">
                <a:solidFill>
                  <a:srgbClr val="3B3B3B"/>
                </a:solidFill>
                <a:latin typeface="Calibri" pitchFamily="34" charset="0"/>
                <a:ea typeface="Calibri" pitchFamily="34" charset="-122"/>
                <a:cs typeface="Calibri" pitchFamily="34" charset="-120"/>
              </a:rPr>
              <a:t>SchemeSetu retrieves from PMJAY (national) and MJPJAY (Maharashtra) scheme documents to reason through eligibility and produce a step-by-step claim guide.</a:t>
            </a:r>
            <a:endParaRPr lang="en-US" sz="1300" dirty="0"/>
          </a:p>
        </p:txBody>
      </p:sp>
      <p:sp>
        <p:nvSpPr>
          <p:cNvPr id="18" name="Shape 16"/>
          <p:cNvSpPr/>
          <p:nvPr/>
        </p:nvSpPr>
        <p:spPr>
          <a:xfrm>
            <a:off x="548640" y="4434840"/>
            <a:ext cx="10881360" cy="1600200"/>
          </a:xfrm>
          <a:prstGeom prst="roundRect">
            <a:avLst>
              <a:gd name="adj" fmla="val 6857"/>
            </a:avLst>
          </a:prstGeom>
          <a:solidFill>
            <a:srgbClr val="EAF3FB"/>
          </a:solidFill>
          <a:ln w="12700">
            <a:solidFill>
              <a:srgbClr val="0078D4"/>
            </a:solidFill>
            <a:prstDash val="solid"/>
          </a:ln>
        </p:spPr>
      </p:sp>
      <p:sp>
        <p:nvSpPr>
          <p:cNvPr id="19" name="Text 17"/>
          <p:cNvSpPr/>
          <p:nvPr/>
        </p:nvSpPr>
        <p:spPr>
          <a:xfrm>
            <a:off x="868680" y="4590288"/>
            <a:ext cx="10241280" cy="320040"/>
          </a:xfrm>
          <a:prstGeom prst="rect">
            <a:avLst/>
          </a:prstGeom>
          <a:noFill/>
          <a:ln/>
        </p:spPr>
        <p:txBody>
          <a:bodyPr wrap="square" lIns="0" tIns="0" rIns="0" bIns="0" rtlCol="0" anchor="t"/>
          <a:lstStyle/>
          <a:p>
            <a:pPr algn="l" indent="0" marL="0">
              <a:buNone/>
            </a:pPr>
            <a:r>
              <a:rPr lang="en-US" sz="1350" b="1" dirty="0">
                <a:solidFill>
                  <a:srgbClr val="005A9E"/>
                </a:solidFill>
                <a:latin typeface="Calibri" pitchFamily="34" charset="0"/>
                <a:ea typeface="Calibri" pitchFamily="34" charset="-122"/>
                <a:cs typeface="Calibri" pitchFamily="34" charset="-120"/>
              </a:rPr>
              <a:t>Eligibility Language Discipline</a:t>
            </a:r>
            <a:endParaRPr lang="en-US" sz="1350" dirty="0"/>
          </a:p>
        </p:txBody>
      </p:sp>
      <p:sp>
        <p:nvSpPr>
          <p:cNvPr id="20" name="Text 18"/>
          <p:cNvSpPr/>
          <p:nvPr/>
        </p:nvSpPr>
        <p:spPr>
          <a:xfrm>
            <a:off x="868680" y="4937760"/>
            <a:ext cx="10241280" cy="10058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"Estimated eligibility," never "You qualify" — final approval is a government step outside this system's authority</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"Data last verified: [date]" shown on every output</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Monthly re-verification task against PMJAY/MJPJAY source portals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11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DaaviSetu</a:t>
            </a:r>
            <a:endParaRPr lang="en-US" sz="3200" dirty="0"/>
          </a:p>
        </p:txBody>
      </p:sp>
      <p:sp>
        <p:nvSpPr>
          <p:cNvPr id="4" name="Text 2"/>
          <p:cNvSpPr/>
          <p:nvPr/>
        </p:nvSpPr>
        <p:spPr>
          <a:xfrm>
            <a:off x="548640" y="123444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FLOW</a:t>
            </a:r>
            <a:endParaRPr lang="en-US" sz="1100" dirty="0"/>
          </a:p>
        </p:txBody>
      </p:sp>
      <p:sp>
        <p:nvSpPr>
          <p:cNvPr id="5" name="Shape 3"/>
          <p:cNvSpPr/>
          <p:nvPr/>
        </p:nvSpPr>
        <p:spPr>
          <a:xfrm>
            <a:off x="548640" y="1554480"/>
            <a:ext cx="1965960" cy="594360"/>
          </a:xfrm>
          <a:prstGeom prst="roundRect">
            <a:avLst>
              <a:gd name="adj" fmla="val 12308"/>
            </a:avLst>
          </a:prstGeom>
          <a:solidFill>
            <a:srgbClr val="0078D4"/>
          </a:solidFill>
          <a:ln/>
        </p:spPr>
      </p:sp>
      <p:sp>
        <p:nvSpPr>
          <p:cNvPr id="6" name="Text 4"/>
          <p:cNvSpPr/>
          <p:nvPr/>
        </p:nvSpPr>
        <p:spPr>
          <a:xfrm>
            <a:off x="548640"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Kadi-parsed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documents</a:t>
            </a:r>
            <a:endParaRPr lang="en-US" sz="1150" dirty="0"/>
          </a:p>
        </p:txBody>
      </p:sp>
      <p:sp>
        <p:nvSpPr>
          <p:cNvPr id="7" name="Shape 5"/>
          <p:cNvSpPr/>
          <p:nvPr/>
        </p:nvSpPr>
        <p:spPr>
          <a:xfrm>
            <a:off x="2560320" y="1847088"/>
            <a:ext cx="201168" cy="0"/>
          </a:xfrm>
          <a:prstGeom prst="line">
            <a:avLst/>
          </a:prstGeom>
          <a:noFill/>
          <a:ln w="15875">
            <a:solidFill>
              <a:srgbClr val="0078D4"/>
            </a:solidFill>
            <a:prstDash val="solid"/>
            <a:tailEnd type="triangle"/>
          </a:ln>
        </p:spPr>
      </p:sp>
      <p:sp>
        <p:nvSpPr>
          <p:cNvPr id="8" name="Shape 6"/>
          <p:cNvSpPr/>
          <p:nvPr/>
        </p:nvSpPr>
        <p:spPr>
          <a:xfrm>
            <a:off x="2761488" y="1554480"/>
            <a:ext cx="1965960" cy="594360"/>
          </a:xfrm>
          <a:prstGeom prst="roundRect">
            <a:avLst>
              <a:gd name="adj" fmla="val 12308"/>
            </a:avLst>
          </a:prstGeom>
          <a:solidFill>
            <a:srgbClr val="0078D4"/>
          </a:solidFill>
          <a:ln/>
        </p:spPr>
      </p:sp>
      <p:sp>
        <p:nvSpPr>
          <p:cNvPr id="9" name="Text 7"/>
          <p:cNvSpPr/>
          <p:nvPr/>
        </p:nvSpPr>
        <p:spPr>
          <a:xfrm>
            <a:off x="2761488"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Auto-fill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claim form</a:t>
            </a:r>
            <a:endParaRPr lang="en-US" sz="1150" dirty="0"/>
          </a:p>
        </p:txBody>
      </p:sp>
      <p:sp>
        <p:nvSpPr>
          <p:cNvPr id="10" name="Shape 8"/>
          <p:cNvSpPr/>
          <p:nvPr/>
        </p:nvSpPr>
        <p:spPr>
          <a:xfrm>
            <a:off x="4773168" y="1847088"/>
            <a:ext cx="201168" cy="0"/>
          </a:xfrm>
          <a:prstGeom prst="line">
            <a:avLst/>
          </a:prstGeom>
          <a:noFill/>
          <a:ln w="15875">
            <a:solidFill>
              <a:srgbClr val="0078D4"/>
            </a:solidFill>
            <a:prstDash val="solid"/>
            <a:tailEnd type="triangle"/>
          </a:ln>
        </p:spPr>
      </p:sp>
      <p:sp>
        <p:nvSpPr>
          <p:cNvPr id="11" name="Shape 9"/>
          <p:cNvSpPr/>
          <p:nvPr/>
        </p:nvSpPr>
        <p:spPr>
          <a:xfrm>
            <a:off x="4974336" y="1554480"/>
            <a:ext cx="1965960" cy="594360"/>
          </a:xfrm>
          <a:prstGeom prst="roundRect">
            <a:avLst>
              <a:gd name="adj" fmla="val 12308"/>
            </a:avLst>
          </a:prstGeom>
          <a:solidFill>
            <a:srgbClr val="0078D4"/>
          </a:solidFill>
          <a:ln/>
        </p:spPr>
      </p:sp>
      <p:sp>
        <p:nvSpPr>
          <p:cNvPr id="12" name="Text 10"/>
          <p:cNvSpPr/>
          <p:nvPr/>
        </p:nvSpPr>
        <p:spPr>
          <a:xfrm>
            <a:off x="4974336"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package</a:t>
            </a:r>
            <a:endParaRPr lang="en-US" sz="1150" dirty="0"/>
          </a:p>
        </p:txBody>
      </p:sp>
      <p:sp>
        <p:nvSpPr>
          <p:cNvPr id="13" name="Shape 11"/>
          <p:cNvSpPr/>
          <p:nvPr/>
        </p:nvSpPr>
        <p:spPr>
          <a:xfrm>
            <a:off x="6986016" y="1847088"/>
            <a:ext cx="201168" cy="0"/>
          </a:xfrm>
          <a:prstGeom prst="line">
            <a:avLst/>
          </a:prstGeom>
          <a:noFill/>
          <a:ln w="15875">
            <a:solidFill>
              <a:srgbClr val="0078D4"/>
            </a:solidFill>
            <a:prstDash val="solid"/>
            <a:tailEnd type="triangle"/>
          </a:ln>
        </p:spPr>
      </p:sp>
      <p:sp>
        <p:nvSpPr>
          <p:cNvPr id="14" name="Shape 12"/>
          <p:cNvSpPr/>
          <p:nvPr/>
        </p:nvSpPr>
        <p:spPr>
          <a:xfrm>
            <a:off x="7187184" y="1554480"/>
            <a:ext cx="1965960" cy="594360"/>
          </a:xfrm>
          <a:prstGeom prst="roundRect">
            <a:avLst>
              <a:gd name="adj" fmla="val 12308"/>
            </a:avLst>
          </a:prstGeom>
          <a:solidFill>
            <a:srgbClr val="0078D4"/>
          </a:solidFill>
          <a:ln/>
        </p:spPr>
      </p:sp>
      <p:sp>
        <p:nvSpPr>
          <p:cNvPr id="15" name="Text 13"/>
          <p:cNvSpPr/>
          <p:nvPr/>
        </p:nvSpPr>
        <p:spPr>
          <a:xfrm>
            <a:off x="7187184" y="1554480"/>
            <a:ext cx="1965960" cy="59436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submits</a:t>
            </a:r>
            <a:endParaRPr lang="en-US" sz="1150" dirty="0"/>
          </a:p>
        </p:txBody>
      </p:sp>
      <p:sp>
        <p:nvSpPr>
          <p:cNvPr id="16" name="Shape 14"/>
          <p:cNvSpPr/>
          <p:nvPr/>
        </p:nvSpPr>
        <p:spPr>
          <a:xfrm>
            <a:off x="548640" y="2514600"/>
            <a:ext cx="10881360" cy="1691640"/>
          </a:xfrm>
          <a:prstGeom prst="roundRect">
            <a:avLst>
              <a:gd name="adj" fmla="val 5405"/>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17" name="Text 15"/>
          <p:cNvSpPr/>
          <p:nvPr/>
        </p:nvSpPr>
        <p:spPr>
          <a:xfrm>
            <a:off x="868680" y="2697480"/>
            <a:ext cx="10241280" cy="1371600"/>
          </a:xfrm>
          <a:prstGeom prst="rect">
            <a:avLst/>
          </a:prstGeom>
          <a:noFill/>
          <a:ln/>
        </p:spPr>
        <p:txBody>
          <a:bodyPr wrap="square" lIns="0" tIns="0" rIns="0" bIns="0" rtlCol="0" anchor="t"/>
          <a:lstStyle/>
          <a:p>
            <a:pPr algn="l" indent="0" marL="0">
              <a:buNone/>
            </a:pPr>
            <a:r>
              <a:rPr lang="en-US" sz="1300" dirty="0">
                <a:solidFill>
                  <a:srgbClr val="3B3B3B"/>
                </a:solidFill>
                <a:latin typeface="Calibri" pitchFamily="34" charset="0"/>
                <a:ea typeface="Calibri" pitchFamily="34" charset="-122"/>
                <a:cs typeface="Calibri" pitchFamily="34" charset="-120"/>
              </a:rPr>
              <a:t>DaaviSetu auto-fills cashless pre-authorization / reimbursement claim forms — policy number, diagnosis, treatment plan, cost estimate — using what Kadi already knows. Covers the pre/during-treatment pain point, distinct from BillNyay's post-treatment dispute flow.</a:t>
            </a:r>
            <a:endParaRPr lang="en-US" sz="1300" dirty="0"/>
          </a:p>
        </p:txBody>
      </p:sp>
      <p:sp>
        <p:nvSpPr>
          <p:cNvPr id="18" name="Shape 16"/>
          <p:cNvSpPr/>
          <p:nvPr/>
        </p:nvSpPr>
        <p:spPr>
          <a:xfrm>
            <a:off x="548640" y="4434840"/>
            <a:ext cx="10881360" cy="1600200"/>
          </a:xfrm>
          <a:prstGeom prst="roundRect">
            <a:avLst>
              <a:gd name="adj" fmla="val 6857"/>
            </a:avLst>
          </a:prstGeom>
          <a:solidFill>
            <a:srgbClr val="F6EBE9"/>
          </a:solidFill>
          <a:ln w="12700">
            <a:solidFill>
              <a:srgbClr val="8E4A42"/>
            </a:solidFill>
            <a:prstDash val="solid"/>
          </a:ln>
        </p:spPr>
      </p:sp>
      <p:sp>
        <p:nvSpPr>
          <p:cNvPr id="19" name="Text 17"/>
          <p:cNvSpPr/>
          <p:nvPr/>
        </p:nvSpPr>
        <p:spPr>
          <a:xfrm>
            <a:off x="868680" y="4590288"/>
            <a:ext cx="10241280" cy="320040"/>
          </a:xfrm>
          <a:prstGeom prst="rect">
            <a:avLst/>
          </a:prstGeom>
          <a:noFill/>
          <a:ln/>
        </p:spPr>
        <p:txBody>
          <a:bodyPr wrap="square" lIns="0" tIns="0" rIns="0" bIns="0" rtlCol="0" anchor="t"/>
          <a:lstStyle/>
          <a:p>
            <a:pPr algn="l" indent="0" marL="0">
              <a:buNone/>
            </a:pPr>
            <a:r>
              <a:rPr lang="en-US" sz="1350" b="1" dirty="0">
                <a:solidFill>
                  <a:srgbClr val="8E4A42"/>
                </a:solidFill>
                <a:latin typeface="Calibri" pitchFamily="34" charset="0"/>
                <a:ea typeface="Calibri" pitchFamily="34" charset="-122"/>
                <a:cs typeface="Calibri" pitchFamily="34" charset="-120"/>
              </a:rPr>
              <a:t>Hard Constraint (External, Not Chosen)</a:t>
            </a:r>
            <a:endParaRPr lang="en-US" sz="1350" dirty="0"/>
          </a:p>
        </p:txBody>
      </p:sp>
      <p:sp>
        <p:nvSpPr>
          <p:cNvPr id="20" name="Text 18"/>
          <p:cNvSpPr/>
          <p:nvPr/>
        </p:nvSpPr>
        <p:spPr>
          <a:xfrm>
            <a:off x="868680" y="4937760"/>
            <a:ext cx="10241280" cy="10058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No private insurer exposes a public claim-submission API</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ABDM's cross-payer exchange (HCX) is still work-in-progress infrastructure</a:t>
            </a:r>
            <a:endParaRPr lang="en-US" sz="1200" dirty="0"/>
          </a:p>
          <a:p>
            <a:pPr marL="177800" indent="-177800">
              <a:lnSpc>
                <a:spcPct val="105000"/>
              </a:lnSpc>
              <a:spcAft>
                <a:spcPts val="400"/>
              </a:spcAft>
              <a:buSzPct val="100000"/>
              <a:buChar char="•"/>
            </a:pPr>
            <a:r>
              <a:rPr lang="en-US" sz="1200" dirty="0">
                <a:solidFill>
                  <a:srgbClr val="3B3B3B"/>
                </a:solidFill>
                <a:latin typeface="Calibri" pitchFamily="34" charset="0"/>
                <a:ea typeface="Calibri" pitchFamily="34" charset="-122"/>
                <a:cs typeface="Calibri" pitchFamily="34" charset="-120"/>
              </a:rPr>
              <a:t>This module does not — and cannot — submit claims directly to any insurer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12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Entity Resolution</a:t>
            </a:r>
            <a:endParaRPr lang="en-US" sz="3200" dirty="0"/>
          </a:p>
        </p:txBody>
      </p:sp>
      <p:sp>
        <p:nvSpPr>
          <p:cNvPr id="4" name="Text 2"/>
          <p:cNvSpPr/>
          <p:nvPr/>
        </p:nvSpPr>
        <p:spPr>
          <a:xfrm>
            <a:off x="548640" y="118872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THE HARD PROBLEM</a:t>
            </a:r>
            <a:endParaRPr lang="en-US" sz="1100" dirty="0"/>
          </a:p>
        </p:txBody>
      </p:sp>
      <p:sp>
        <p:nvSpPr>
          <p:cNvPr id="5" name="Shape 3"/>
          <p:cNvSpPr/>
          <p:nvPr/>
        </p:nvSpPr>
        <p:spPr>
          <a:xfrm>
            <a:off x="548640" y="1508760"/>
            <a:ext cx="1737360" cy="594360"/>
          </a:xfrm>
          <a:prstGeom prst="roundRect">
            <a:avLst>
              <a:gd name="adj" fmla="val 12308"/>
            </a:avLst>
          </a:prstGeom>
          <a:solidFill>
            <a:srgbClr val="FFFFFF"/>
          </a:solidFill>
          <a:ln/>
        </p:spPr>
      </p:sp>
      <p:sp>
        <p:nvSpPr>
          <p:cNvPr id="6" name="Text 4"/>
          <p:cNvSpPr/>
          <p:nvPr/>
        </p:nvSpPr>
        <p:spPr>
          <a:xfrm>
            <a:off x="548640" y="1508760"/>
            <a:ext cx="1737360" cy="594360"/>
          </a:xfrm>
          <a:prstGeom prst="rect">
            <a:avLst/>
          </a:prstGeom>
          <a:noFill/>
          <a:ln/>
        </p:spPr>
        <p:txBody>
          <a:bodyPr wrap="square" lIns="25400" tIns="25400" rIns="25400" bIns="25400" rtlCol="0" anchor="ctr"/>
          <a:lstStyle/>
          <a:p>
            <a:pPr algn="ctr" indent="0" marL="0">
              <a:buNone/>
            </a:pPr>
            <a:r>
              <a:rPr lang="en-US" sz="1100" b="1" dirty="0">
                <a:solidFill>
                  <a:srgbClr val="3B3B3B"/>
                </a:solidFill>
                <a:latin typeface="Calibri" pitchFamily="34" charset="0"/>
                <a:ea typeface="Calibri" pitchFamily="34" charset="-122"/>
                <a:cs typeface="Calibri" pitchFamily="34" charset="-120"/>
              </a:rPr>
              <a:t>PCM 650</a:t>
            </a:r>
            <a:endParaRPr lang="en-US" sz="1100" dirty="0"/>
          </a:p>
          <a:p>
            <a:pPr algn="ctr" indent="0" marL="0">
              <a:buNone/>
            </a:pPr>
            <a:r>
              <a:rPr lang="en-US" sz="1100" b="1" dirty="0">
                <a:solidFill>
                  <a:srgbClr val="3B3B3B"/>
                </a:solidFill>
                <a:latin typeface="Calibri" pitchFamily="34" charset="0"/>
                <a:ea typeface="Calibri" pitchFamily="34" charset="-122"/>
                <a:cs typeface="Calibri" pitchFamily="34" charset="-120"/>
              </a:rPr>
              <a:t>(photo)</a:t>
            </a:r>
            <a:endParaRPr lang="en-US" sz="1100" dirty="0"/>
          </a:p>
        </p:txBody>
      </p:sp>
      <p:sp>
        <p:nvSpPr>
          <p:cNvPr id="7" name="Shape 5"/>
          <p:cNvSpPr/>
          <p:nvPr/>
        </p:nvSpPr>
        <p:spPr>
          <a:xfrm>
            <a:off x="548640" y="1508760"/>
            <a:ext cx="1737360" cy="594360"/>
          </a:xfrm>
          <a:prstGeom prst="roundRect">
            <a:avLst>
              <a:gd name="adj" fmla="val 12308"/>
            </a:avLst>
          </a:prstGeom>
          <a:ln w="12700">
            <a:solidFill>
              <a:srgbClr val="DCDCDC"/>
            </a:solidFill>
            <a:prstDash val="solid"/>
          </a:ln>
        </p:spPr>
      </p:sp>
      <p:sp>
        <p:nvSpPr>
          <p:cNvPr id="8" name="Shape 6"/>
          <p:cNvSpPr/>
          <p:nvPr/>
        </p:nvSpPr>
        <p:spPr>
          <a:xfrm>
            <a:off x="1417320" y="2148840"/>
            <a:ext cx="0" cy="457200"/>
          </a:xfrm>
          <a:prstGeom prst="line">
            <a:avLst/>
          </a:prstGeom>
          <a:noFill/>
          <a:ln w="12700">
            <a:solidFill>
              <a:srgbClr val="757575"/>
            </a:solidFill>
            <a:prstDash val="solid"/>
            <a:tailEnd type="triangle"/>
          </a:ln>
        </p:spPr>
      </p:sp>
      <p:sp>
        <p:nvSpPr>
          <p:cNvPr id="9" name="Shape 7"/>
          <p:cNvSpPr/>
          <p:nvPr/>
        </p:nvSpPr>
        <p:spPr>
          <a:xfrm>
            <a:off x="2468880" y="1508760"/>
            <a:ext cx="1737360" cy="594360"/>
          </a:xfrm>
          <a:prstGeom prst="roundRect">
            <a:avLst>
              <a:gd name="adj" fmla="val 12308"/>
            </a:avLst>
          </a:prstGeom>
          <a:solidFill>
            <a:srgbClr val="FFFFFF"/>
          </a:solidFill>
          <a:ln/>
        </p:spPr>
      </p:sp>
      <p:sp>
        <p:nvSpPr>
          <p:cNvPr id="10" name="Text 8"/>
          <p:cNvSpPr/>
          <p:nvPr/>
        </p:nvSpPr>
        <p:spPr>
          <a:xfrm>
            <a:off x="2468880" y="1508760"/>
            <a:ext cx="1737360" cy="594360"/>
          </a:xfrm>
          <a:prstGeom prst="rect">
            <a:avLst/>
          </a:prstGeom>
          <a:noFill/>
          <a:ln/>
        </p:spPr>
        <p:txBody>
          <a:bodyPr wrap="square" lIns="25400" tIns="25400" rIns="25400" bIns="25400" rtlCol="0" anchor="ctr"/>
          <a:lstStyle/>
          <a:p>
            <a:pPr algn="ctr" indent="0" marL="0">
              <a:buNone/>
            </a:pPr>
            <a:r>
              <a:rPr lang="en-US" sz="1100" b="1" dirty="0">
                <a:solidFill>
                  <a:srgbClr val="3B3B3B"/>
                </a:solidFill>
                <a:latin typeface="Calibri" pitchFamily="34" charset="0"/>
                <a:ea typeface="Calibri" pitchFamily="34" charset="-122"/>
                <a:cs typeface="Calibri" pitchFamily="34" charset="-120"/>
              </a:rPr>
              <a:t>Paracetamol</a:t>
            </a:r>
            <a:endParaRPr lang="en-US" sz="1100" dirty="0"/>
          </a:p>
          <a:p>
            <a:pPr algn="ctr" indent="0" marL="0">
              <a:buNone/>
            </a:pPr>
            <a:r>
              <a:rPr lang="en-US" sz="1100" b="1" dirty="0">
                <a:solidFill>
                  <a:srgbClr val="3B3B3B"/>
                </a:solidFill>
                <a:latin typeface="Calibri" pitchFamily="34" charset="0"/>
                <a:ea typeface="Calibri" pitchFamily="34" charset="-122"/>
                <a:cs typeface="Calibri" pitchFamily="34" charset="-120"/>
              </a:rPr>
              <a:t>(prescription)</a:t>
            </a:r>
            <a:endParaRPr lang="en-US" sz="1100" dirty="0"/>
          </a:p>
        </p:txBody>
      </p:sp>
      <p:sp>
        <p:nvSpPr>
          <p:cNvPr id="11" name="Shape 9"/>
          <p:cNvSpPr/>
          <p:nvPr/>
        </p:nvSpPr>
        <p:spPr>
          <a:xfrm>
            <a:off x="2468880" y="1508760"/>
            <a:ext cx="1737360" cy="594360"/>
          </a:xfrm>
          <a:prstGeom prst="roundRect">
            <a:avLst>
              <a:gd name="adj" fmla="val 12308"/>
            </a:avLst>
          </a:prstGeom>
          <a:ln w="12700">
            <a:solidFill>
              <a:srgbClr val="DCDCDC"/>
            </a:solidFill>
            <a:prstDash val="solid"/>
          </a:ln>
        </p:spPr>
      </p:sp>
      <p:sp>
        <p:nvSpPr>
          <p:cNvPr id="12" name="Shape 10"/>
          <p:cNvSpPr/>
          <p:nvPr/>
        </p:nvSpPr>
        <p:spPr>
          <a:xfrm>
            <a:off x="3337560" y="2148840"/>
            <a:ext cx="0" cy="457200"/>
          </a:xfrm>
          <a:prstGeom prst="line">
            <a:avLst/>
          </a:prstGeom>
          <a:noFill/>
          <a:ln w="12700">
            <a:solidFill>
              <a:srgbClr val="757575"/>
            </a:solidFill>
            <a:prstDash val="solid"/>
            <a:tailEnd type="triangle"/>
          </a:ln>
        </p:spPr>
      </p:sp>
      <p:sp>
        <p:nvSpPr>
          <p:cNvPr id="13" name="Shape 11"/>
          <p:cNvSpPr/>
          <p:nvPr/>
        </p:nvSpPr>
        <p:spPr>
          <a:xfrm>
            <a:off x="4389120" y="1508760"/>
            <a:ext cx="1737360" cy="594360"/>
          </a:xfrm>
          <a:prstGeom prst="roundRect">
            <a:avLst>
              <a:gd name="adj" fmla="val 12308"/>
            </a:avLst>
          </a:prstGeom>
          <a:solidFill>
            <a:srgbClr val="FFFFFF"/>
          </a:solidFill>
          <a:ln/>
        </p:spPr>
      </p:sp>
      <p:sp>
        <p:nvSpPr>
          <p:cNvPr id="14" name="Text 12"/>
          <p:cNvSpPr/>
          <p:nvPr/>
        </p:nvSpPr>
        <p:spPr>
          <a:xfrm>
            <a:off x="4389120" y="1508760"/>
            <a:ext cx="1737360" cy="594360"/>
          </a:xfrm>
          <a:prstGeom prst="rect">
            <a:avLst/>
          </a:prstGeom>
          <a:noFill/>
          <a:ln/>
        </p:spPr>
        <p:txBody>
          <a:bodyPr wrap="square" lIns="25400" tIns="25400" rIns="25400" bIns="25400" rtlCol="0" anchor="ctr"/>
          <a:lstStyle/>
          <a:p>
            <a:pPr algn="ctr" indent="0" marL="0">
              <a:buNone/>
            </a:pPr>
            <a:r>
              <a:rPr lang="en-US" sz="1100" b="1" dirty="0">
                <a:solidFill>
                  <a:srgbClr val="3B3B3B"/>
                </a:solidFill>
                <a:latin typeface="Calibri" pitchFamily="34" charset="0"/>
                <a:ea typeface="Calibri" pitchFamily="34" charset="-122"/>
                <a:cs typeface="Calibri" pitchFamily="34" charset="-120"/>
              </a:rPr>
              <a:t>Acetaminophen</a:t>
            </a:r>
            <a:endParaRPr lang="en-US" sz="1100" dirty="0"/>
          </a:p>
          <a:p>
            <a:pPr algn="ctr" indent="0" marL="0">
              <a:buNone/>
            </a:pPr>
            <a:r>
              <a:rPr lang="en-US" sz="1100" b="1" dirty="0">
                <a:solidFill>
                  <a:srgbClr val="3B3B3B"/>
                </a:solidFill>
                <a:latin typeface="Calibri" pitchFamily="34" charset="0"/>
                <a:ea typeface="Calibri" pitchFamily="34" charset="-122"/>
                <a:cs typeface="Calibri" pitchFamily="34" charset="-120"/>
              </a:rPr>
              <a:t>(bill)</a:t>
            </a:r>
            <a:endParaRPr lang="en-US" sz="1100" dirty="0"/>
          </a:p>
        </p:txBody>
      </p:sp>
      <p:sp>
        <p:nvSpPr>
          <p:cNvPr id="15" name="Shape 13"/>
          <p:cNvSpPr/>
          <p:nvPr/>
        </p:nvSpPr>
        <p:spPr>
          <a:xfrm>
            <a:off x="4389120" y="1508760"/>
            <a:ext cx="1737360" cy="594360"/>
          </a:xfrm>
          <a:prstGeom prst="roundRect">
            <a:avLst>
              <a:gd name="adj" fmla="val 12308"/>
            </a:avLst>
          </a:prstGeom>
          <a:ln w="12700">
            <a:solidFill>
              <a:srgbClr val="DCDCDC"/>
            </a:solidFill>
            <a:prstDash val="solid"/>
          </a:ln>
        </p:spPr>
      </p:sp>
      <p:sp>
        <p:nvSpPr>
          <p:cNvPr id="16" name="Shape 14"/>
          <p:cNvSpPr/>
          <p:nvPr/>
        </p:nvSpPr>
        <p:spPr>
          <a:xfrm>
            <a:off x="5257800" y="2148840"/>
            <a:ext cx="0" cy="457200"/>
          </a:xfrm>
          <a:prstGeom prst="line">
            <a:avLst/>
          </a:prstGeom>
          <a:noFill/>
          <a:ln w="12700">
            <a:solidFill>
              <a:srgbClr val="757575"/>
            </a:solidFill>
            <a:prstDash val="solid"/>
            <a:tailEnd type="triangle"/>
          </a:ln>
        </p:spPr>
      </p:sp>
      <p:sp>
        <p:nvSpPr>
          <p:cNvPr id="17" name="Shape 15"/>
          <p:cNvSpPr/>
          <p:nvPr/>
        </p:nvSpPr>
        <p:spPr>
          <a:xfrm>
            <a:off x="2606040" y="2743200"/>
            <a:ext cx="548640" cy="548640"/>
          </a:xfrm>
          <a:prstGeom prst="ellipse">
            <a:avLst/>
          </a:prstGeom>
          <a:solidFill>
            <a:srgbClr val="005A9E"/>
          </a:solidFill>
          <a:ln/>
        </p:spPr>
      </p:sp>
      <p:sp>
        <p:nvSpPr>
          <p:cNvPr id="18" name="Text 16"/>
          <p:cNvSpPr/>
          <p:nvPr/>
        </p:nvSpPr>
        <p:spPr>
          <a:xfrm>
            <a:off x="2606040" y="2743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6309360" y="2651760"/>
            <a:ext cx="5120640" cy="685800"/>
          </a:xfrm>
          <a:prstGeom prst="rect">
            <a:avLst/>
          </a:prstGeom>
          <a:noFill/>
          <a:ln/>
        </p:spPr>
        <p:txBody>
          <a:bodyPr wrap="square" lIns="0" tIns="0" rIns="0" bIns="0" rtlCol="0" anchor="ctr"/>
          <a:lstStyle/>
          <a:p>
            <a:pPr algn="l" indent="0" marL="0">
              <a:buNone/>
            </a:pPr>
            <a:r>
              <a:rPr lang="en-US" sz="1300" i="1" dirty="0">
                <a:solidFill>
                  <a:srgbClr val="3B3B3B"/>
                </a:solidFill>
                <a:latin typeface="Calibri" pitchFamily="34" charset="0"/>
                <a:ea typeface="Calibri" pitchFamily="34" charset="-122"/>
                <a:cs typeface="Calibri" pitchFamily="34" charset="-120"/>
              </a:rPr>
              <a:t>Same medicine — how does the system know these three mentions are one entity?</a:t>
            </a:r>
            <a:endParaRPr lang="en-US" sz="1300" dirty="0"/>
          </a:p>
        </p:txBody>
      </p:sp>
      <p:sp>
        <p:nvSpPr>
          <p:cNvPr id="20" name="Text 18"/>
          <p:cNvSpPr/>
          <p:nvPr/>
        </p:nvSpPr>
        <p:spPr>
          <a:xfrm>
            <a:off x="548640" y="356616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THREE SIGNALS → ONE CONFIDENCE SCORE</a:t>
            </a:r>
            <a:endParaRPr lang="en-US" sz="1100" dirty="0"/>
          </a:p>
        </p:txBody>
      </p:sp>
      <p:sp>
        <p:nvSpPr>
          <p:cNvPr id="21" name="Shape 19"/>
          <p:cNvSpPr/>
          <p:nvPr/>
        </p:nvSpPr>
        <p:spPr>
          <a:xfrm>
            <a:off x="548640" y="3886200"/>
            <a:ext cx="3520440" cy="1234440"/>
          </a:xfrm>
          <a:prstGeom prst="roundRect">
            <a:avLst>
              <a:gd name="adj" fmla="val 740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22" name="Text 20"/>
          <p:cNvSpPr/>
          <p:nvPr/>
        </p:nvSpPr>
        <p:spPr>
          <a:xfrm>
            <a:off x="731520" y="4023360"/>
            <a:ext cx="3154680" cy="32004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String Similarity</a:t>
            </a:r>
            <a:endParaRPr lang="en-US" sz="1250" dirty="0"/>
          </a:p>
        </p:txBody>
      </p:sp>
      <p:sp>
        <p:nvSpPr>
          <p:cNvPr id="23" name="Text 21"/>
          <p:cNvSpPr/>
          <p:nvPr/>
        </p:nvSpPr>
        <p:spPr>
          <a:xfrm>
            <a:off x="731520" y="4343400"/>
            <a:ext cx="3154680" cy="7315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Surface variants — "Paracetamol 650mg" vs "Paracetamol"</a:t>
            </a:r>
            <a:endParaRPr lang="en-US" sz="1100" dirty="0"/>
          </a:p>
        </p:txBody>
      </p:sp>
      <p:sp>
        <p:nvSpPr>
          <p:cNvPr id="24" name="Shape 22"/>
          <p:cNvSpPr/>
          <p:nvPr/>
        </p:nvSpPr>
        <p:spPr>
          <a:xfrm>
            <a:off x="4251960" y="3886200"/>
            <a:ext cx="3520440" cy="1234440"/>
          </a:xfrm>
          <a:prstGeom prst="roundRect">
            <a:avLst>
              <a:gd name="adj" fmla="val 740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25" name="Text 23"/>
          <p:cNvSpPr/>
          <p:nvPr/>
        </p:nvSpPr>
        <p:spPr>
          <a:xfrm>
            <a:off x="4434840" y="4023360"/>
            <a:ext cx="3154680" cy="32004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Transliteration (IndicXlit)</a:t>
            </a:r>
            <a:endParaRPr lang="en-US" sz="1250" dirty="0"/>
          </a:p>
        </p:txBody>
      </p:sp>
      <p:sp>
        <p:nvSpPr>
          <p:cNvPr id="26" name="Text 24"/>
          <p:cNvSpPr/>
          <p:nvPr/>
        </p:nvSpPr>
        <p:spPr>
          <a:xfrm>
            <a:off x="4434840" y="4343400"/>
            <a:ext cx="3154680" cy="7315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Same word, different script — क्रोसिन ↔ Crocin</a:t>
            </a:r>
            <a:endParaRPr lang="en-US" sz="1100" dirty="0"/>
          </a:p>
        </p:txBody>
      </p:sp>
      <p:sp>
        <p:nvSpPr>
          <p:cNvPr id="27" name="Shape 25"/>
          <p:cNvSpPr/>
          <p:nvPr/>
        </p:nvSpPr>
        <p:spPr>
          <a:xfrm>
            <a:off x="7955280" y="3886200"/>
            <a:ext cx="3520440" cy="1234440"/>
          </a:xfrm>
          <a:prstGeom prst="roundRect">
            <a:avLst>
              <a:gd name="adj" fmla="val 740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28" name="Text 26"/>
          <p:cNvSpPr/>
          <p:nvPr/>
        </p:nvSpPr>
        <p:spPr>
          <a:xfrm>
            <a:off x="8138160" y="4023360"/>
            <a:ext cx="3154680" cy="32004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Semantic (IndicSBERT)</a:t>
            </a:r>
            <a:endParaRPr lang="en-US" sz="1250" dirty="0"/>
          </a:p>
        </p:txBody>
      </p:sp>
      <p:sp>
        <p:nvSpPr>
          <p:cNvPr id="29" name="Text 27"/>
          <p:cNvSpPr/>
          <p:nvPr/>
        </p:nvSpPr>
        <p:spPr>
          <a:xfrm>
            <a:off x="8138160" y="4343400"/>
            <a:ext cx="3154680" cy="7315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Translated concepts — बुखार ↔ Fever</a:t>
            </a:r>
            <a:endParaRPr lang="en-US" sz="1100" dirty="0"/>
          </a:p>
        </p:txBody>
      </p:sp>
      <p:sp>
        <p:nvSpPr>
          <p:cNvPr id="30" name="Shape 28"/>
          <p:cNvSpPr/>
          <p:nvPr/>
        </p:nvSpPr>
        <p:spPr>
          <a:xfrm>
            <a:off x="548640" y="5349240"/>
            <a:ext cx="3520440" cy="502920"/>
          </a:xfrm>
          <a:prstGeom prst="roundRect">
            <a:avLst>
              <a:gd name="adj" fmla="val 14545"/>
            </a:avLst>
          </a:prstGeom>
          <a:solidFill>
            <a:srgbClr val="2E7D32"/>
          </a:solidFill>
          <a:ln/>
        </p:spPr>
      </p:sp>
      <p:sp>
        <p:nvSpPr>
          <p:cNvPr id="31" name="Text 29"/>
          <p:cNvSpPr/>
          <p:nvPr/>
        </p:nvSpPr>
        <p:spPr>
          <a:xfrm>
            <a:off x="548640" y="5349240"/>
            <a:ext cx="3520440" cy="50292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  →  Auto-merge</a:t>
            </a:r>
            <a:endParaRPr lang="en-US" sz="1200" dirty="0"/>
          </a:p>
        </p:txBody>
      </p:sp>
      <p:sp>
        <p:nvSpPr>
          <p:cNvPr id="32" name="Shape 30"/>
          <p:cNvSpPr/>
          <p:nvPr/>
        </p:nvSpPr>
        <p:spPr>
          <a:xfrm>
            <a:off x="4251960" y="5349240"/>
            <a:ext cx="3520440" cy="502920"/>
          </a:xfrm>
          <a:prstGeom prst="roundRect">
            <a:avLst>
              <a:gd name="adj" fmla="val 14545"/>
            </a:avLst>
          </a:prstGeom>
          <a:solidFill>
            <a:srgbClr val="9C6B12"/>
          </a:solidFill>
          <a:ln/>
        </p:spPr>
      </p:sp>
      <p:sp>
        <p:nvSpPr>
          <p:cNvPr id="33" name="Text 31"/>
          <p:cNvSpPr/>
          <p:nvPr/>
        </p:nvSpPr>
        <p:spPr>
          <a:xfrm>
            <a:off x="4251960" y="5349240"/>
            <a:ext cx="3520440" cy="50292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Medium  →  Ask user</a:t>
            </a:r>
            <a:endParaRPr lang="en-US" sz="1200" dirty="0"/>
          </a:p>
        </p:txBody>
      </p:sp>
      <p:sp>
        <p:nvSpPr>
          <p:cNvPr id="34" name="Shape 32"/>
          <p:cNvSpPr/>
          <p:nvPr/>
        </p:nvSpPr>
        <p:spPr>
          <a:xfrm>
            <a:off x="7955280" y="5349240"/>
            <a:ext cx="3520440" cy="502920"/>
          </a:xfrm>
          <a:prstGeom prst="roundRect">
            <a:avLst>
              <a:gd name="adj" fmla="val 14545"/>
            </a:avLst>
          </a:prstGeom>
          <a:solidFill>
            <a:srgbClr val="6E6E6E"/>
          </a:solidFill>
          <a:ln/>
        </p:spPr>
      </p:sp>
      <p:sp>
        <p:nvSpPr>
          <p:cNvPr id="35" name="Text 33"/>
          <p:cNvSpPr/>
          <p:nvPr/>
        </p:nvSpPr>
        <p:spPr>
          <a:xfrm>
            <a:off x="7955280" y="5349240"/>
            <a:ext cx="3520440" cy="50292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Low  →  New entity</a:t>
            </a:r>
            <a:endParaRPr lang="en-US" sz="1200" dirty="0"/>
          </a:p>
        </p:txBody>
      </p:sp>
      <p:sp>
        <p:nvSpPr>
          <p:cNvPr id="36" name="Text 34"/>
          <p:cNvSpPr/>
          <p:nvPr/>
        </p:nvSpPr>
        <p:spPr>
          <a:xfrm>
            <a:off x="548640" y="5989320"/>
            <a:ext cx="10881360" cy="320040"/>
          </a:xfrm>
          <a:prstGeom prst="rect">
            <a:avLst/>
          </a:prstGeom>
          <a:noFill/>
          <a:ln/>
        </p:spPr>
        <p:txBody>
          <a:bodyPr wrap="square" lIns="0" tIns="0" rIns="0" bIns="0" rtlCol="0" anchor="t"/>
          <a:lstStyle/>
          <a:p>
            <a:pPr algn="ctr" indent="0" marL="0">
              <a:buNone/>
            </a:pPr>
            <a:r>
              <a:rPr lang="en-US" sz="1100" i="1" dirty="0">
                <a:solidFill>
                  <a:srgbClr val="757575"/>
                </a:solidFill>
                <a:latin typeface="Calibri" pitchFamily="34" charset="0"/>
                <a:ea typeface="Calibri" pitchFamily="34" charset="-122"/>
                <a:cs typeface="Calibri" pitchFamily="34" charset="-120"/>
              </a:rPr>
              <a:t>Both tools open-source, pretrained — no training pipeline of our own.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05A9E"/>
                </a:solidFill>
                <a:latin typeface="Cambria" pitchFamily="34" charset="0"/>
                <a:ea typeface="Cambria" pitchFamily="34" charset="-122"/>
                <a:cs typeface="Cambria" pitchFamily="34" charset="-120"/>
              </a:rPr>
              <a:t>Application Services Architecture</a:t>
            </a:r>
            <a:endParaRPr lang="en-US" sz="3000" dirty="0"/>
          </a:p>
        </p:txBody>
      </p:sp>
      <p:sp>
        <p:nvSpPr>
          <p:cNvPr id="3" name="Text 1"/>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13 / 18</a:t>
            </a:r>
            <a:endParaRPr lang="en-US" sz="900" dirty="0"/>
          </a:p>
        </p:txBody>
      </p:sp>
      <p:sp>
        <p:nvSpPr>
          <p:cNvPr id="4" name="Shape 2"/>
          <p:cNvSpPr/>
          <p:nvPr/>
        </p:nvSpPr>
        <p:spPr>
          <a:xfrm>
            <a:off x="914400" y="1188720"/>
            <a:ext cx="10360152" cy="4251960"/>
          </a:xfrm>
          <a:prstGeom prst="roundRect">
            <a:avLst>
              <a:gd name="adj" fmla="val 2581"/>
            </a:avLst>
          </a:prstGeom>
          <a:solidFill>
            <a:srgbClr val="F7F7F7"/>
          </a:solidFill>
          <a:ln w="15875">
            <a:solidFill>
              <a:srgbClr val="DCDCDC"/>
            </a:solidFill>
            <a:prstDash val="dash"/>
          </a:ln>
        </p:spPr>
      </p:sp>
      <p:sp>
        <p:nvSpPr>
          <p:cNvPr id="5" name="Text 3"/>
          <p:cNvSpPr/>
          <p:nvPr/>
        </p:nvSpPr>
        <p:spPr>
          <a:xfrm>
            <a:off x="914400" y="3063240"/>
            <a:ext cx="10360152" cy="548640"/>
          </a:xfrm>
          <a:prstGeom prst="rect">
            <a:avLst/>
          </a:prstGeom>
          <a:noFill/>
          <a:ln/>
        </p:spPr>
        <p:txBody>
          <a:bodyPr wrap="square" rtlCol="0" anchor="ctr"/>
          <a:lstStyle/>
          <a:p>
            <a:pPr algn="ctr" indent="0" marL="0">
              <a:buNone/>
            </a:pPr>
            <a:r>
              <a:rPr lang="en-US" sz="1600" i="1" dirty="0">
                <a:solidFill>
                  <a:srgbClr val="757575"/>
                </a:solidFill>
                <a:latin typeface="Calibri" pitchFamily="34" charset="0"/>
                <a:ea typeface="Calibri" pitchFamily="34" charset="-122"/>
                <a:cs typeface="Calibri" pitchFamily="34" charset="-120"/>
              </a:rPr>
              <a:t>[ INSERT APPLICATION SERVICES ARCHITECTURE DIAGRAM HERE ]</a:t>
            </a:r>
            <a:endParaRPr lang="en-US" sz="1600" dirty="0"/>
          </a:p>
        </p:txBody>
      </p:sp>
      <p:sp>
        <p:nvSpPr>
          <p:cNvPr id="6" name="Text 4"/>
          <p:cNvSpPr/>
          <p:nvPr/>
        </p:nvSpPr>
        <p:spPr>
          <a:xfrm>
            <a:off x="914400" y="5623560"/>
            <a:ext cx="10360152" cy="457200"/>
          </a:xfrm>
          <a:prstGeom prst="rect">
            <a:avLst/>
          </a:prstGeom>
          <a:noFill/>
          <a:ln/>
        </p:spPr>
        <p:txBody>
          <a:bodyPr wrap="square" lIns="0" tIns="0" rIns="0" bIns="0" rtlCol="0" anchor="t"/>
          <a:lstStyle/>
          <a:p>
            <a:pPr algn="ctr" indent="0" marL="0">
              <a:buNone/>
            </a:pPr>
            <a:r>
              <a:rPr lang="en-US" sz="1500" b="1" dirty="0">
                <a:solidFill>
                  <a:srgbClr val="005A9E"/>
                </a:solidFill>
                <a:latin typeface="Calibri" pitchFamily="34" charset="0"/>
                <a:ea typeface="Calibri" pitchFamily="34" charset="-122"/>
                <a:cs typeface="Calibri" pitchFamily="34" charset="-120"/>
              </a:rPr>
              <a:t>Every module communicates through Kadi — never directly with each other.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14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Technology Stack</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377440"/>
                <a:gridCol w="3291840"/>
                <a:gridCol w="5422392"/>
              </a:tblGrid>
              <a:tr h="5689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0078D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0078D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0078D4"/>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Backend</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FastAPI</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Async-first, fast iteration</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Frontend</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Next.js 15</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Server rendering + trilingual UI</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PostgreSQL + pgvector</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Relational + vector search, one engine</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Vector Search</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FAISS</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Fast local RAG retrieval</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LLM Inference</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Groq API</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Low-latency multi-agent pipelines</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Transliteration</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IndicXlit (AI4Bharat)</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Open, pretrained, MIT-licensed</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Cross-lingual Embeddings</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IndicSBERT (L3Cube)</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Pretrained, no training needed</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68960">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Containerization</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3B3B3B"/>
                          </a:solidFill>
                          <a:latin typeface="Calibri" pitchFamily="34" charset="0"/>
                          <a:ea typeface="Calibri" pitchFamily="34" charset="-122"/>
                          <a:cs typeface="Calibri" pitchFamily="34" charset="-120"/>
                        </a:rPr>
                        <a:t>Docker Compose</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c>
                  <a:txBody>
                    <a:bodyPr/>
                    <a:lstStyle/>
                    <a:p>
                      <a:pPr algn="l" indent="0" marL="0">
                        <a:buNone/>
                      </a:pPr>
                      <a:r>
                        <a:rPr lang="en-US" sz="1150" dirty="0">
                          <a:solidFill>
                            <a:srgbClr val="005A9E"/>
                          </a:solidFill>
                          <a:latin typeface="Calibri" pitchFamily="34" charset="0"/>
                          <a:ea typeface="Calibri" pitchFamily="34" charset="-122"/>
                          <a:cs typeface="Calibri" pitchFamily="34" charset="-120"/>
                        </a:rPr>
                        <a:t>Reproducible multi-service deploy</a:t>
                      </a:r>
                      <a:endParaRPr lang="en-US" sz="1150" dirty="0">
                        <a:latin typeface="Calibri" charset="0"/>
                        <a:ea typeface="Calibri" charset="0"/>
                        <a:cs typeface="Calibri" charset="0"/>
                      </a:endParaRPr>
                    </a:p>
                  </a:txBody>
                  <a:tcPr marL="101600" marR="101600" marT="50800" marB="508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EAF3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15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End-to-End Workflow</a:t>
            </a:r>
            <a:endParaRPr lang="en-US" sz="3200" dirty="0"/>
          </a:p>
        </p:txBody>
      </p:sp>
      <p:sp>
        <p:nvSpPr>
          <p:cNvPr id="4" name="Shape 2"/>
          <p:cNvSpPr/>
          <p:nvPr/>
        </p:nvSpPr>
        <p:spPr>
          <a:xfrm>
            <a:off x="548640" y="3017520"/>
            <a:ext cx="1581912" cy="914400"/>
          </a:xfrm>
          <a:prstGeom prst="roundRect">
            <a:avLst>
              <a:gd name="adj" fmla="val 8000"/>
            </a:avLst>
          </a:prstGeom>
          <a:solidFill>
            <a:srgbClr val="0078D4"/>
          </a:solidFill>
          <a:ln/>
        </p:spPr>
      </p:sp>
      <p:sp>
        <p:nvSpPr>
          <p:cNvPr id="5" name="Text 3"/>
          <p:cNvSpPr/>
          <p:nvPr/>
        </p:nvSpPr>
        <p:spPr>
          <a:xfrm>
            <a:off x="548640"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Patient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Upload</a:t>
            </a:r>
            <a:endParaRPr lang="en-US" sz="1250" dirty="0"/>
          </a:p>
        </p:txBody>
      </p:sp>
      <p:sp>
        <p:nvSpPr>
          <p:cNvPr id="6" name="Shape 4"/>
          <p:cNvSpPr/>
          <p:nvPr/>
        </p:nvSpPr>
        <p:spPr>
          <a:xfrm>
            <a:off x="2130552" y="3474720"/>
            <a:ext cx="320040" cy="0"/>
          </a:xfrm>
          <a:prstGeom prst="line">
            <a:avLst/>
          </a:prstGeom>
          <a:noFill/>
          <a:ln w="22225">
            <a:solidFill>
              <a:srgbClr val="0078D4"/>
            </a:solidFill>
            <a:prstDash val="solid"/>
            <a:tailEnd type="triangle"/>
          </a:ln>
        </p:spPr>
      </p:sp>
      <p:sp>
        <p:nvSpPr>
          <p:cNvPr id="7" name="Shape 5"/>
          <p:cNvSpPr/>
          <p:nvPr/>
        </p:nvSpPr>
        <p:spPr>
          <a:xfrm>
            <a:off x="2450592" y="3017520"/>
            <a:ext cx="1581912" cy="914400"/>
          </a:xfrm>
          <a:prstGeom prst="roundRect">
            <a:avLst>
              <a:gd name="adj" fmla="val 8000"/>
            </a:avLst>
          </a:prstGeom>
          <a:solidFill>
            <a:srgbClr val="0078D4"/>
          </a:solidFill>
          <a:ln/>
        </p:spPr>
      </p:sp>
      <p:sp>
        <p:nvSpPr>
          <p:cNvPr id="8" name="Text 6"/>
          <p:cNvSpPr/>
          <p:nvPr/>
        </p:nvSpPr>
        <p:spPr>
          <a:xfrm>
            <a:off x="2450592"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OCR</a:t>
            </a:r>
            <a:endParaRPr lang="en-US" sz="1250" dirty="0"/>
          </a:p>
        </p:txBody>
      </p:sp>
      <p:sp>
        <p:nvSpPr>
          <p:cNvPr id="9" name="Shape 7"/>
          <p:cNvSpPr/>
          <p:nvPr/>
        </p:nvSpPr>
        <p:spPr>
          <a:xfrm>
            <a:off x="4032504" y="3474720"/>
            <a:ext cx="320040" cy="0"/>
          </a:xfrm>
          <a:prstGeom prst="line">
            <a:avLst/>
          </a:prstGeom>
          <a:noFill/>
          <a:ln w="22225">
            <a:solidFill>
              <a:srgbClr val="0078D4"/>
            </a:solidFill>
            <a:prstDash val="solid"/>
            <a:tailEnd type="triangle"/>
          </a:ln>
        </p:spPr>
      </p:sp>
      <p:sp>
        <p:nvSpPr>
          <p:cNvPr id="10" name="Shape 8"/>
          <p:cNvSpPr/>
          <p:nvPr/>
        </p:nvSpPr>
        <p:spPr>
          <a:xfrm>
            <a:off x="4352544" y="3017520"/>
            <a:ext cx="1581912" cy="914400"/>
          </a:xfrm>
          <a:prstGeom prst="roundRect">
            <a:avLst>
              <a:gd name="adj" fmla="val 8000"/>
            </a:avLst>
          </a:prstGeom>
          <a:solidFill>
            <a:srgbClr val="0078D4"/>
          </a:solidFill>
          <a:ln/>
        </p:spPr>
      </p:sp>
      <p:sp>
        <p:nvSpPr>
          <p:cNvPr id="11" name="Text 9"/>
          <p:cNvSpPr/>
          <p:nvPr/>
        </p:nvSpPr>
        <p:spPr>
          <a:xfrm>
            <a:off x="4352544"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Extraction</a:t>
            </a:r>
            <a:endParaRPr lang="en-US" sz="1250" dirty="0"/>
          </a:p>
        </p:txBody>
      </p:sp>
      <p:sp>
        <p:nvSpPr>
          <p:cNvPr id="12" name="Shape 10"/>
          <p:cNvSpPr/>
          <p:nvPr/>
        </p:nvSpPr>
        <p:spPr>
          <a:xfrm>
            <a:off x="5934456" y="3474720"/>
            <a:ext cx="320040" cy="0"/>
          </a:xfrm>
          <a:prstGeom prst="line">
            <a:avLst/>
          </a:prstGeom>
          <a:noFill/>
          <a:ln w="22225">
            <a:solidFill>
              <a:srgbClr val="0078D4"/>
            </a:solidFill>
            <a:prstDash val="solid"/>
            <a:tailEnd type="triangle"/>
          </a:ln>
        </p:spPr>
      </p:sp>
      <p:sp>
        <p:nvSpPr>
          <p:cNvPr id="13" name="Shape 11"/>
          <p:cNvSpPr/>
          <p:nvPr/>
        </p:nvSpPr>
        <p:spPr>
          <a:xfrm>
            <a:off x="6254496" y="3017520"/>
            <a:ext cx="1581912" cy="914400"/>
          </a:xfrm>
          <a:prstGeom prst="roundRect">
            <a:avLst>
              <a:gd name="adj" fmla="val 8000"/>
            </a:avLst>
          </a:prstGeom>
          <a:solidFill>
            <a:srgbClr val="005A9E"/>
          </a:solidFill>
          <a:ln/>
        </p:spPr>
      </p:sp>
      <p:sp>
        <p:nvSpPr>
          <p:cNvPr id="14" name="Text 12"/>
          <p:cNvSpPr/>
          <p:nvPr/>
        </p:nvSpPr>
        <p:spPr>
          <a:xfrm>
            <a:off x="6254496"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Kadi</a:t>
            </a:r>
            <a:endParaRPr lang="en-US" sz="1250" dirty="0"/>
          </a:p>
        </p:txBody>
      </p:sp>
      <p:sp>
        <p:nvSpPr>
          <p:cNvPr id="15" name="Shape 13"/>
          <p:cNvSpPr/>
          <p:nvPr/>
        </p:nvSpPr>
        <p:spPr>
          <a:xfrm>
            <a:off x="7836408" y="3474720"/>
            <a:ext cx="320040" cy="0"/>
          </a:xfrm>
          <a:prstGeom prst="line">
            <a:avLst/>
          </a:prstGeom>
          <a:noFill/>
          <a:ln w="22225">
            <a:solidFill>
              <a:srgbClr val="0078D4"/>
            </a:solidFill>
            <a:prstDash val="solid"/>
            <a:tailEnd type="triangle"/>
          </a:ln>
        </p:spPr>
      </p:sp>
      <p:sp>
        <p:nvSpPr>
          <p:cNvPr id="16" name="Shape 14"/>
          <p:cNvSpPr/>
          <p:nvPr/>
        </p:nvSpPr>
        <p:spPr>
          <a:xfrm>
            <a:off x="8156448" y="3017520"/>
            <a:ext cx="1581912" cy="914400"/>
          </a:xfrm>
          <a:prstGeom prst="roundRect">
            <a:avLst>
              <a:gd name="adj" fmla="val 8000"/>
            </a:avLst>
          </a:prstGeom>
          <a:solidFill>
            <a:srgbClr val="0078D4"/>
          </a:solidFill>
          <a:ln/>
        </p:spPr>
      </p:sp>
      <p:sp>
        <p:nvSpPr>
          <p:cNvPr id="17" name="Text 15"/>
          <p:cNvSpPr/>
          <p:nvPr/>
        </p:nvSpPr>
        <p:spPr>
          <a:xfrm>
            <a:off x="8156448"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Modules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Shape 16"/>
          <p:cNvSpPr/>
          <p:nvPr/>
        </p:nvSpPr>
        <p:spPr>
          <a:xfrm>
            <a:off x="9738360" y="3474720"/>
            <a:ext cx="320040" cy="0"/>
          </a:xfrm>
          <a:prstGeom prst="line">
            <a:avLst/>
          </a:prstGeom>
          <a:noFill/>
          <a:ln w="22225">
            <a:solidFill>
              <a:srgbClr val="0078D4"/>
            </a:solidFill>
            <a:prstDash val="solid"/>
            <a:tailEnd type="triangle"/>
          </a:ln>
        </p:spPr>
      </p:sp>
      <p:sp>
        <p:nvSpPr>
          <p:cNvPr id="19" name="Shape 17"/>
          <p:cNvSpPr/>
          <p:nvPr/>
        </p:nvSpPr>
        <p:spPr>
          <a:xfrm>
            <a:off x="10058400" y="3017520"/>
            <a:ext cx="1581912" cy="914400"/>
          </a:xfrm>
          <a:prstGeom prst="roundRect">
            <a:avLst>
              <a:gd name="adj" fmla="val 8000"/>
            </a:avLst>
          </a:prstGeom>
          <a:solidFill>
            <a:srgbClr val="0078D4"/>
          </a:solidFill>
          <a:ln/>
        </p:spPr>
      </p:sp>
      <p:sp>
        <p:nvSpPr>
          <p:cNvPr id="20" name="Text 18"/>
          <p:cNvSpPr/>
          <p:nvPr/>
        </p:nvSpPr>
        <p:spPr>
          <a:xfrm>
            <a:off x="10058400" y="3017520"/>
            <a:ext cx="1581912" cy="91440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Reports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Documents</a:t>
            </a:r>
            <a:endParaRPr lang="en-US" sz="1250" dirty="0"/>
          </a:p>
        </p:txBody>
      </p:sp>
      <p:sp>
        <p:nvSpPr>
          <p:cNvPr id="21" name="Text 19"/>
          <p:cNvSpPr/>
          <p:nvPr/>
        </p:nvSpPr>
        <p:spPr>
          <a:xfrm>
            <a:off x="548640" y="4297680"/>
            <a:ext cx="11091672" cy="457200"/>
          </a:xfrm>
          <a:prstGeom prst="rect">
            <a:avLst/>
          </a:prstGeom>
          <a:noFill/>
          <a:ln/>
        </p:spPr>
        <p:txBody>
          <a:bodyPr wrap="square" lIns="0" tIns="0" rIns="0" bIns="0" rtlCol="0" anchor="t"/>
          <a:lstStyle/>
          <a:p>
            <a:pPr algn="ctr" indent="0" marL="0">
              <a:buNone/>
            </a:pPr>
            <a:r>
              <a:rPr lang="en-US" sz="1350" i="1" dirty="0">
                <a:solidFill>
                  <a:srgbClr val="757575"/>
                </a:solidFill>
                <a:latin typeface="Calibri" pitchFamily="34" charset="0"/>
                <a:ea typeface="Calibri" pitchFamily="34" charset="-122"/>
                <a:cs typeface="Calibri" pitchFamily="34" charset="-120"/>
              </a:rPr>
              <a:t>A single document flows through the entire pipeline — from raw upload to a document the patient can actually use.</a:t>
            </a:r>
            <a:endParaRPr lang="en-US" sz="1350" dirty="0"/>
          </a:p>
        </p:txBody>
      </p:sp>
      <p:sp>
        <p:nvSpPr>
          <p:cNvPr id="22" name="Text 20"/>
          <p:cNvSpPr/>
          <p:nvPr/>
        </p:nvSpPr>
        <p:spPr>
          <a:xfrm>
            <a:off x="548640" y="4800600"/>
            <a:ext cx="11091672" cy="457200"/>
          </a:xfrm>
          <a:prstGeom prst="rect">
            <a:avLst/>
          </a:prstGeom>
          <a:noFill/>
          <a:ln/>
        </p:spPr>
        <p:txBody>
          <a:bodyPr wrap="square" lIns="0" tIns="0" rIns="0" bIns="0" rtlCol="0" anchor="t"/>
          <a:lstStyle/>
          <a:p>
            <a:pPr algn="ctr" indent="0" marL="0">
              <a:buNone/>
            </a:pPr>
            <a:r>
              <a:rPr lang="en-US" sz="1300" dirty="0">
                <a:solidFill>
                  <a:srgbClr val="3B3B3B"/>
                </a:solidFill>
                <a:latin typeface="Calibri" pitchFamily="34" charset="0"/>
                <a:ea typeface="Calibri" pitchFamily="34" charset="-122"/>
                <a:cs typeface="Calibri" pitchFamily="34" charset="-120"/>
              </a:rPr>
              <a:t>Modules act independently once Kadi has context — the patient rarely needs to re-upload for a second insight.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16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2800" b="1" dirty="0">
                <a:solidFill>
                  <a:srgbClr val="005A9E"/>
                </a:solidFill>
                <a:latin typeface="Cambria" pitchFamily="34" charset="0"/>
                <a:ea typeface="Cambria" pitchFamily="34" charset="-122"/>
                <a:cs typeface="Cambria" pitchFamily="34" charset="-120"/>
              </a:rPr>
              <a:t>Implementation Status + Evaluation</a:t>
            </a:r>
            <a:endParaRPr lang="en-US" sz="2800" dirty="0"/>
          </a:p>
        </p:txBody>
      </p:sp>
      <p:sp>
        <p:nvSpPr>
          <p:cNvPr id="4" name="Shape 2"/>
          <p:cNvSpPr/>
          <p:nvPr/>
        </p:nvSpPr>
        <p:spPr>
          <a:xfrm>
            <a:off x="548640" y="1234440"/>
            <a:ext cx="11091672" cy="777240"/>
          </a:xfrm>
          <a:prstGeom prst="roundRect">
            <a:avLst>
              <a:gd name="adj" fmla="val 9412"/>
            </a:avLst>
          </a:prstGeom>
          <a:solidFill>
            <a:srgbClr val="E9F3EA"/>
          </a:solidFill>
          <a:ln w="12700">
            <a:solidFill>
              <a:srgbClr val="2E7D32"/>
            </a:solidFill>
            <a:prstDash val="solid"/>
          </a:ln>
        </p:spPr>
      </p:sp>
      <p:sp>
        <p:nvSpPr>
          <p:cNvPr id="5" name="Shape 3"/>
          <p:cNvSpPr/>
          <p:nvPr/>
        </p:nvSpPr>
        <p:spPr>
          <a:xfrm>
            <a:off x="731520" y="1353312"/>
            <a:ext cx="1691640" cy="548640"/>
          </a:xfrm>
          <a:prstGeom prst="roundRect">
            <a:avLst>
              <a:gd name="adj" fmla="val 13333"/>
            </a:avLst>
          </a:prstGeom>
          <a:solidFill>
            <a:srgbClr val="2E7D32"/>
          </a:solidFill>
          <a:ln/>
        </p:spPr>
      </p:sp>
      <p:sp>
        <p:nvSpPr>
          <p:cNvPr id="6" name="Text 4"/>
          <p:cNvSpPr/>
          <p:nvPr/>
        </p:nvSpPr>
        <p:spPr>
          <a:xfrm>
            <a:off x="731520" y="1353312"/>
            <a:ext cx="1691640" cy="54864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Buildable Now</a:t>
            </a:r>
            <a:endParaRPr lang="en-US" sz="1100" dirty="0"/>
          </a:p>
        </p:txBody>
      </p:sp>
      <p:sp>
        <p:nvSpPr>
          <p:cNvPr id="7" name="Text 5"/>
          <p:cNvSpPr/>
          <p:nvPr/>
        </p:nvSpPr>
        <p:spPr>
          <a:xfrm>
            <a:off x="2606040" y="1234440"/>
            <a:ext cx="8869680" cy="777240"/>
          </a:xfrm>
          <a:prstGeom prst="rect">
            <a:avLst/>
          </a:prstGeom>
          <a:noFill/>
          <a:ln/>
        </p:spPr>
        <p:txBody>
          <a:bodyPr wrap="square" lIns="0" tIns="0" rIns="0" bIns="0" rtlCol="0" anchor="ctr"/>
          <a:lstStyle/>
          <a:p>
            <a:pPr algn="l" indent="0" marL="0">
              <a:buNone/>
            </a:pPr>
            <a:r>
              <a:rPr lang="en-US" sz="1100" dirty="0">
                <a:solidFill>
                  <a:srgbClr val="3B3B3B"/>
                </a:solidFill>
                <a:latin typeface="Calibri" pitchFamily="34" charset="0"/>
                <a:ea typeface="Calibri" pitchFamily="34" charset="-122"/>
                <a:cs typeface="Calibri" pitchFamily="34" charset="-120"/>
              </a:rPr>
              <a:t>BillNyay audit+appeal · SchemeSetu eligibility · DawaCheck pricing · Kadi entity resolution · DaaviSetu claim/pre-auth · Grievance self-tracking</a:t>
            </a:r>
            <a:endParaRPr lang="en-US" sz="1100" dirty="0"/>
          </a:p>
        </p:txBody>
      </p:sp>
      <p:sp>
        <p:nvSpPr>
          <p:cNvPr id="8" name="Shape 6"/>
          <p:cNvSpPr/>
          <p:nvPr/>
        </p:nvSpPr>
        <p:spPr>
          <a:xfrm>
            <a:off x="548640" y="2148840"/>
            <a:ext cx="11091672" cy="777240"/>
          </a:xfrm>
          <a:prstGeom prst="roundRect">
            <a:avLst>
              <a:gd name="adj" fmla="val 9412"/>
            </a:avLst>
          </a:prstGeom>
          <a:solidFill>
            <a:srgbClr val="FBF2E3"/>
          </a:solidFill>
          <a:ln w="12700">
            <a:solidFill>
              <a:srgbClr val="9C6B12"/>
            </a:solidFill>
            <a:prstDash val="solid"/>
          </a:ln>
        </p:spPr>
      </p:sp>
      <p:sp>
        <p:nvSpPr>
          <p:cNvPr id="9" name="Shape 7"/>
          <p:cNvSpPr/>
          <p:nvPr/>
        </p:nvSpPr>
        <p:spPr>
          <a:xfrm>
            <a:off x="731520" y="2267712"/>
            <a:ext cx="1691640" cy="548640"/>
          </a:xfrm>
          <a:prstGeom prst="roundRect">
            <a:avLst>
              <a:gd name="adj" fmla="val 13333"/>
            </a:avLst>
          </a:prstGeom>
          <a:solidFill>
            <a:srgbClr val="9C6B12"/>
          </a:solidFill>
          <a:ln/>
        </p:spPr>
      </p:sp>
      <p:sp>
        <p:nvSpPr>
          <p:cNvPr id="10" name="Text 8"/>
          <p:cNvSpPr/>
          <p:nvPr/>
        </p:nvSpPr>
        <p:spPr>
          <a:xfrm>
            <a:off x="731520" y="2267712"/>
            <a:ext cx="1691640" cy="54864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Sandbox Only</a:t>
            </a:r>
            <a:endParaRPr lang="en-US" sz="1100" dirty="0"/>
          </a:p>
        </p:txBody>
      </p:sp>
      <p:sp>
        <p:nvSpPr>
          <p:cNvPr id="11" name="Text 9"/>
          <p:cNvSpPr/>
          <p:nvPr/>
        </p:nvSpPr>
        <p:spPr>
          <a:xfrm>
            <a:off x="2606040" y="2148840"/>
            <a:ext cx="8869680" cy="777240"/>
          </a:xfrm>
          <a:prstGeom prst="rect">
            <a:avLst/>
          </a:prstGeom>
          <a:noFill/>
          <a:ln/>
        </p:spPr>
        <p:txBody>
          <a:bodyPr wrap="square" lIns="0" tIns="0" rIns="0" bIns="0" rtlCol="0" anchor="ctr"/>
          <a:lstStyle/>
          <a:p>
            <a:pPr algn="l" indent="0" marL="0">
              <a:buNone/>
            </a:pPr>
            <a:r>
              <a:rPr lang="en-US" sz="1100" dirty="0">
                <a:solidFill>
                  <a:srgbClr val="3B3B3B"/>
                </a:solidFill>
                <a:latin typeface="Calibri" pitchFamily="34" charset="0"/>
                <a:ea typeface="Calibri" pitchFamily="34" charset="-122"/>
                <a:cs typeface="Calibri" pitchFamily="34" charset="-120"/>
              </a:rPr>
              <a:t>ABDM medical history pull — production certification (6–12 months, security audit) is out of scope</a:t>
            </a:r>
            <a:endParaRPr lang="en-US" sz="1100" dirty="0"/>
          </a:p>
        </p:txBody>
      </p:sp>
      <p:sp>
        <p:nvSpPr>
          <p:cNvPr id="12" name="Shape 10"/>
          <p:cNvSpPr/>
          <p:nvPr/>
        </p:nvSpPr>
        <p:spPr>
          <a:xfrm>
            <a:off x="548640" y="3063240"/>
            <a:ext cx="11091672" cy="777240"/>
          </a:xfrm>
          <a:prstGeom prst="roundRect">
            <a:avLst>
              <a:gd name="adj" fmla="val 9412"/>
            </a:avLst>
          </a:prstGeom>
          <a:solidFill>
            <a:srgbClr val="F0F0F0"/>
          </a:solidFill>
          <a:ln w="12700">
            <a:solidFill>
              <a:srgbClr val="6E6E6E"/>
            </a:solidFill>
            <a:prstDash val="solid"/>
          </a:ln>
        </p:spPr>
      </p:sp>
      <p:sp>
        <p:nvSpPr>
          <p:cNvPr id="13" name="Shape 11"/>
          <p:cNvSpPr/>
          <p:nvPr/>
        </p:nvSpPr>
        <p:spPr>
          <a:xfrm>
            <a:off x="731520" y="3182112"/>
            <a:ext cx="1691640" cy="548640"/>
          </a:xfrm>
          <a:prstGeom prst="roundRect">
            <a:avLst>
              <a:gd name="adj" fmla="val 13333"/>
            </a:avLst>
          </a:prstGeom>
          <a:solidFill>
            <a:srgbClr val="6E6E6E"/>
          </a:solidFill>
          <a:ln/>
        </p:spPr>
      </p:sp>
      <p:sp>
        <p:nvSpPr>
          <p:cNvPr id="14" name="Text 12"/>
          <p:cNvSpPr/>
          <p:nvPr/>
        </p:nvSpPr>
        <p:spPr>
          <a:xfrm>
            <a:off x="731520" y="3182112"/>
            <a:ext cx="1691640" cy="54864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Feasible</a:t>
            </a:r>
            <a:endParaRPr lang="en-US" sz="1100" dirty="0"/>
          </a:p>
        </p:txBody>
      </p:sp>
      <p:sp>
        <p:nvSpPr>
          <p:cNvPr id="15" name="Text 13"/>
          <p:cNvSpPr/>
          <p:nvPr/>
        </p:nvSpPr>
        <p:spPr>
          <a:xfrm>
            <a:off x="2606040" y="3063240"/>
            <a:ext cx="8869680" cy="777240"/>
          </a:xfrm>
          <a:prstGeom prst="rect">
            <a:avLst/>
          </a:prstGeom>
          <a:noFill/>
          <a:ln/>
        </p:spPr>
        <p:txBody>
          <a:bodyPr wrap="square" lIns="0" tIns="0" rIns="0" bIns="0" rtlCol="0" anchor="ctr"/>
          <a:lstStyle/>
          <a:p>
            <a:pPr algn="l" indent="0" marL="0">
              <a:buNone/>
            </a:pPr>
            <a:r>
              <a:rPr lang="en-US" sz="1100" dirty="0">
                <a:solidFill>
                  <a:srgbClr val="3B3B3B"/>
                </a:solidFill>
                <a:latin typeface="Calibri" pitchFamily="34" charset="0"/>
                <a:ea typeface="Calibri" pitchFamily="34" charset="-122"/>
                <a:cs typeface="Calibri" pitchFamily="34" charset="-120"/>
              </a:rPr>
              <a:t>Document authenticity verification · direct insurer submission · automated IRDAI/Bima Bharosa submission · production-scale load</a:t>
            </a:r>
            <a:endParaRPr lang="en-US" sz="1100" dirty="0"/>
          </a:p>
        </p:txBody>
      </p:sp>
      <p:sp>
        <p:nvSpPr>
          <p:cNvPr id="16" name="Text 14"/>
          <p:cNvSpPr/>
          <p:nvPr/>
        </p:nvSpPr>
        <p:spPr>
          <a:xfrm>
            <a:off x="548640" y="411480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EVALUATION AXES</a:t>
            </a:r>
            <a:endParaRPr lang="en-US" sz="1100" dirty="0"/>
          </a:p>
        </p:txBody>
      </p:sp>
      <p:sp>
        <p:nvSpPr>
          <p:cNvPr id="17" name="Shape 15"/>
          <p:cNvSpPr/>
          <p:nvPr/>
        </p:nvSpPr>
        <p:spPr>
          <a:xfrm>
            <a:off x="548640" y="4434840"/>
            <a:ext cx="1691640" cy="685800"/>
          </a:xfrm>
          <a:prstGeom prst="roundRect">
            <a:avLst>
              <a:gd name="adj" fmla="val 10667"/>
            </a:avLst>
          </a:prstGeom>
          <a:solidFill>
            <a:srgbClr val="FFFFFF"/>
          </a:solidFill>
          <a:ln/>
        </p:spPr>
      </p:sp>
      <p:sp>
        <p:nvSpPr>
          <p:cNvPr id="18" name="Text 16"/>
          <p:cNvSpPr/>
          <p:nvPr/>
        </p:nvSpPr>
        <p:spPr>
          <a:xfrm>
            <a:off x="5486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OCR Accuracy</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(incl. Devanagari)</a:t>
            </a:r>
            <a:endParaRPr lang="en-US" sz="950" dirty="0"/>
          </a:p>
        </p:txBody>
      </p:sp>
      <p:sp>
        <p:nvSpPr>
          <p:cNvPr id="19" name="Shape 17"/>
          <p:cNvSpPr/>
          <p:nvPr/>
        </p:nvSpPr>
        <p:spPr>
          <a:xfrm>
            <a:off x="548640" y="4434840"/>
            <a:ext cx="1691640" cy="685800"/>
          </a:xfrm>
          <a:prstGeom prst="roundRect">
            <a:avLst>
              <a:gd name="adj" fmla="val 8000"/>
            </a:avLst>
          </a:prstGeom>
          <a:ln w="12700">
            <a:solidFill>
              <a:srgbClr val="0078D4"/>
            </a:solidFill>
            <a:prstDash val="solid"/>
          </a:ln>
        </p:spPr>
      </p:sp>
      <p:sp>
        <p:nvSpPr>
          <p:cNvPr id="20" name="Shape 18"/>
          <p:cNvSpPr/>
          <p:nvPr/>
        </p:nvSpPr>
        <p:spPr>
          <a:xfrm>
            <a:off x="2377440" y="4434840"/>
            <a:ext cx="1691640" cy="685800"/>
          </a:xfrm>
          <a:prstGeom prst="roundRect">
            <a:avLst>
              <a:gd name="adj" fmla="val 10667"/>
            </a:avLst>
          </a:prstGeom>
          <a:solidFill>
            <a:srgbClr val="FFFFFF"/>
          </a:solidFill>
          <a:ln/>
        </p:spPr>
      </p:sp>
      <p:sp>
        <p:nvSpPr>
          <p:cNvPr id="21" name="Text 19"/>
          <p:cNvSpPr/>
          <p:nvPr/>
        </p:nvSpPr>
        <p:spPr>
          <a:xfrm>
            <a:off x="23774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Entity Extraction</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Precision</a:t>
            </a:r>
            <a:endParaRPr lang="en-US" sz="950" dirty="0"/>
          </a:p>
        </p:txBody>
      </p:sp>
      <p:sp>
        <p:nvSpPr>
          <p:cNvPr id="22" name="Shape 20"/>
          <p:cNvSpPr/>
          <p:nvPr/>
        </p:nvSpPr>
        <p:spPr>
          <a:xfrm>
            <a:off x="2377440" y="4434840"/>
            <a:ext cx="1691640" cy="685800"/>
          </a:xfrm>
          <a:prstGeom prst="roundRect">
            <a:avLst>
              <a:gd name="adj" fmla="val 8000"/>
            </a:avLst>
          </a:prstGeom>
          <a:ln w="12700">
            <a:solidFill>
              <a:srgbClr val="0078D4"/>
            </a:solidFill>
            <a:prstDash val="solid"/>
          </a:ln>
        </p:spPr>
      </p:sp>
      <p:sp>
        <p:nvSpPr>
          <p:cNvPr id="23" name="Shape 21"/>
          <p:cNvSpPr/>
          <p:nvPr/>
        </p:nvSpPr>
        <p:spPr>
          <a:xfrm>
            <a:off x="4206240" y="4434840"/>
            <a:ext cx="1691640" cy="685800"/>
          </a:xfrm>
          <a:prstGeom prst="roundRect">
            <a:avLst>
              <a:gd name="adj" fmla="val 10667"/>
            </a:avLst>
          </a:prstGeom>
          <a:solidFill>
            <a:srgbClr val="FFFFFF"/>
          </a:solidFill>
          <a:ln/>
        </p:spPr>
      </p:sp>
      <p:sp>
        <p:nvSpPr>
          <p:cNvPr id="24" name="Text 22"/>
          <p:cNvSpPr/>
          <p:nvPr/>
        </p:nvSpPr>
        <p:spPr>
          <a:xfrm>
            <a:off x="42062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Entity Resolution</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Ablation Study</a:t>
            </a:r>
            <a:endParaRPr lang="en-US" sz="950" dirty="0"/>
          </a:p>
        </p:txBody>
      </p:sp>
      <p:sp>
        <p:nvSpPr>
          <p:cNvPr id="25" name="Shape 23"/>
          <p:cNvSpPr/>
          <p:nvPr/>
        </p:nvSpPr>
        <p:spPr>
          <a:xfrm>
            <a:off x="4206240" y="4434840"/>
            <a:ext cx="1691640" cy="685800"/>
          </a:xfrm>
          <a:prstGeom prst="roundRect">
            <a:avLst>
              <a:gd name="adj" fmla="val 8000"/>
            </a:avLst>
          </a:prstGeom>
          <a:ln w="12700">
            <a:solidFill>
              <a:srgbClr val="0078D4"/>
            </a:solidFill>
            <a:prstDash val="solid"/>
          </a:ln>
        </p:spPr>
      </p:sp>
      <p:sp>
        <p:nvSpPr>
          <p:cNvPr id="26" name="Shape 24"/>
          <p:cNvSpPr/>
          <p:nvPr/>
        </p:nvSpPr>
        <p:spPr>
          <a:xfrm>
            <a:off x="6035040" y="4434840"/>
            <a:ext cx="1691640" cy="685800"/>
          </a:xfrm>
          <a:prstGeom prst="roundRect">
            <a:avLst>
              <a:gd name="adj" fmla="val 10667"/>
            </a:avLst>
          </a:prstGeom>
          <a:solidFill>
            <a:srgbClr val="FFFFFF"/>
          </a:solidFill>
          <a:ln/>
        </p:spPr>
      </p:sp>
      <p:sp>
        <p:nvSpPr>
          <p:cNvPr id="27" name="Text 25"/>
          <p:cNvSpPr/>
          <p:nvPr/>
        </p:nvSpPr>
        <p:spPr>
          <a:xfrm>
            <a:off x="60350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Latency /</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Processing Time</a:t>
            </a:r>
            <a:endParaRPr lang="en-US" sz="950" dirty="0"/>
          </a:p>
        </p:txBody>
      </p:sp>
      <p:sp>
        <p:nvSpPr>
          <p:cNvPr id="28" name="Shape 26"/>
          <p:cNvSpPr/>
          <p:nvPr/>
        </p:nvSpPr>
        <p:spPr>
          <a:xfrm>
            <a:off x="6035040" y="4434840"/>
            <a:ext cx="1691640" cy="685800"/>
          </a:xfrm>
          <a:prstGeom prst="roundRect">
            <a:avLst>
              <a:gd name="adj" fmla="val 8000"/>
            </a:avLst>
          </a:prstGeom>
          <a:ln w="12700">
            <a:solidFill>
              <a:srgbClr val="0078D4"/>
            </a:solidFill>
            <a:prstDash val="solid"/>
          </a:ln>
        </p:spPr>
      </p:sp>
      <p:sp>
        <p:nvSpPr>
          <p:cNvPr id="29" name="Shape 27"/>
          <p:cNvSpPr/>
          <p:nvPr/>
        </p:nvSpPr>
        <p:spPr>
          <a:xfrm>
            <a:off x="7863840" y="4434840"/>
            <a:ext cx="1691640" cy="685800"/>
          </a:xfrm>
          <a:prstGeom prst="roundRect">
            <a:avLst>
              <a:gd name="adj" fmla="val 10667"/>
            </a:avLst>
          </a:prstGeom>
          <a:solidFill>
            <a:srgbClr val="FFFFFF"/>
          </a:solidFill>
          <a:ln/>
        </p:spPr>
      </p:sp>
      <p:sp>
        <p:nvSpPr>
          <p:cNvPr id="30" name="Text 28"/>
          <p:cNvSpPr/>
          <p:nvPr/>
        </p:nvSpPr>
        <p:spPr>
          <a:xfrm>
            <a:off x="78638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Manual Correction</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Rate</a:t>
            </a:r>
            <a:endParaRPr lang="en-US" sz="950" dirty="0"/>
          </a:p>
        </p:txBody>
      </p:sp>
      <p:sp>
        <p:nvSpPr>
          <p:cNvPr id="31" name="Shape 29"/>
          <p:cNvSpPr/>
          <p:nvPr/>
        </p:nvSpPr>
        <p:spPr>
          <a:xfrm>
            <a:off x="7863840" y="4434840"/>
            <a:ext cx="1691640" cy="685800"/>
          </a:xfrm>
          <a:prstGeom prst="roundRect">
            <a:avLst>
              <a:gd name="adj" fmla="val 8000"/>
            </a:avLst>
          </a:prstGeom>
          <a:ln w="12700">
            <a:solidFill>
              <a:srgbClr val="0078D4"/>
            </a:solidFill>
            <a:prstDash val="solid"/>
          </a:ln>
        </p:spPr>
      </p:sp>
      <p:sp>
        <p:nvSpPr>
          <p:cNvPr id="32" name="Shape 30"/>
          <p:cNvSpPr/>
          <p:nvPr/>
        </p:nvSpPr>
        <p:spPr>
          <a:xfrm>
            <a:off x="9692640" y="4434840"/>
            <a:ext cx="1691640" cy="685800"/>
          </a:xfrm>
          <a:prstGeom prst="roundRect">
            <a:avLst>
              <a:gd name="adj" fmla="val 10667"/>
            </a:avLst>
          </a:prstGeom>
          <a:solidFill>
            <a:srgbClr val="FFFFFF"/>
          </a:solidFill>
          <a:ln/>
        </p:spPr>
      </p:sp>
      <p:sp>
        <p:nvSpPr>
          <p:cNvPr id="33" name="Text 31"/>
          <p:cNvSpPr/>
          <p:nvPr/>
        </p:nvSpPr>
        <p:spPr>
          <a:xfrm>
            <a:off x="9692640" y="4434840"/>
            <a:ext cx="1691640" cy="685800"/>
          </a:xfrm>
          <a:prstGeom prst="rect">
            <a:avLst/>
          </a:prstGeom>
          <a:noFill/>
          <a:ln/>
        </p:spPr>
        <p:txBody>
          <a:bodyPr wrap="square" lIns="25400" tIns="25400" rIns="25400" bIns="25400" rtlCol="0" anchor="ctr"/>
          <a:lstStyle/>
          <a:p>
            <a:pPr algn="ctr" indent="0" marL="0">
              <a:buNone/>
            </a:pPr>
            <a:r>
              <a:rPr lang="en-US" sz="950" b="1" dirty="0">
                <a:solidFill>
                  <a:srgbClr val="005A9E"/>
                </a:solidFill>
                <a:latin typeface="Calibri" pitchFamily="34" charset="0"/>
                <a:ea typeface="Calibri" pitchFamily="34" charset="-122"/>
                <a:cs typeface="Calibri" pitchFamily="34" charset="-120"/>
              </a:rPr>
              <a:t>Unsupported-Claim</a:t>
            </a:r>
            <a:endParaRPr lang="en-US" sz="950" dirty="0"/>
          </a:p>
          <a:p>
            <a:pPr algn="ctr" indent="0" marL="0">
              <a:buNone/>
            </a:pPr>
            <a:r>
              <a:rPr lang="en-US" sz="950" b="1" dirty="0">
                <a:solidFill>
                  <a:srgbClr val="005A9E"/>
                </a:solidFill>
                <a:latin typeface="Calibri" pitchFamily="34" charset="0"/>
                <a:ea typeface="Calibri" pitchFamily="34" charset="-122"/>
                <a:cs typeface="Calibri" pitchFamily="34" charset="-120"/>
              </a:rPr>
              <a:t>Rate</a:t>
            </a:r>
            <a:endParaRPr lang="en-US" sz="950" dirty="0"/>
          </a:p>
        </p:txBody>
      </p:sp>
      <p:sp>
        <p:nvSpPr>
          <p:cNvPr id="34" name="Shape 32"/>
          <p:cNvSpPr/>
          <p:nvPr/>
        </p:nvSpPr>
        <p:spPr>
          <a:xfrm>
            <a:off x="9692640" y="4434840"/>
            <a:ext cx="1691640" cy="685800"/>
          </a:xfrm>
          <a:prstGeom prst="roundRect">
            <a:avLst>
              <a:gd name="adj" fmla="val 8000"/>
            </a:avLst>
          </a:prstGeom>
          <a:ln w="12700">
            <a:solidFill>
              <a:srgbClr val="0078D4"/>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17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Limitations + Future Work</a:t>
            </a:r>
            <a:endParaRPr lang="en-US" sz="3200" dirty="0"/>
          </a:p>
        </p:txBody>
      </p:sp>
      <p:sp>
        <p:nvSpPr>
          <p:cNvPr id="4" name="Text 2"/>
          <p:cNvSpPr/>
          <p:nvPr/>
        </p:nvSpPr>
        <p:spPr>
          <a:xfrm>
            <a:off x="548640" y="1188720"/>
            <a:ext cx="5486400" cy="274320"/>
          </a:xfrm>
          <a:prstGeom prst="rect">
            <a:avLst/>
          </a:prstGeom>
          <a:noFill/>
          <a:ln/>
        </p:spPr>
        <p:txBody>
          <a:bodyPr wrap="square" lIns="0" tIns="0" rIns="0" bIns="0" rtlCol="0" anchor="ctr"/>
          <a:lstStyle/>
          <a:p>
            <a:pPr algn="l" indent="0" marL="0">
              <a:buNone/>
            </a:pPr>
            <a:r>
              <a:rPr lang="en-US" sz="1100" b="1" spc="100" kern="0" dirty="0">
                <a:solidFill>
                  <a:srgbClr val="8E4A42"/>
                </a:solidFill>
                <a:latin typeface="Calibri" pitchFamily="34" charset="0"/>
                <a:ea typeface="Calibri" pitchFamily="34" charset="-122"/>
                <a:cs typeface="Calibri" pitchFamily="34" charset="-120"/>
              </a:rPr>
              <a:t>LIMITATIONS (STATED UP FRONT)</a:t>
            </a:r>
            <a:endParaRPr lang="en-US" sz="1100" dirty="0"/>
          </a:p>
        </p:txBody>
      </p:sp>
      <p:sp>
        <p:nvSpPr>
          <p:cNvPr id="5" name="Shape 3"/>
          <p:cNvSpPr/>
          <p:nvPr/>
        </p:nvSpPr>
        <p:spPr>
          <a:xfrm>
            <a:off x="548640" y="1508760"/>
            <a:ext cx="5257800" cy="4572000"/>
          </a:xfrm>
          <a:prstGeom prst="roundRect">
            <a:avLst>
              <a:gd name="adj" fmla="val 2000"/>
            </a:avLst>
          </a:prstGeom>
          <a:solidFill>
            <a:srgbClr val="F6EBE9"/>
          </a:solidFill>
          <a:ln w="9525">
            <a:solidFill>
              <a:srgbClr val="8E4A42"/>
            </a:solidFill>
            <a:prstDash val="solid"/>
          </a:ln>
          <a:effectLst>
            <a:outerShdw sx="100000" sy="100000" kx="0" ky="0" algn="bl" rotWithShape="0" blurRad="76200" dist="25400" dir="5400000">
              <a:srgbClr val="BFBFBF">
                <a:alpha val="35000"/>
              </a:srgbClr>
            </a:outerShdw>
          </a:effectLst>
        </p:spPr>
      </p:sp>
      <p:sp>
        <p:nvSpPr>
          <p:cNvPr id="6" name="Text 4"/>
          <p:cNvSpPr/>
          <p:nvPr/>
        </p:nvSpPr>
        <p:spPr>
          <a:xfrm>
            <a:off x="822960" y="1691640"/>
            <a:ext cx="4754880" cy="425196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No direct insurer APIs</a:t>
            </a:r>
            <a:endParaRPr lang="en-US" sz="1250" dirty="0"/>
          </a:p>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No production ABDM (sandbox only)</a:t>
            </a:r>
            <a:endParaRPr lang="en-US" sz="1250" dirty="0"/>
          </a:p>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No automatic approvals</a:t>
            </a:r>
            <a:endParaRPr lang="en-US" sz="1250" dirty="0"/>
          </a:p>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No authenticity verification (integrity checks only)</a:t>
            </a:r>
            <a:endParaRPr lang="en-US" sz="1250" dirty="0"/>
          </a:p>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Decision support only — never advice</a:t>
            </a:r>
            <a:endParaRPr lang="en-US" sz="1250" dirty="0"/>
          </a:p>
          <a:p>
            <a:pPr marL="177800" indent="-177800">
              <a:lnSpc>
                <a:spcPct val="105000"/>
              </a:lnSpc>
              <a:spcAft>
                <a:spcPts val="1200"/>
              </a:spcAft>
              <a:buSzPct val="100000"/>
              <a:buChar char="•"/>
            </a:pPr>
            <a:r>
              <a:rPr lang="en-US" sz="1250" dirty="0">
                <a:solidFill>
                  <a:srgbClr val="6E322D"/>
                </a:solidFill>
                <a:latin typeface="Calibri" pitchFamily="34" charset="0"/>
                <a:ea typeface="Calibri" pitchFamily="34" charset="-122"/>
                <a:cs typeface="Calibri" pitchFamily="34" charset="-120"/>
              </a:rPr>
              <a:t>Prototype scale — demo + pilot cohort</a:t>
            </a:r>
            <a:endParaRPr lang="en-US" sz="1250" dirty="0"/>
          </a:p>
        </p:txBody>
      </p:sp>
      <p:sp>
        <p:nvSpPr>
          <p:cNvPr id="7" name="Text 5"/>
          <p:cNvSpPr/>
          <p:nvPr/>
        </p:nvSpPr>
        <p:spPr>
          <a:xfrm>
            <a:off x="6035040" y="1188720"/>
            <a:ext cx="54864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FUTURE WORK (MAPPED TO EACH)</a:t>
            </a:r>
            <a:endParaRPr lang="en-US" sz="1100" dirty="0"/>
          </a:p>
        </p:txBody>
      </p:sp>
      <p:sp>
        <p:nvSpPr>
          <p:cNvPr id="8" name="Shape 6"/>
          <p:cNvSpPr/>
          <p:nvPr/>
        </p:nvSpPr>
        <p:spPr>
          <a:xfrm>
            <a:off x="6035040" y="1508760"/>
            <a:ext cx="5577840" cy="4572000"/>
          </a:xfrm>
          <a:prstGeom prst="roundRect">
            <a:avLst>
              <a:gd name="adj" fmla="val 2000"/>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9" name="Text 7"/>
          <p:cNvSpPr/>
          <p:nvPr/>
        </p:nvSpPr>
        <p:spPr>
          <a:xfrm>
            <a:off x="6309360" y="1691640"/>
            <a:ext cx="5074920" cy="425196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FHIR-based interoperability</a:t>
            </a:r>
            <a:endParaRPr lang="en-US" sz="1250" dirty="0"/>
          </a:p>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Production ABDM certification (M1→M2→M3)</a:t>
            </a:r>
            <a:endParaRPr lang="en-US" sz="1250" dirty="0"/>
          </a:p>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Hospital / insurer API integration, if available</a:t>
            </a:r>
            <a:endParaRPr lang="en-US" sz="1250" dirty="0"/>
          </a:p>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Claim-submission APIs (pending HCX)</a:t>
            </a:r>
            <a:endParaRPr lang="en-US" sz="1250" dirty="0"/>
          </a:p>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Knowledge-graph scheme reasoning (less hallucination vs. flat RAG)</a:t>
            </a:r>
            <a:endParaRPr lang="en-US" sz="1250" dirty="0"/>
          </a:p>
          <a:p>
            <a:pPr marL="177800" indent="-177800">
              <a:lnSpc>
                <a:spcPct val="105000"/>
              </a:lnSpc>
              <a:spcAft>
                <a:spcPts val="1200"/>
              </a:spcAft>
              <a:buSzPct val="100000"/>
              <a:buChar char="•"/>
            </a:pPr>
            <a:r>
              <a:rPr lang="en-US" sz="1250" dirty="0">
                <a:solidFill>
                  <a:srgbClr val="005A9E"/>
                </a:solidFill>
                <a:latin typeface="Calibri" pitchFamily="34" charset="0"/>
                <a:ea typeface="Calibri" pitchFamily="34" charset="-122"/>
                <a:cs typeface="Calibri" pitchFamily="34" charset="-120"/>
              </a:rPr>
              <a:t>Mobile app + analytics dashboard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757575"/>
                </a:solidFill>
                <a:latin typeface="Calibri" pitchFamily="34" charset="0"/>
                <a:ea typeface="Calibri" pitchFamily="34" charset="-122"/>
                <a:cs typeface="Calibri" pitchFamily="34" charset="-120"/>
              </a:rPr>
              <a:t>18 / 18</a:t>
            </a:r>
            <a:endParaRPr lang="en-US" sz="9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200" b="1" dirty="0">
                <a:solidFill>
                  <a:srgbClr val="005A9E"/>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548640" y="118872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ENGINEERING CONTRIBUTION</a:t>
            </a:r>
            <a:endParaRPr lang="en-US" sz="1100" dirty="0"/>
          </a:p>
        </p:txBody>
      </p:sp>
      <p:sp>
        <p:nvSpPr>
          <p:cNvPr id="5" name="Shape 3"/>
          <p:cNvSpPr/>
          <p:nvPr/>
        </p:nvSpPr>
        <p:spPr>
          <a:xfrm>
            <a:off x="548640" y="1508760"/>
            <a:ext cx="3520440" cy="1371600"/>
          </a:xfrm>
          <a:prstGeom prst="roundRect">
            <a:avLst>
              <a:gd name="adj" fmla="val 666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6" name="Text 4"/>
          <p:cNvSpPr/>
          <p:nvPr/>
        </p:nvSpPr>
        <p:spPr>
          <a:xfrm>
            <a:off x="731520" y="1627632"/>
            <a:ext cx="3154680" cy="64008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Shared-Context</a:t>
            </a:r>
            <a:endParaRPr lang="en-US" sz="1250" dirty="0"/>
          </a:p>
          <a:p>
            <a:pPr algn="l" indent="0" marL="0">
              <a:buNone/>
            </a:pPr>
            <a:r>
              <a:rPr lang="en-US" sz="1250" b="1" dirty="0">
                <a:solidFill>
                  <a:srgbClr val="005A9E"/>
                </a:solidFill>
                <a:latin typeface="Calibri" pitchFamily="34" charset="0"/>
                <a:ea typeface="Calibri" pitchFamily="34" charset="-122"/>
                <a:cs typeface="Calibri" pitchFamily="34" charset="-120"/>
              </a:rPr>
              <a:t>Orchestration Layer</a:t>
            </a:r>
            <a:endParaRPr lang="en-US" sz="1250" dirty="0"/>
          </a:p>
        </p:txBody>
      </p:sp>
      <p:sp>
        <p:nvSpPr>
          <p:cNvPr id="7" name="Text 5"/>
          <p:cNvSpPr/>
          <p:nvPr/>
        </p:nvSpPr>
        <p:spPr>
          <a:xfrm>
            <a:off x="731520" y="2286000"/>
            <a:ext cx="3154680" cy="5029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Kadi links four independent modules</a:t>
            </a:r>
            <a:endParaRPr lang="en-US" sz="1100" dirty="0"/>
          </a:p>
        </p:txBody>
      </p:sp>
      <p:sp>
        <p:nvSpPr>
          <p:cNvPr id="8" name="Shape 6"/>
          <p:cNvSpPr/>
          <p:nvPr/>
        </p:nvSpPr>
        <p:spPr>
          <a:xfrm>
            <a:off x="4251960" y="1508760"/>
            <a:ext cx="3520440" cy="1371600"/>
          </a:xfrm>
          <a:prstGeom prst="roundRect">
            <a:avLst>
              <a:gd name="adj" fmla="val 666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9" name="Text 7"/>
          <p:cNvSpPr/>
          <p:nvPr/>
        </p:nvSpPr>
        <p:spPr>
          <a:xfrm>
            <a:off x="4434840" y="1627632"/>
            <a:ext cx="3154680" cy="64008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Cross-Lingual Entity</a:t>
            </a:r>
            <a:endParaRPr lang="en-US" sz="1250" dirty="0"/>
          </a:p>
          <a:p>
            <a:pPr algn="l" indent="0" marL="0">
              <a:buNone/>
            </a:pPr>
            <a:r>
              <a:rPr lang="en-US" sz="1250" b="1" dirty="0">
                <a:solidFill>
                  <a:srgbClr val="005A9E"/>
                </a:solidFill>
                <a:latin typeface="Calibri" pitchFamily="34" charset="0"/>
                <a:ea typeface="Calibri" pitchFamily="34" charset="-122"/>
                <a:cs typeface="Calibri" pitchFamily="34" charset="-120"/>
              </a:rPr>
              <a:t>Resolution Pipeline</a:t>
            </a:r>
            <a:endParaRPr lang="en-US" sz="1250" dirty="0"/>
          </a:p>
        </p:txBody>
      </p:sp>
      <p:sp>
        <p:nvSpPr>
          <p:cNvPr id="10" name="Text 8"/>
          <p:cNvSpPr/>
          <p:nvPr/>
        </p:nvSpPr>
        <p:spPr>
          <a:xfrm>
            <a:off x="4434840" y="2286000"/>
            <a:ext cx="3154680" cy="5029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Three signals, one confidence score</a:t>
            </a:r>
            <a:endParaRPr lang="en-US" sz="1100" dirty="0"/>
          </a:p>
        </p:txBody>
      </p:sp>
      <p:sp>
        <p:nvSpPr>
          <p:cNvPr id="11" name="Shape 9"/>
          <p:cNvSpPr/>
          <p:nvPr/>
        </p:nvSpPr>
        <p:spPr>
          <a:xfrm>
            <a:off x="7955280" y="1508760"/>
            <a:ext cx="3520440" cy="1371600"/>
          </a:xfrm>
          <a:prstGeom prst="roundRect">
            <a:avLst>
              <a:gd name="adj" fmla="val 6667"/>
            </a:avLst>
          </a:prstGeom>
          <a:solidFill>
            <a:srgbClr val="EAF3FB"/>
          </a:solidFill>
          <a:ln w="9525">
            <a:solidFill>
              <a:srgbClr val="0078D4"/>
            </a:solidFill>
            <a:prstDash val="solid"/>
          </a:ln>
          <a:effectLst>
            <a:outerShdw sx="100000" sy="100000" kx="0" ky="0" algn="bl" rotWithShape="0" blurRad="76200" dist="25400" dir="5400000">
              <a:srgbClr val="BFBFBF">
                <a:alpha val="35000"/>
              </a:srgbClr>
            </a:outerShdw>
          </a:effectLst>
        </p:spPr>
      </p:sp>
      <p:sp>
        <p:nvSpPr>
          <p:cNvPr id="12" name="Text 10"/>
          <p:cNvSpPr/>
          <p:nvPr/>
        </p:nvSpPr>
        <p:spPr>
          <a:xfrm>
            <a:off x="8138160" y="1627632"/>
            <a:ext cx="3154680" cy="640080"/>
          </a:xfrm>
          <a:prstGeom prst="rect">
            <a:avLst/>
          </a:prstGeom>
          <a:noFill/>
          <a:ln/>
        </p:spPr>
        <p:txBody>
          <a:bodyPr wrap="square" lIns="0" tIns="0" rIns="0" bIns="0" rtlCol="0" anchor="t"/>
          <a:lstStyle/>
          <a:p>
            <a:pPr algn="l" indent="0" marL="0">
              <a:buNone/>
            </a:pPr>
            <a:r>
              <a:rPr lang="en-US" sz="1250" b="1" dirty="0">
                <a:solidFill>
                  <a:srgbClr val="005A9E"/>
                </a:solidFill>
                <a:latin typeface="Calibri" pitchFamily="34" charset="0"/>
                <a:ea typeface="Calibri" pitchFamily="34" charset="-122"/>
                <a:cs typeface="Calibri" pitchFamily="34" charset="-120"/>
              </a:rPr>
              <a:t>Citation-Enforced</a:t>
            </a:r>
            <a:endParaRPr lang="en-US" sz="1250" dirty="0"/>
          </a:p>
          <a:p>
            <a:pPr algn="l" indent="0" marL="0">
              <a:buNone/>
            </a:pPr>
            <a:r>
              <a:rPr lang="en-US" sz="1250" b="1" dirty="0">
                <a:solidFill>
                  <a:srgbClr val="005A9E"/>
                </a:solidFill>
                <a:latin typeface="Calibri" pitchFamily="34" charset="0"/>
                <a:ea typeface="Calibri" pitchFamily="34" charset="-122"/>
                <a:cs typeface="Calibri" pitchFamily="34" charset="-120"/>
              </a:rPr>
              <a:t>Generation Pipeline</a:t>
            </a:r>
            <a:endParaRPr lang="en-US" sz="1250" dirty="0"/>
          </a:p>
        </p:txBody>
      </p:sp>
      <p:sp>
        <p:nvSpPr>
          <p:cNvPr id="13" name="Text 11"/>
          <p:cNvSpPr/>
          <p:nvPr/>
        </p:nvSpPr>
        <p:spPr>
          <a:xfrm>
            <a:off x="8138160" y="2286000"/>
            <a:ext cx="3154680" cy="502920"/>
          </a:xfrm>
          <a:prstGeom prst="rect">
            <a:avLst/>
          </a:prstGeom>
          <a:noFill/>
          <a:ln/>
        </p:spPr>
        <p:txBody>
          <a:bodyPr wrap="square" lIns="0" tIns="0" rIns="0" bIns="0" rtlCol="0" anchor="t"/>
          <a:lstStyle/>
          <a:p>
            <a:pPr algn="l" indent="0" marL="0">
              <a:buNone/>
            </a:pPr>
            <a:r>
              <a:rPr lang="en-US" sz="1100" dirty="0">
                <a:solidFill>
                  <a:srgbClr val="3B3B3B"/>
                </a:solidFill>
                <a:latin typeface="Calibri" pitchFamily="34" charset="0"/>
                <a:ea typeface="Calibri" pitchFamily="34" charset="-122"/>
                <a:cs typeface="Calibri" pitchFamily="34" charset="-120"/>
              </a:rPr>
              <a:t>Multi-agent, hallucination-mitigated</a:t>
            </a:r>
            <a:endParaRPr lang="en-US" sz="1100" dirty="0"/>
          </a:p>
        </p:txBody>
      </p:sp>
      <p:sp>
        <p:nvSpPr>
          <p:cNvPr id="14" name="Text 12"/>
          <p:cNvSpPr/>
          <p:nvPr/>
        </p:nvSpPr>
        <p:spPr>
          <a:xfrm>
            <a:off x="548640" y="3108960"/>
            <a:ext cx="7315200" cy="274320"/>
          </a:xfrm>
          <a:prstGeom prst="rect">
            <a:avLst/>
          </a:prstGeom>
          <a:noFill/>
          <a:ln/>
        </p:spPr>
        <p:txBody>
          <a:bodyPr wrap="square" lIns="0" tIns="0" rIns="0" bIns="0" rtlCol="0" anchor="ctr"/>
          <a:lstStyle/>
          <a:p>
            <a:pPr algn="l" indent="0" marL="0">
              <a:buNone/>
            </a:pPr>
            <a:r>
              <a:rPr lang="en-US" sz="1100" b="1" spc="100" kern="0" dirty="0">
                <a:solidFill>
                  <a:srgbClr val="0078D4"/>
                </a:solidFill>
                <a:latin typeface="Calibri" pitchFamily="34" charset="0"/>
                <a:ea typeface="Calibri" pitchFamily="34" charset="-122"/>
                <a:cs typeface="Calibri" pitchFamily="34" charset="-120"/>
              </a:rPr>
              <a:t>HEALTHCARE CONTRIBUTION</a:t>
            </a:r>
            <a:endParaRPr lang="en-US" sz="1100" dirty="0"/>
          </a:p>
        </p:txBody>
      </p:sp>
      <p:sp>
        <p:nvSpPr>
          <p:cNvPr id="15" name="Shape 13"/>
          <p:cNvSpPr/>
          <p:nvPr/>
        </p:nvSpPr>
        <p:spPr>
          <a:xfrm>
            <a:off x="548640" y="3429000"/>
            <a:ext cx="10881360" cy="868680"/>
          </a:xfrm>
          <a:prstGeom prst="roundRect">
            <a:avLst>
              <a:gd name="adj" fmla="val 10526"/>
            </a:avLst>
          </a:prstGeom>
          <a:solidFill>
            <a:srgbClr val="FFFFFF"/>
          </a:solidFill>
          <a:ln w="9525">
            <a:solidFill>
              <a:srgbClr val="DCDCDC"/>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822960" y="3566160"/>
            <a:ext cx="10332720" cy="594360"/>
          </a:xfrm>
          <a:prstGeom prst="rect">
            <a:avLst/>
          </a:prstGeom>
          <a:noFill/>
          <a:ln/>
        </p:spPr>
        <p:txBody>
          <a:bodyPr wrap="square" lIns="0" tIns="0" rIns="0" bIns="0" rtlCol="0" anchor="ctr"/>
          <a:lstStyle/>
          <a:p>
            <a:pPr algn="l" indent="0" marL="0">
              <a:buNone/>
            </a:pPr>
            <a:r>
              <a:rPr lang="en-US" sz="1300" dirty="0">
                <a:solidFill>
                  <a:srgbClr val="3B3B3B"/>
                </a:solidFill>
                <a:latin typeface="Calibri" pitchFamily="34" charset="0"/>
                <a:ea typeface="Calibri" pitchFamily="34" charset="-122"/>
                <a:cs typeface="Calibri" pitchFamily="34" charset="-120"/>
              </a:rPr>
              <a:t>The discharged patient now makes one upload instead of five separate steps — every output grounded in verifiable government data, in English, Hindi, and Marathi.</a:t>
            </a:r>
            <a:endParaRPr lang="en-US" sz="1300" dirty="0"/>
          </a:p>
        </p:txBody>
      </p:sp>
      <p:sp>
        <p:nvSpPr>
          <p:cNvPr id="17" name="Shape 15"/>
          <p:cNvSpPr/>
          <p:nvPr/>
        </p:nvSpPr>
        <p:spPr>
          <a:xfrm>
            <a:off x="548640" y="4480560"/>
            <a:ext cx="10881360" cy="777240"/>
          </a:xfrm>
          <a:prstGeom prst="roundRect">
            <a:avLst>
              <a:gd name="adj" fmla="val 11765"/>
            </a:avLst>
          </a:prstGeom>
          <a:solidFill>
            <a:srgbClr val="005A9E"/>
          </a:solidFill>
          <a:ln/>
        </p:spPr>
      </p:sp>
      <p:sp>
        <p:nvSpPr>
          <p:cNvPr id="18" name="Text 16"/>
          <p:cNvSpPr/>
          <p:nvPr/>
        </p:nvSpPr>
        <p:spPr>
          <a:xfrm>
            <a:off x="822960" y="4480560"/>
            <a:ext cx="10332720"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 defensible architecture designed to extend — a realistic path to pilot, not an overclaim to production.</a:t>
            </a:r>
            <a:endParaRPr lang="en-US" sz="1350" dirty="0"/>
          </a:p>
        </p:txBody>
      </p:sp>
      <p:sp>
        <p:nvSpPr>
          <p:cNvPr id="19" name="Text 17"/>
          <p:cNvSpPr/>
          <p:nvPr/>
        </p:nvSpPr>
        <p:spPr>
          <a:xfrm>
            <a:off x="548640" y="5486400"/>
            <a:ext cx="10881360" cy="457200"/>
          </a:xfrm>
          <a:prstGeom prst="rect">
            <a:avLst/>
          </a:prstGeom>
          <a:noFill/>
          <a:ln/>
        </p:spPr>
        <p:txBody>
          <a:bodyPr wrap="square" lIns="0" tIns="0" rIns="0" bIns="0" rtlCol="0" anchor="t"/>
          <a:lstStyle/>
          <a:p>
            <a:pPr algn="ctr" indent="0" marL="0">
              <a:buNone/>
            </a:pPr>
            <a:r>
              <a:rPr lang="en-US" sz="2000" b="1" dirty="0">
                <a:solidFill>
                  <a:srgbClr val="005A9E"/>
                </a:solidFill>
                <a:latin typeface="Calibri" pitchFamily="34" charset="0"/>
                <a:ea typeface="Calibri" pitchFamily="34" charset="-122"/>
                <a:cs typeface="Calibri" pitchFamily="34" charset="-120"/>
              </a:rPr>
              <a:t>Thank you. Questions welcome.</a:t>
            </a:r>
            <a:endParaRPr lang="en-US" sz="2000" dirty="0"/>
          </a:p>
        </p:txBody>
      </p:sp>
      <p:sp>
        <p:nvSpPr>
          <p:cNvPr id="20" name="Text 18"/>
          <p:cNvSpPr/>
          <p:nvPr/>
        </p:nvSpPr>
        <p:spPr>
          <a:xfrm>
            <a:off x="548640" y="5989320"/>
            <a:ext cx="10881360" cy="365760"/>
          </a:xfrm>
          <a:prstGeom prst="rect">
            <a:avLst/>
          </a:prstGeom>
          <a:noFill/>
          <a:ln/>
        </p:spPr>
        <p:txBody>
          <a:bodyPr wrap="square" lIns="0" tIns="0" rIns="0" bIns="0" rtlCol="0" anchor="t"/>
          <a:lstStyle/>
          <a:p>
            <a:pPr algn="ctr" indent="0" marL="0">
              <a:buNone/>
            </a:pPr>
            <a:r>
              <a:rPr lang="en-US" sz="1150" dirty="0">
                <a:solidFill>
                  <a:srgbClr val="757575"/>
                </a:solidFill>
                <a:latin typeface="Calibri" pitchFamily="34" charset="0"/>
                <a:ea typeface="Calibri" pitchFamily="34" charset="-122"/>
                <a:cs typeface="Calibri" pitchFamily="34" charset="-120"/>
              </a:rPr>
              <a:t>Viraj Jadhao  ·  Anurag Pawar  ·  Arya Chandak  ·  Sanjali Paygude  ·  Raj Janvekar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2026-08-04T20:15:45Z</dcterms:created>
  <dcterms:modified xsi:type="dcterms:W3CDTF">2026-08-04T20:15:45Z</dcterms:modified>
</cp:coreProperties>
</file>