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1675"/>
  <p:notesSz cx="6858000" cy="12191675"/>
  <p:embeddedFontLst>
    <p:embeddedFont>
      <p:font typeface="Montserrat"/>
      <p:regular r:id="rId15"/>
      <p:bold r:id="rId16"/>
      <p:italic r:id="rId17"/>
      <p:boldItalic r:id="rId18"/>
    </p:embeddedFont>
    <p:embeddedFont>
      <p:font typeface="Barlow"/>
      <p:bold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Barlow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Montserrat-regular.fntdata"/><Relationship Id="rId14" Type="http://schemas.openxmlformats.org/officeDocument/2006/relationships/slide" Target="slides/slide10.xml"/><Relationship Id="rId17" Type="http://schemas.openxmlformats.org/officeDocument/2006/relationships/font" Target="fonts/Montserrat-italic.fntdata"/><Relationship Id="rId16" Type="http://schemas.openxmlformats.org/officeDocument/2006/relationships/font" Target="fonts/Montserrat-bold.fntdata"/><Relationship Id="rId5" Type="http://schemas.openxmlformats.org/officeDocument/2006/relationships/slide" Target="slides/slide1.xml"/><Relationship Id="rId19" Type="http://schemas.openxmlformats.org/officeDocument/2006/relationships/font" Target="fonts/Barlow-bold.fntdata"/><Relationship Id="rId6" Type="http://schemas.openxmlformats.org/officeDocument/2006/relationships/slide" Target="slides/slide2.xml"/><Relationship Id="rId18" Type="http://schemas.openxmlformats.org/officeDocument/2006/relationships/font" Target="fonts/Montserrat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" name="Google Shape;1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">
  <p:cSld name="Slide master 1">
    <p:bg>
      <p:bgPr>
        <a:solidFill>
          <a:srgbClr val="000000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2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76875" y="65589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jpg"/><Relationship Id="rId4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jpg"/><Relationship Id="rId4" Type="http://schemas.openxmlformats.org/officeDocument/2006/relationships/image" Target="../media/image1.png"/><Relationship Id="rId5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5" Type="http://schemas.openxmlformats.org/officeDocument/2006/relationships/image" Target="../media/image4.png"/><Relationship Id="rId6" Type="http://schemas.openxmlformats.org/officeDocument/2006/relationships/image" Target="../media/image3.png"/><Relationship Id="rId7" Type="http://schemas.openxmlformats.org/officeDocument/2006/relationships/image" Target="../media/image5.jpg"/><Relationship Id="rId8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jpg"/><Relationship Id="rId4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jpg"/><Relationship Id="rId4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jpg"/><Relationship Id="rId4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jpg"/><Relationship Id="rId4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Relationship Id="rId4" Type="http://schemas.openxmlformats.org/officeDocument/2006/relationships/image" Target="../media/image15.png"/><Relationship Id="rId9" Type="http://schemas.openxmlformats.org/officeDocument/2006/relationships/image" Target="../media/image14.png"/><Relationship Id="rId5" Type="http://schemas.openxmlformats.org/officeDocument/2006/relationships/image" Target="../media/image17.png"/><Relationship Id="rId6" Type="http://schemas.openxmlformats.org/officeDocument/2006/relationships/image" Target="../media/image20.png"/><Relationship Id="rId7" Type="http://schemas.openxmlformats.org/officeDocument/2006/relationships/image" Target="../media/image16.png"/><Relationship Id="rId8" Type="http://schemas.openxmlformats.org/officeDocument/2006/relationships/image" Target="../media/image2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800480" cy="6858000"/>
          </a:xfrm>
          <a:custGeom>
            <a:rect b="b" l="l" r="r" t="t"/>
            <a:pathLst>
              <a:path extrusionOk="0" h="100000" w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21" name="Google Shape;21;p4"/>
          <p:cNvSpPr/>
          <p:nvPr/>
        </p:nvSpPr>
        <p:spPr>
          <a:xfrm>
            <a:off x="5203794" y="745430"/>
            <a:ext cx="6355993" cy="5196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3250"/>
              <a:buFont typeface="Barlow"/>
              <a:buNone/>
            </a:pPr>
            <a:r>
              <a:rPr b="1" i="0" lang="en-US" sz="3250" u="none" cap="none" strike="noStrike">
                <a:solidFill>
                  <a:srgbClr val="2E3C4E"/>
                </a:solidFill>
                <a:latin typeface="Barlow"/>
                <a:ea typeface="Barlow"/>
                <a:cs typeface="Barlow"/>
                <a:sym typeface="Barlow"/>
              </a:rPr>
              <a:t>ArogyaRakshak</a:t>
            </a:r>
            <a:endParaRPr b="0" i="0" sz="3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4"/>
          <p:cNvSpPr/>
          <p:nvPr/>
        </p:nvSpPr>
        <p:spPr>
          <a:xfrm>
            <a:off x="5203794" y="1501973"/>
            <a:ext cx="6355993" cy="2151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4500"/>
              <a:buFont typeface="Barlow"/>
              <a:buNone/>
            </a:pPr>
            <a:r>
              <a:rPr b="1" i="0" lang="en-US" sz="4500" u="none" cap="none" strike="noStrike">
                <a:solidFill>
                  <a:srgbClr val="2E3C4E"/>
                </a:solidFill>
                <a:latin typeface="Barlow"/>
                <a:ea typeface="Barlow"/>
                <a:cs typeface="Barlow"/>
                <a:sym typeface="Barlow"/>
              </a:rPr>
              <a:t>AI-Assisted Healthcare Decision Support Platform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4"/>
          <p:cNvSpPr/>
          <p:nvPr/>
        </p:nvSpPr>
        <p:spPr>
          <a:xfrm>
            <a:off x="5203794" y="3890070"/>
            <a:ext cx="6355993" cy="10108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200"/>
              <a:buFont typeface="Montserrat"/>
              <a:buNone/>
            </a:pPr>
            <a:r>
              <a:rPr b="0" i="0" lang="en-US" sz="12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A unified platform that streamlines the post-discharge administrative healthcare journey — auditing bills, benchmarking medicine prices, estimating government scheme eligibility, and preparing insurance claims through a shared AI orchestration engine.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5203794" y="5118100"/>
            <a:ext cx="6355993" cy="19050"/>
          </a:xfrm>
          <a:prstGeom prst="roundRect">
            <a:avLst>
              <a:gd fmla="val 49999" name="adj"/>
            </a:avLst>
          </a:prstGeom>
          <a:solidFill>
            <a:srgbClr val="384653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4"/>
          <p:cNvSpPr/>
          <p:nvPr/>
        </p:nvSpPr>
        <p:spPr>
          <a:xfrm>
            <a:off x="5203794" y="5354340"/>
            <a:ext cx="6355993" cy="758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200"/>
              <a:buFont typeface="Montserrat"/>
              <a:buNone/>
            </a:pPr>
            <a:r>
              <a:rPr b="1" i="0" lang="en-US" sz="12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Project Guide:</a:t>
            </a:r>
            <a:r>
              <a:rPr b="0" i="0" lang="en-US" sz="12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 Prof. </a:t>
            </a:r>
            <a:r>
              <a:rPr b="0" i="0" lang="en-US" sz="12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[Guide Name] </a:t>
            </a:r>
            <a:r>
              <a:rPr b="0" i="0" lang="en-US" sz="12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 ·  </a:t>
            </a:r>
            <a:r>
              <a:rPr b="1" i="0" lang="en-US" sz="12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Department:</a:t>
            </a:r>
            <a:r>
              <a:rPr b="0" i="0" lang="en-US" sz="12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 Computer Engineering  ·  </a:t>
            </a:r>
            <a:r>
              <a:rPr b="1" i="0" lang="en-US" sz="12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Academic Year:</a:t>
            </a:r>
            <a:r>
              <a:rPr b="0" i="0" lang="en-US" sz="12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 2026-27  ·  </a:t>
            </a:r>
            <a:r>
              <a:rPr b="1" i="0" lang="en-US" sz="12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Team:</a:t>
            </a:r>
            <a:r>
              <a:rPr b="0" i="0" lang="en-US" sz="12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 Viraj Jadhao, Anurag Pawar, Sanjali Paygude, Raj Janvekar, Arya Chandak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" name="Google Shape;26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89855" y="6417270"/>
            <a:ext cx="3601828" cy="4407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631908" y="484684"/>
            <a:ext cx="10927878" cy="4937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3100"/>
              <a:buFont typeface="Barlow"/>
              <a:buNone/>
            </a:pPr>
            <a:r>
              <a:rPr b="1" i="0" lang="en-US" sz="3100" u="none" cap="none" strike="noStrike">
                <a:solidFill>
                  <a:srgbClr val="2E3C4E"/>
                </a:solidFill>
                <a:latin typeface="Barlow"/>
                <a:ea typeface="Barlow"/>
                <a:cs typeface="Barlow"/>
                <a:sym typeface="Barlow"/>
              </a:rPr>
              <a:t>The Post-Discharge Paperwork Crisis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5"/>
          <p:cNvSpPr/>
          <p:nvPr/>
        </p:nvSpPr>
        <p:spPr>
          <a:xfrm>
            <a:off x="631908" y="1263551"/>
            <a:ext cx="10927878" cy="468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50"/>
              <a:buFont typeface="Montserrat"/>
              <a:buNone/>
            </a:pPr>
            <a:r>
              <a:rPr b="0" i="0" lang="en-US" sz="115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After discharge, a patient receives a hospital bill, prescription, insurance forms, and medical reports — each requiring manual verification, repeated processing, and opaque pricing. There is no unified intelligent workflow.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" name="Google Shape;3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7826" y="1976350"/>
            <a:ext cx="6188327" cy="3419951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/>
          <p:nvPr/>
        </p:nvSpPr>
        <p:spPr>
          <a:xfrm>
            <a:off x="6962799" y="2052538"/>
            <a:ext cx="2230282" cy="1638697"/>
          </a:xfrm>
          <a:prstGeom prst="roundRect">
            <a:avLst>
              <a:gd fmla="val 13738" name="adj"/>
            </a:avLst>
          </a:prstGeom>
          <a:solidFill>
            <a:srgbClr val="D4E9F7"/>
          </a:solidFill>
          <a:ln cap="flat" cmpd="sng" w="9525">
            <a:solidFill>
              <a:srgbClr val="BACF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5"/>
          <p:cNvSpPr/>
          <p:nvPr/>
        </p:nvSpPr>
        <p:spPr>
          <a:xfrm>
            <a:off x="7119164" y="2208907"/>
            <a:ext cx="1917553" cy="246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550"/>
              <a:buFont typeface="Barlow"/>
              <a:buNone/>
            </a:pPr>
            <a:r>
              <a:rPr b="1" i="0" lang="en-US" sz="1550" u="none" cap="none" strike="noStrike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Manual Verification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5"/>
          <p:cNvSpPr/>
          <p:nvPr/>
        </p:nvSpPr>
        <p:spPr>
          <a:xfrm>
            <a:off x="7119164" y="2598241"/>
            <a:ext cx="1917553" cy="7024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50"/>
              <a:buFont typeface="Montserrat"/>
              <a:buNone/>
            </a:pPr>
            <a:r>
              <a:rPr b="0" i="0" lang="en-US" sz="115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No automated cross-checking of bill line items against standard rates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9335656" y="2052538"/>
            <a:ext cx="2230382" cy="1638697"/>
          </a:xfrm>
          <a:prstGeom prst="roundRect">
            <a:avLst>
              <a:gd fmla="val 13738" name="adj"/>
            </a:avLst>
          </a:prstGeom>
          <a:solidFill>
            <a:srgbClr val="D4E9F7"/>
          </a:solidFill>
          <a:ln cap="flat" cmpd="sng" w="9525">
            <a:solidFill>
              <a:srgbClr val="BACF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5"/>
          <p:cNvSpPr/>
          <p:nvPr/>
        </p:nvSpPr>
        <p:spPr>
          <a:xfrm>
            <a:off x="9492020" y="2208907"/>
            <a:ext cx="1917652" cy="246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550"/>
              <a:buFont typeface="Barlow"/>
              <a:buNone/>
            </a:pPr>
            <a:r>
              <a:rPr b="1" i="0" lang="en-US" sz="1550" u="none" cap="none" strike="noStrike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Repeated Processing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9492020" y="2598241"/>
            <a:ext cx="1917652" cy="936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50"/>
              <a:buFont typeface="Montserrat"/>
              <a:buNone/>
            </a:pPr>
            <a:r>
              <a:rPr b="0" i="0" lang="en-US" sz="115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Same patient data re-entered across hospital, insurer, and government portals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5"/>
          <p:cNvSpPr/>
          <p:nvPr/>
        </p:nvSpPr>
        <p:spPr>
          <a:xfrm>
            <a:off x="6962799" y="3833813"/>
            <a:ext cx="2230282" cy="1638697"/>
          </a:xfrm>
          <a:prstGeom prst="roundRect">
            <a:avLst>
              <a:gd fmla="val 13738" name="adj"/>
            </a:avLst>
          </a:prstGeom>
          <a:solidFill>
            <a:srgbClr val="D4E9F7"/>
          </a:solidFill>
          <a:ln cap="flat" cmpd="sng" w="9525">
            <a:solidFill>
              <a:srgbClr val="BACF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5"/>
          <p:cNvSpPr/>
          <p:nvPr/>
        </p:nvSpPr>
        <p:spPr>
          <a:xfrm>
            <a:off x="7119164" y="3990181"/>
            <a:ext cx="1917553" cy="246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550"/>
              <a:buFont typeface="Barlow"/>
              <a:buNone/>
            </a:pPr>
            <a:r>
              <a:rPr b="1" i="0" lang="en-US" sz="1550" u="none" cap="none" strike="noStrike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Lack of Transparency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5"/>
          <p:cNvSpPr/>
          <p:nvPr/>
        </p:nvSpPr>
        <p:spPr>
          <a:xfrm>
            <a:off x="7119164" y="4379516"/>
            <a:ext cx="1917553" cy="7024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50"/>
              <a:buFont typeface="Montserrat"/>
              <a:buNone/>
            </a:pPr>
            <a:r>
              <a:rPr b="0" i="0" lang="en-US" sz="115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Patients cannot verify fair pricing or scheme eligibility independently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5"/>
          <p:cNvSpPr/>
          <p:nvPr/>
        </p:nvSpPr>
        <p:spPr>
          <a:xfrm>
            <a:off x="9335656" y="3833813"/>
            <a:ext cx="2230382" cy="1638697"/>
          </a:xfrm>
          <a:prstGeom prst="roundRect">
            <a:avLst>
              <a:gd fmla="val 13738" name="adj"/>
            </a:avLst>
          </a:prstGeom>
          <a:solidFill>
            <a:srgbClr val="D4E9F7"/>
          </a:solidFill>
          <a:ln cap="flat" cmpd="sng" w="9525">
            <a:solidFill>
              <a:srgbClr val="BACF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5"/>
          <p:cNvSpPr/>
          <p:nvPr/>
        </p:nvSpPr>
        <p:spPr>
          <a:xfrm>
            <a:off x="9492020" y="3990181"/>
            <a:ext cx="1917652" cy="246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550"/>
              <a:buFont typeface="Barlow"/>
              <a:buNone/>
            </a:pPr>
            <a:r>
              <a:rPr b="1" i="0" lang="en-US" sz="1550" u="none" cap="none" strike="noStrike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Delayed Claims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5"/>
          <p:cNvSpPr/>
          <p:nvPr/>
        </p:nvSpPr>
        <p:spPr>
          <a:xfrm>
            <a:off x="9492020" y="4379516"/>
            <a:ext cx="1917652" cy="936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50"/>
              <a:buFont typeface="Montserrat"/>
              <a:buNone/>
            </a:pPr>
            <a:r>
              <a:rPr b="0" i="0" lang="en-US" sz="115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Errors and incomplete documentation cause insurance claim rejections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631908" y="5793184"/>
            <a:ext cx="10927878" cy="580033"/>
          </a:xfrm>
          <a:prstGeom prst="roundRect">
            <a:avLst>
              <a:gd fmla="val 38812" name="adj"/>
            </a:avLst>
          </a:prstGeom>
          <a:solidFill>
            <a:srgbClr val="D4E9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8" name="Google Shape;4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923" y="6001841"/>
            <a:ext cx="187519" cy="150019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5"/>
          <p:cNvSpPr/>
          <p:nvPr/>
        </p:nvSpPr>
        <p:spPr>
          <a:xfrm>
            <a:off x="1119457" y="5973266"/>
            <a:ext cx="10899899" cy="234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Montserrat"/>
              <a:buNone/>
            </a:pPr>
            <a:r>
              <a:rPr b="1" i="0" lang="en-US" sz="115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Core Problem:</a:t>
            </a:r>
            <a:r>
              <a:rPr b="0" i="0" lang="en-US" sz="115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There is no unified intelligent workflow connecting discharge documents to actionable, structured outputs.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" name="Google Shape;50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89855" y="6417270"/>
            <a:ext cx="3601828" cy="4407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6"/>
          <p:cNvSpPr/>
          <p:nvPr/>
        </p:nvSpPr>
        <p:spPr>
          <a:xfrm>
            <a:off x="631908" y="549275"/>
            <a:ext cx="10927878" cy="4937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3100"/>
              <a:buFont typeface="Barlow"/>
              <a:buNone/>
            </a:pPr>
            <a:r>
              <a:rPr b="1" i="0" lang="en-US" sz="3100" u="none" cap="none" strike="noStrike">
                <a:solidFill>
                  <a:srgbClr val="2E3C4E"/>
                </a:solidFill>
                <a:latin typeface="Barlow"/>
                <a:ea typeface="Barlow"/>
                <a:cs typeface="Barlow"/>
                <a:sym typeface="Barlow"/>
              </a:rPr>
              <a:t>ArogyaRakshak: One Platform, Four Intelligent Modules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6"/>
          <p:cNvSpPr/>
          <p:nvPr/>
        </p:nvSpPr>
        <p:spPr>
          <a:xfrm>
            <a:off x="631908" y="1328142"/>
            <a:ext cx="10927878" cy="468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50"/>
              <a:buFont typeface="Montserrat"/>
              <a:buNone/>
            </a:pPr>
            <a:r>
              <a:rPr b="0" i="0" lang="en-US" sz="115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ArogyaRakshak replaces fragmented manual workflows with a single intelligent platform. The patient uploads documents </a:t>
            </a:r>
            <a:r>
              <a:rPr b="1" i="0" lang="en-US" sz="115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once</a:t>
            </a:r>
            <a:r>
              <a:rPr b="0" i="0" lang="en-US" sz="115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 — KADI (Knowledge &amp; AI Decision Intelligence) orchestrates context across all four modules and generates structured decision-support outputs.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6"/>
          <p:cNvSpPr/>
          <p:nvPr/>
        </p:nvSpPr>
        <p:spPr>
          <a:xfrm>
            <a:off x="631908" y="2117130"/>
            <a:ext cx="1665543" cy="1763117"/>
          </a:xfrm>
          <a:prstGeom prst="roundRect">
            <a:avLst>
              <a:gd fmla="val 13516" name="adj"/>
            </a:avLst>
          </a:prstGeom>
          <a:solidFill>
            <a:srgbClr val="D4E9F7"/>
          </a:solidFill>
          <a:ln cap="flat" cmpd="sng" w="9525">
            <a:solidFill>
              <a:srgbClr val="BACF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6"/>
          <p:cNvSpPr/>
          <p:nvPr/>
        </p:nvSpPr>
        <p:spPr>
          <a:xfrm>
            <a:off x="788273" y="2273498"/>
            <a:ext cx="450144" cy="450155"/>
          </a:xfrm>
          <a:prstGeom prst="ellipse">
            <a:avLst/>
          </a:prstGeom>
          <a:solidFill>
            <a:srgbClr val="4296C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0" name="Google Shape;6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1996" y="2397224"/>
            <a:ext cx="202600" cy="202605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6"/>
          <p:cNvSpPr/>
          <p:nvPr/>
        </p:nvSpPr>
        <p:spPr>
          <a:xfrm>
            <a:off x="788273" y="2866231"/>
            <a:ext cx="1352814" cy="246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550"/>
              <a:buFont typeface="Barlow"/>
              <a:buNone/>
            </a:pPr>
            <a:r>
              <a:rPr b="1" i="0" lang="en-US" sz="1550" u="none" cap="none" strike="noStrike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BillNyay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6"/>
          <p:cNvSpPr/>
          <p:nvPr/>
        </p:nvSpPr>
        <p:spPr>
          <a:xfrm>
            <a:off x="788273" y="3255566"/>
            <a:ext cx="1352814" cy="234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50"/>
              <a:buFont typeface="Montserrat"/>
              <a:buNone/>
            </a:pPr>
            <a:r>
              <a:rPr b="0" i="0" lang="en-US" sz="115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Hospital Bill Audit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2440026" y="2117130"/>
            <a:ext cx="1665643" cy="1763117"/>
          </a:xfrm>
          <a:prstGeom prst="roundRect">
            <a:avLst>
              <a:gd fmla="val 13515" name="adj"/>
            </a:avLst>
          </a:prstGeom>
          <a:solidFill>
            <a:srgbClr val="D4E9F7"/>
          </a:solidFill>
          <a:ln cap="flat" cmpd="sng" w="9525">
            <a:solidFill>
              <a:srgbClr val="BACF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6"/>
          <p:cNvSpPr/>
          <p:nvPr/>
        </p:nvSpPr>
        <p:spPr>
          <a:xfrm>
            <a:off x="2596391" y="2273498"/>
            <a:ext cx="450144" cy="450155"/>
          </a:xfrm>
          <a:prstGeom prst="ellipse">
            <a:avLst/>
          </a:prstGeom>
          <a:solidFill>
            <a:srgbClr val="4296C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5" name="Google Shape;6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20113" y="2397224"/>
            <a:ext cx="202600" cy="202605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6"/>
          <p:cNvSpPr/>
          <p:nvPr/>
        </p:nvSpPr>
        <p:spPr>
          <a:xfrm>
            <a:off x="2596391" y="2866231"/>
            <a:ext cx="1352913" cy="246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550"/>
              <a:buFont typeface="Barlow"/>
              <a:buNone/>
            </a:pPr>
            <a:r>
              <a:rPr b="1" i="0" lang="en-US" sz="1550" u="none" cap="none" strike="noStrike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DawaCheck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6"/>
          <p:cNvSpPr/>
          <p:nvPr/>
        </p:nvSpPr>
        <p:spPr>
          <a:xfrm>
            <a:off x="2596391" y="3255566"/>
            <a:ext cx="1352913" cy="468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50"/>
              <a:buFont typeface="Montserrat"/>
              <a:buNone/>
            </a:pPr>
            <a:r>
              <a:rPr b="0" i="0" lang="en-US" sz="115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Medicine Price Intelligence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6"/>
          <p:cNvSpPr/>
          <p:nvPr/>
        </p:nvSpPr>
        <p:spPr>
          <a:xfrm>
            <a:off x="631908" y="4022824"/>
            <a:ext cx="1665543" cy="1763117"/>
          </a:xfrm>
          <a:prstGeom prst="roundRect">
            <a:avLst>
              <a:gd fmla="val 13516" name="adj"/>
            </a:avLst>
          </a:prstGeom>
          <a:solidFill>
            <a:srgbClr val="D4E9F7"/>
          </a:solidFill>
          <a:ln cap="flat" cmpd="sng" w="9525">
            <a:solidFill>
              <a:srgbClr val="BACF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6"/>
          <p:cNvSpPr/>
          <p:nvPr/>
        </p:nvSpPr>
        <p:spPr>
          <a:xfrm>
            <a:off x="788273" y="4179193"/>
            <a:ext cx="450144" cy="450155"/>
          </a:xfrm>
          <a:prstGeom prst="ellipse">
            <a:avLst/>
          </a:prstGeom>
          <a:solidFill>
            <a:srgbClr val="4296C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0" name="Google Shape;70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1996" y="4302919"/>
            <a:ext cx="202600" cy="20260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6"/>
          <p:cNvSpPr/>
          <p:nvPr/>
        </p:nvSpPr>
        <p:spPr>
          <a:xfrm>
            <a:off x="788273" y="4771926"/>
            <a:ext cx="1352814" cy="246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550"/>
              <a:buFont typeface="Barlow"/>
              <a:buNone/>
            </a:pPr>
            <a:r>
              <a:rPr b="1" i="0" lang="en-US" sz="1550" u="none" cap="none" strike="noStrike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SchemeSetu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788273" y="5161260"/>
            <a:ext cx="1352814" cy="468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50"/>
              <a:buFont typeface="Montserrat"/>
              <a:buNone/>
            </a:pPr>
            <a:r>
              <a:rPr b="0" i="0" lang="en-US" sz="115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Government Scheme Eligibility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6"/>
          <p:cNvSpPr/>
          <p:nvPr/>
        </p:nvSpPr>
        <p:spPr>
          <a:xfrm>
            <a:off x="2440026" y="4022824"/>
            <a:ext cx="1665643" cy="1763117"/>
          </a:xfrm>
          <a:prstGeom prst="roundRect">
            <a:avLst>
              <a:gd fmla="val 13515" name="adj"/>
            </a:avLst>
          </a:prstGeom>
          <a:solidFill>
            <a:srgbClr val="D4E9F7"/>
          </a:solidFill>
          <a:ln cap="flat" cmpd="sng" w="9525">
            <a:solidFill>
              <a:srgbClr val="BACF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6"/>
          <p:cNvSpPr/>
          <p:nvPr/>
        </p:nvSpPr>
        <p:spPr>
          <a:xfrm>
            <a:off x="2596391" y="4179193"/>
            <a:ext cx="450144" cy="450155"/>
          </a:xfrm>
          <a:prstGeom prst="ellipse">
            <a:avLst/>
          </a:prstGeom>
          <a:solidFill>
            <a:srgbClr val="4296C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5" name="Google Shape;75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720113" y="4302919"/>
            <a:ext cx="202600" cy="202605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6"/>
          <p:cNvSpPr/>
          <p:nvPr/>
        </p:nvSpPr>
        <p:spPr>
          <a:xfrm>
            <a:off x="2596391" y="4771926"/>
            <a:ext cx="1352913" cy="246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550"/>
              <a:buFont typeface="Barlow"/>
              <a:buNone/>
            </a:pPr>
            <a:r>
              <a:rPr b="1" i="0" lang="en-US" sz="1550" u="none" cap="none" strike="noStrike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DaaviSetu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2596391" y="5161260"/>
            <a:ext cx="1352913" cy="468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50"/>
              <a:buFont typeface="Montserrat"/>
              <a:buNone/>
            </a:pPr>
            <a:r>
              <a:rPr b="0" i="0" lang="en-US" sz="115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Claim Document Automation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631908" y="5946279"/>
            <a:ext cx="4083345" cy="234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9" name="Google Shape;79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248249" y="2117125"/>
            <a:ext cx="7140576" cy="401701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589855" y="6417270"/>
            <a:ext cx="3601828" cy="4407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7"/>
          <p:cNvSpPr/>
          <p:nvPr/>
        </p:nvSpPr>
        <p:spPr>
          <a:xfrm>
            <a:off x="631908" y="434380"/>
            <a:ext cx="10927878" cy="4417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2750"/>
              <a:buFont typeface="Barlow"/>
              <a:buNone/>
            </a:pPr>
            <a:r>
              <a:rPr b="1" i="0" lang="en-US" sz="2750" u="none" cap="none" strike="noStrike">
                <a:solidFill>
                  <a:srgbClr val="2E3C4E"/>
                </a:solidFill>
                <a:latin typeface="Barlow"/>
                <a:ea typeface="Barlow"/>
                <a:cs typeface="Barlow"/>
                <a:sym typeface="Barlow"/>
              </a:rPr>
              <a:t>System Architecture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7"/>
          <p:cNvSpPr/>
          <p:nvPr/>
        </p:nvSpPr>
        <p:spPr>
          <a:xfrm>
            <a:off x="631908" y="1104305"/>
            <a:ext cx="10927878" cy="3972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050"/>
              <a:buFont typeface="Montserrat"/>
              <a:buNone/>
            </a:pPr>
            <a:r>
              <a:rPr b="0" i="0" lang="en-US" sz="105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A layered architecture separates concerns across document ingestion, AI processing, orchestration, and output generation. Each layer is independently deployable and testable.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8" name="Google Shape;8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60499" y="1629975"/>
            <a:ext cx="9070677" cy="4951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89855" y="6417270"/>
            <a:ext cx="3601828" cy="4407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8"/>
          <p:cNvSpPr/>
          <p:nvPr/>
        </p:nvSpPr>
        <p:spPr>
          <a:xfrm>
            <a:off x="631908" y="578545"/>
            <a:ext cx="10927878" cy="4937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3100"/>
              <a:buFont typeface="Barlow"/>
              <a:buNone/>
            </a:pPr>
            <a:r>
              <a:rPr b="1" i="0" lang="en-US" sz="3100" u="none" cap="none" strike="noStrike">
                <a:solidFill>
                  <a:srgbClr val="2E3C4E"/>
                </a:solidFill>
                <a:latin typeface="Barlow"/>
                <a:ea typeface="Barlow"/>
                <a:cs typeface="Barlow"/>
                <a:sym typeface="Barlow"/>
              </a:rPr>
              <a:t>KADI: Knowledge &amp; AI Decision Intelligence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8"/>
          <p:cNvSpPr/>
          <p:nvPr/>
        </p:nvSpPr>
        <p:spPr>
          <a:xfrm>
            <a:off x="631908" y="1357412"/>
            <a:ext cx="10927878" cy="468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50"/>
              <a:buFont typeface="Montserrat"/>
              <a:buNone/>
            </a:pPr>
            <a:r>
              <a:rPr b="0" i="0" lang="en-US" sz="115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KADI is the architectural differentiator. Without it, each module operates in isolation — performing independent OCR, maintaining separate state, and producing uncoordinated outputs. KADI replaces this with a </a:t>
            </a:r>
            <a:r>
              <a:rPr b="1" i="0" lang="en-US" sz="115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single shared context</a:t>
            </a:r>
            <a:r>
              <a:rPr b="0" i="0" lang="en-US" sz="115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 that all modules consume and enrich.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7" name="Google Shape;9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1900" y="2146400"/>
            <a:ext cx="6799057" cy="3711576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8"/>
          <p:cNvSpPr/>
          <p:nvPr/>
        </p:nvSpPr>
        <p:spPr>
          <a:xfrm>
            <a:off x="7640446" y="2128639"/>
            <a:ext cx="1541424" cy="246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1550"/>
              <a:buFont typeface="Barlow"/>
              <a:buNone/>
            </a:pPr>
            <a:r>
              <a:rPr b="1" i="0" lang="en-US" sz="1550" u="none" cap="none" strike="noStrike">
                <a:solidFill>
                  <a:srgbClr val="2E3C4E"/>
                </a:solidFill>
                <a:latin typeface="Barlow"/>
                <a:ea typeface="Barlow"/>
                <a:cs typeface="Barlow"/>
                <a:sym typeface="Barlow"/>
              </a:rPr>
              <a:t>Before KADI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8"/>
          <p:cNvSpPr/>
          <p:nvPr/>
        </p:nvSpPr>
        <p:spPr>
          <a:xfrm>
            <a:off x="7640450" y="2517975"/>
            <a:ext cx="1683000" cy="32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3680" lvl="0" marL="23368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50"/>
              <a:buFont typeface="Montserrat"/>
              <a:buChar char="•"/>
            </a:pPr>
            <a:r>
              <a:rPr b="0" i="0" lang="en-US" sz="115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Each module performs OCR independently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3680" lvl="0" marL="23368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50"/>
              <a:buFont typeface="Montserrat"/>
              <a:buChar char="•"/>
            </a:pPr>
            <a:r>
              <a:rPr b="0" i="0" lang="en-US" sz="115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No shared patient context across modules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3680" lvl="0" marL="23368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50"/>
              <a:buFont typeface="Montserrat"/>
              <a:buChar char="•"/>
            </a:pPr>
            <a:r>
              <a:rPr b="0" i="0" lang="en-US" sz="115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Redundant extraction and processing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3680" lvl="0" marL="23368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50"/>
              <a:buFont typeface="Montserrat"/>
              <a:buChar char="•"/>
            </a:pPr>
            <a:r>
              <a:rPr b="0" i="0" lang="en-US" sz="115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Inconsistent entity resolution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3680" lvl="0" marL="23368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50"/>
              <a:buFont typeface="Montserrat"/>
              <a:buChar char="•"/>
            </a:pPr>
            <a:r>
              <a:rPr b="0" i="0" lang="en-US" sz="115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No cross-module intelligence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8"/>
          <p:cNvSpPr/>
          <p:nvPr/>
        </p:nvSpPr>
        <p:spPr>
          <a:xfrm>
            <a:off x="9554328" y="2128639"/>
            <a:ext cx="2017960" cy="246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1550"/>
              <a:buFont typeface="Barlow"/>
              <a:buNone/>
            </a:pPr>
            <a:r>
              <a:rPr b="1" i="0" lang="en-US" sz="1550" u="none" cap="none" strike="noStrike">
                <a:solidFill>
                  <a:srgbClr val="2E3C4E"/>
                </a:solidFill>
                <a:latin typeface="Barlow"/>
                <a:ea typeface="Barlow"/>
                <a:cs typeface="Barlow"/>
                <a:sym typeface="Barlow"/>
              </a:rPr>
              <a:t>After KADI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8"/>
          <p:cNvSpPr/>
          <p:nvPr/>
        </p:nvSpPr>
        <p:spPr>
          <a:xfrm>
            <a:off x="9554328" y="2517973"/>
            <a:ext cx="2018100" cy="37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3680" lvl="0" marL="23368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50"/>
              <a:buFont typeface="Montserrat"/>
              <a:buChar char="•"/>
            </a:pPr>
            <a:r>
              <a:rPr b="0" i="0" lang="en-US" sz="115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Single OCR pass — results shared across all modules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3680" lvl="0" marL="23368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50"/>
              <a:buFont typeface="Montserrat"/>
              <a:buChar char="•"/>
            </a:pPr>
            <a:r>
              <a:rPr b="0" i="0" lang="en-US" sz="115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Unified patient context as single source of truth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3680" lvl="0" marL="23368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50"/>
              <a:buFont typeface="Montserrat"/>
              <a:buChar char="•"/>
            </a:pPr>
            <a:r>
              <a:rPr b="0" i="0" lang="en-US" sz="115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Shared intelligence layer for cross-module reasoning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3680" lvl="0" marL="23368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50"/>
              <a:buFont typeface="Montserrat"/>
              <a:buChar char="•"/>
            </a:pPr>
            <a:r>
              <a:rPr b="0" i="0" lang="en-US" sz="115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Consistent entity resolution and normalization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3680" lvl="0" marL="23368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50"/>
              <a:buFont typeface="Montserrat"/>
              <a:buChar char="•"/>
            </a:pPr>
            <a:r>
              <a:rPr b="0" i="0" lang="en-US" sz="115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Modules communicate through KADI, not directly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" name="Google Shape;102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89855" y="6417270"/>
            <a:ext cx="3601828" cy="4407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9"/>
          <p:cNvSpPr/>
          <p:nvPr/>
        </p:nvSpPr>
        <p:spPr>
          <a:xfrm>
            <a:off x="631908" y="525562"/>
            <a:ext cx="10927878" cy="4157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2600"/>
              <a:buFont typeface="Barlow"/>
              <a:buNone/>
            </a:pPr>
            <a:r>
              <a:rPr b="1" i="0" lang="en-US" sz="2600" u="none" cap="none" strike="noStrike">
                <a:solidFill>
                  <a:srgbClr val="2E3C4E"/>
                </a:solidFill>
                <a:latin typeface="Barlow"/>
                <a:ea typeface="Barlow"/>
                <a:cs typeface="Barlow"/>
                <a:sym typeface="Barlow"/>
              </a:rPr>
              <a:t>Four Application Modules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9"/>
          <p:cNvSpPr/>
          <p:nvPr/>
        </p:nvSpPr>
        <p:spPr>
          <a:xfrm>
            <a:off x="631908" y="1143496"/>
            <a:ext cx="10927878" cy="3639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950"/>
              <a:buFont typeface="Montserrat"/>
              <a:buNone/>
            </a:pPr>
            <a:r>
              <a:rPr b="0" i="0" lang="en-US" sz="95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Each module is an independent service consuming shared context from KADI. Together, they cover the complete post-discharge administrative workflow — from bill verification to claim submission readiness.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0" name="Google Shape;11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02999" y="1621125"/>
            <a:ext cx="8785677" cy="4796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89855" y="6417270"/>
            <a:ext cx="3601828" cy="4407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0"/>
          <p:cNvSpPr/>
          <p:nvPr/>
        </p:nvSpPr>
        <p:spPr>
          <a:xfrm>
            <a:off x="631908" y="713085"/>
            <a:ext cx="10927878" cy="4417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2750"/>
              <a:buFont typeface="Barlow"/>
              <a:buNone/>
            </a:pPr>
            <a:r>
              <a:rPr b="1" i="0" lang="en-US" sz="2750" u="none" cap="none" strike="noStrike">
                <a:solidFill>
                  <a:srgbClr val="2E3C4E"/>
                </a:solidFill>
                <a:latin typeface="Barlow"/>
                <a:ea typeface="Barlow"/>
                <a:cs typeface="Barlow"/>
                <a:sym typeface="Barlow"/>
              </a:rPr>
              <a:t>AI Processing Pipeline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0"/>
          <p:cNvSpPr/>
          <p:nvPr/>
        </p:nvSpPr>
        <p:spPr>
          <a:xfrm>
            <a:off x="8490625" y="2328492"/>
            <a:ext cx="3075300" cy="1584600"/>
          </a:xfrm>
          <a:prstGeom prst="roundRect">
            <a:avLst>
              <a:gd fmla="val 9913" name="adj"/>
            </a:avLst>
          </a:prstGeom>
          <a:solidFill>
            <a:srgbClr val="FFFFFF"/>
          </a:solidFill>
          <a:ln cap="flat" cmpd="sng" w="19050">
            <a:solidFill>
              <a:srgbClr val="BACF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0"/>
          <p:cNvSpPr/>
          <p:nvPr/>
        </p:nvSpPr>
        <p:spPr>
          <a:xfrm>
            <a:off x="8689229" y="2481786"/>
            <a:ext cx="2678100" cy="2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350"/>
              <a:buFont typeface="Barlow"/>
              <a:buNone/>
            </a:pPr>
            <a:r>
              <a:rPr b="1" i="0" lang="en-US" sz="1350" u="none" cap="none" strike="noStrike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Where AI Is Used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0"/>
          <p:cNvSpPr/>
          <p:nvPr/>
        </p:nvSpPr>
        <p:spPr>
          <a:xfrm>
            <a:off x="8689225" y="2816744"/>
            <a:ext cx="2678100" cy="9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050"/>
              <a:buFont typeface="Montserrat"/>
              <a:buNone/>
            </a:pPr>
            <a:r>
              <a:rPr b="0" i="0" lang="en-US" sz="105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OCR on unstructured documents, entity extraction from clinical text, LLM-based reasoning for anomaly detection and eligibility matching, knowledge retrieval augmentation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0"/>
          <p:cNvSpPr/>
          <p:nvPr/>
        </p:nvSpPr>
        <p:spPr>
          <a:xfrm>
            <a:off x="631908" y="1383010"/>
            <a:ext cx="10927878" cy="3972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050"/>
              <a:buFont typeface="Montserrat"/>
              <a:buNone/>
            </a:pPr>
            <a:r>
              <a:rPr b="0" i="0" lang="en-US" sz="105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The pipeline is a deliberate hybrid of AI and rule-based logic. AI handles unstructured extraction, semantic reasoning, and knowledge retrieval. Rule-based validation enforces deterministic checks on billing codes, scheme criteria, and form completeness — ensuring auditability and reproducibility.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2" name="Google Shape;12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175" y="2037050"/>
            <a:ext cx="7779455" cy="4380224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0"/>
          <p:cNvSpPr/>
          <p:nvPr/>
        </p:nvSpPr>
        <p:spPr>
          <a:xfrm>
            <a:off x="8490625" y="4183151"/>
            <a:ext cx="3075300" cy="1584600"/>
          </a:xfrm>
          <a:prstGeom prst="roundRect">
            <a:avLst>
              <a:gd fmla="val 10987" name="adj"/>
            </a:avLst>
          </a:prstGeom>
          <a:solidFill>
            <a:srgbClr val="FFFFFF"/>
          </a:solidFill>
          <a:ln cap="flat" cmpd="sng" w="19050">
            <a:solidFill>
              <a:srgbClr val="BACF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0"/>
          <p:cNvSpPr/>
          <p:nvPr/>
        </p:nvSpPr>
        <p:spPr>
          <a:xfrm>
            <a:off x="8689229" y="4336450"/>
            <a:ext cx="2678100" cy="2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350"/>
              <a:buFont typeface="Barlow"/>
              <a:buNone/>
            </a:pPr>
            <a:r>
              <a:rPr b="1" i="0" lang="en-US" sz="1350" u="none" cap="none" strike="noStrike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Where Rules Are Used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0"/>
          <p:cNvSpPr/>
          <p:nvPr/>
        </p:nvSpPr>
        <p:spPr>
          <a:xfrm>
            <a:off x="8689225" y="4671423"/>
            <a:ext cx="2678100" cy="10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050"/>
              <a:buFont typeface="Montserrat"/>
              <a:buNone/>
            </a:pPr>
            <a:r>
              <a:rPr b="0" i="0" lang="en-US" sz="105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ICD-10 and procedure code validation, DPCO price threshold checks, government scheme eligibility criteria matching, insurance form field completeness validation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6" name="Google Shape;126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89855" y="6417270"/>
            <a:ext cx="3601828" cy="4407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1"/>
          <p:cNvSpPr/>
          <p:nvPr/>
        </p:nvSpPr>
        <p:spPr>
          <a:xfrm>
            <a:off x="631908" y="531217"/>
            <a:ext cx="10927878" cy="4157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2600"/>
              <a:buFont typeface="Barlow"/>
              <a:buNone/>
            </a:pPr>
            <a:r>
              <a:rPr b="1" i="0" lang="en-US" sz="2600" u="none" cap="none" strike="noStrike">
                <a:solidFill>
                  <a:srgbClr val="2E3C4E"/>
                </a:solidFill>
                <a:latin typeface="Barlow"/>
                <a:ea typeface="Barlow"/>
                <a:cs typeface="Barlow"/>
                <a:sym typeface="Barlow"/>
              </a:rPr>
              <a:t>Technology Stack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1"/>
          <p:cNvSpPr/>
          <p:nvPr/>
        </p:nvSpPr>
        <p:spPr>
          <a:xfrm>
            <a:off x="631908" y="1149152"/>
            <a:ext cx="10927878" cy="3639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950"/>
              <a:buFont typeface="Montserrat"/>
              <a:buNone/>
            </a:pPr>
            <a:r>
              <a:rPr b="0" i="0" lang="en-US" sz="95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Each technology was selected for a specific architectural reason — not popularity. The stack prioritizes type safety, async performance, containerized deployment, and production-grade AI inference.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1"/>
          <p:cNvSpPr/>
          <p:nvPr/>
        </p:nvSpPr>
        <p:spPr>
          <a:xfrm>
            <a:off x="631908" y="1626791"/>
            <a:ext cx="5413339" cy="1559917"/>
          </a:xfrm>
          <a:prstGeom prst="roundRect">
            <a:avLst>
              <a:gd fmla="val 12153" name="adj"/>
            </a:avLst>
          </a:prstGeom>
          <a:solidFill>
            <a:srgbClr val="D4E9F7"/>
          </a:solidFill>
          <a:ln cap="flat" cmpd="sng" w="9525">
            <a:solidFill>
              <a:srgbClr val="BACF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1"/>
          <p:cNvSpPr/>
          <p:nvPr/>
        </p:nvSpPr>
        <p:spPr>
          <a:xfrm>
            <a:off x="764561" y="1759446"/>
            <a:ext cx="379105" cy="379115"/>
          </a:xfrm>
          <a:prstGeom prst="ellipse">
            <a:avLst/>
          </a:prstGeom>
          <a:solidFill>
            <a:srgbClr val="4296C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6" name="Google Shape;13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8837" y="1863725"/>
            <a:ext cx="170553" cy="170557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1"/>
          <p:cNvSpPr/>
          <p:nvPr/>
        </p:nvSpPr>
        <p:spPr>
          <a:xfrm>
            <a:off x="764561" y="2239665"/>
            <a:ext cx="5148034" cy="207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300"/>
              <a:buFont typeface="Barlow"/>
              <a:buNone/>
            </a:pPr>
            <a:r>
              <a:rPr b="1" i="0" lang="en-US" sz="1300" u="none" cap="none" strike="noStrike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Frontend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1"/>
          <p:cNvSpPr/>
          <p:nvPr/>
        </p:nvSpPr>
        <p:spPr>
          <a:xfrm>
            <a:off x="764561" y="2508151"/>
            <a:ext cx="5148034" cy="545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950"/>
              <a:buFont typeface="Montserrat"/>
              <a:buNone/>
            </a:pPr>
            <a:r>
              <a:rPr b="0" i="0" lang="en-US" sz="95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React + TypeScript — component-driven UI with strict type safety. Tailwind CSS for utility-first responsive design. Chosen for ecosystem maturity and developer ergonomics.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1"/>
          <p:cNvSpPr/>
          <p:nvPr/>
        </p:nvSpPr>
        <p:spPr>
          <a:xfrm>
            <a:off x="6146349" y="1626791"/>
            <a:ext cx="5413438" cy="1559917"/>
          </a:xfrm>
          <a:prstGeom prst="roundRect">
            <a:avLst>
              <a:gd fmla="val 12153" name="adj"/>
            </a:avLst>
          </a:prstGeom>
          <a:solidFill>
            <a:srgbClr val="D4E9F7"/>
          </a:solidFill>
          <a:ln cap="flat" cmpd="sng" w="9525">
            <a:solidFill>
              <a:srgbClr val="BACF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1"/>
          <p:cNvSpPr/>
          <p:nvPr/>
        </p:nvSpPr>
        <p:spPr>
          <a:xfrm>
            <a:off x="6279001" y="1759446"/>
            <a:ext cx="379105" cy="379115"/>
          </a:xfrm>
          <a:prstGeom prst="ellipse">
            <a:avLst/>
          </a:prstGeom>
          <a:solidFill>
            <a:srgbClr val="4296C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1" name="Google Shape;141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3277" y="1863725"/>
            <a:ext cx="170553" cy="170557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1"/>
          <p:cNvSpPr/>
          <p:nvPr/>
        </p:nvSpPr>
        <p:spPr>
          <a:xfrm>
            <a:off x="6279001" y="2239665"/>
            <a:ext cx="5148134" cy="207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300"/>
              <a:buFont typeface="Barlow"/>
              <a:buNone/>
            </a:pPr>
            <a:r>
              <a:rPr b="1" i="0" lang="en-US" sz="1300" u="none" cap="none" strike="noStrike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Backend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1"/>
          <p:cNvSpPr/>
          <p:nvPr/>
        </p:nvSpPr>
        <p:spPr>
          <a:xfrm>
            <a:off x="6279001" y="2508151"/>
            <a:ext cx="5148134" cy="545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950"/>
              <a:buFont typeface="Montserrat"/>
              <a:buNone/>
            </a:pPr>
            <a:r>
              <a:rPr b="0" i="0" lang="en-US" sz="95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Node.js + Express — async, non-blocking I/O ideal for document processing pipelines. TypeScript ensures end-to-end type consistency between frontend and backend.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1"/>
          <p:cNvSpPr/>
          <p:nvPr/>
        </p:nvSpPr>
        <p:spPr>
          <a:xfrm>
            <a:off x="631908" y="3287812"/>
            <a:ext cx="5413339" cy="1377950"/>
          </a:xfrm>
          <a:prstGeom prst="roundRect">
            <a:avLst>
              <a:gd fmla="val 13758" name="adj"/>
            </a:avLst>
          </a:prstGeom>
          <a:solidFill>
            <a:srgbClr val="D4E9F7"/>
          </a:solidFill>
          <a:ln cap="flat" cmpd="sng" w="9525">
            <a:solidFill>
              <a:srgbClr val="BACF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1"/>
          <p:cNvSpPr/>
          <p:nvPr/>
        </p:nvSpPr>
        <p:spPr>
          <a:xfrm>
            <a:off x="764561" y="3420467"/>
            <a:ext cx="379105" cy="379115"/>
          </a:xfrm>
          <a:prstGeom prst="ellipse">
            <a:avLst/>
          </a:prstGeom>
          <a:solidFill>
            <a:srgbClr val="4296C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6" name="Google Shape;146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8837" y="3524746"/>
            <a:ext cx="170553" cy="170557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1"/>
          <p:cNvSpPr/>
          <p:nvPr/>
        </p:nvSpPr>
        <p:spPr>
          <a:xfrm>
            <a:off x="764561" y="3900686"/>
            <a:ext cx="5148034" cy="207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300"/>
              <a:buFont typeface="Barlow"/>
              <a:buNone/>
            </a:pPr>
            <a:r>
              <a:rPr b="1" i="0" lang="en-US" sz="1300" u="none" cap="none" strike="noStrike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Database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1"/>
          <p:cNvSpPr/>
          <p:nvPr/>
        </p:nvSpPr>
        <p:spPr>
          <a:xfrm>
            <a:off x="764561" y="4169172"/>
            <a:ext cx="5148034" cy="3639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950"/>
              <a:buFont typeface="Montserrat"/>
              <a:buNone/>
            </a:pPr>
            <a:r>
              <a:rPr b="0" i="0" lang="en-US" sz="95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PostgreSQL — relational integrity for structured patient and claim data. Chosen for ACID compliance, JSON column support, and mature ORM ecosystem.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1"/>
          <p:cNvSpPr/>
          <p:nvPr/>
        </p:nvSpPr>
        <p:spPr>
          <a:xfrm>
            <a:off x="6146349" y="3287812"/>
            <a:ext cx="5413438" cy="1377950"/>
          </a:xfrm>
          <a:prstGeom prst="roundRect">
            <a:avLst>
              <a:gd fmla="val 13758" name="adj"/>
            </a:avLst>
          </a:prstGeom>
          <a:solidFill>
            <a:srgbClr val="D4E9F7"/>
          </a:solidFill>
          <a:ln cap="flat" cmpd="sng" w="9525">
            <a:solidFill>
              <a:srgbClr val="BACF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1"/>
          <p:cNvSpPr/>
          <p:nvPr/>
        </p:nvSpPr>
        <p:spPr>
          <a:xfrm>
            <a:off x="6279001" y="3420467"/>
            <a:ext cx="379105" cy="379115"/>
          </a:xfrm>
          <a:prstGeom prst="ellipse">
            <a:avLst/>
          </a:prstGeom>
          <a:solidFill>
            <a:srgbClr val="4296C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1" name="Google Shape;151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3277" y="3524746"/>
            <a:ext cx="170553" cy="170557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1"/>
          <p:cNvSpPr/>
          <p:nvPr/>
        </p:nvSpPr>
        <p:spPr>
          <a:xfrm>
            <a:off x="6279001" y="3900686"/>
            <a:ext cx="5148134" cy="207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300"/>
              <a:buFont typeface="Barlow"/>
              <a:buNone/>
            </a:pPr>
            <a:r>
              <a:rPr b="1" i="0" lang="en-US" sz="1300" u="none" cap="none" strike="noStrike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AI / ML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1"/>
          <p:cNvSpPr/>
          <p:nvPr/>
        </p:nvSpPr>
        <p:spPr>
          <a:xfrm>
            <a:off x="6279001" y="4169172"/>
            <a:ext cx="5148134" cy="3639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950"/>
              <a:buFont typeface="Montserrat"/>
              <a:buNone/>
            </a:pPr>
            <a:r>
              <a:rPr b="0" i="0" lang="en-US" sz="95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Transformer-based OCR (PaddleOCR / Tesseract), LLM for reasoning (open-source or API-based), spaCy for NER. Rule engine for deterministic validation logic.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1"/>
          <p:cNvSpPr/>
          <p:nvPr/>
        </p:nvSpPr>
        <p:spPr>
          <a:xfrm>
            <a:off x="631908" y="4766866"/>
            <a:ext cx="5413339" cy="1559917"/>
          </a:xfrm>
          <a:prstGeom prst="roundRect">
            <a:avLst>
              <a:gd fmla="val 12153" name="adj"/>
            </a:avLst>
          </a:prstGeom>
          <a:solidFill>
            <a:srgbClr val="D4E9F7"/>
          </a:solidFill>
          <a:ln cap="flat" cmpd="sng" w="9525">
            <a:solidFill>
              <a:srgbClr val="BACF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1"/>
          <p:cNvSpPr/>
          <p:nvPr/>
        </p:nvSpPr>
        <p:spPr>
          <a:xfrm>
            <a:off x="764561" y="4899521"/>
            <a:ext cx="379105" cy="379115"/>
          </a:xfrm>
          <a:prstGeom prst="ellipse">
            <a:avLst/>
          </a:prstGeom>
          <a:solidFill>
            <a:srgbClr val="4296C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6" name="Google Shape;156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8837" y="5003800"/>
            <a:ext cx="170553" cy="170557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1"/>
          <p:cNvSpPr/>
          <p:nvPr/>
        </p:nvSpPr>
        <p:spPr>
          <a:xfrm>
            <a:off x="764561" y="5379740"/>
            <a:ext cx="5148034" cy="207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300"/>
              <a:buFont typeface="Barlow"/>
              <a:buNone/>
            </a:pPr>
            <a:r>
              <a:rPr b="1" i="0" lang="en-US" sz="1300" u="none" cap="none" strike="noStrike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Deployment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1"/>
          <p:cNvSpPr/>
          <p:nvPr/>
        </p:nvSpPr>
        <p:spPr>
          <a:xfrm>
            <a:off x="764561" y="5648226"/>
            <a:ext cx="5148034" cy="545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950"/>
              <a:buFont typeface="Montserrat"/>
              <a:buNone/>
            </a:pPr>
            <a:r>
              <a:rPr b="0" i="0" lang="en-US" sz="95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Docker for containerization — ensures environment parity across development, testing, and production. Kubernetes-ready for horizontal scaling of AI inference services.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1"/>
          <p:cNvSpPr/>
          <p:nvPr/>
        </p:nvSpPr>
        <p:spPr>
          <a:xfrm>
            <a:off x="6146349" y="4766866"/>
            <a:ext cx="5413438" cy="1559917"/>
          </a:xfrm>
          <a:prstGeom prst="roundRect">
            <a:avLst>
              <a:gd fmla="val 12153" name="adj"/>
            </a:avLst>
          </a:prstGeom>
          <a:solidFill>
            <a:srgbClr val="D4E9F7"/>
          </a:solidFill>
          <a:ln cap="flat" cmpd="sng" w="9525">
            <a:solidFill>
              <a:srgbClr val="BACF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1"/>
          <p:cNvSpPr/>
          <p:nvPr/>
        </p:nvSpPr>
        <p:spPr>
          <a:xfrm>
            <a:off x="6279001" y="4899521"/>
            <a:ext cx="379105" cy="379115"/>
          </a:xfrm>
          <a:prstGeom prst="ellipse">
            <a:avLst/>
          </a:prstGeom>
          <a:solidFill>
            <a:srgbClr val="4296C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1" name="Google Shape;161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83277" y="5003800"/>
            <a:ext cx="170553" cy="170557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1"/>
          <p:cNvSpPr/>
          <p:nvPr/>
        </p:nvSpPr>
        <p:spPr>
          <a:xfrm>
            <a:off x="6279001" y="5379740"/>
            <a:ext cx="5148134" cy="207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300"/>
              <a:buFont typeface="Barlow"/>
              <a:buNone/>
            </a:pPr>
            <a:r>
              <a:rPr b="1" i="0" lang="en-US" sz="1300" u="none" cap="none" strike="noStrike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Containerization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1"/>
          <p:cNvSpPr/>
          <p:nvPr/>
        </p:nvSpPr>
        <p:spPr>
          <a:xfrm>
            <a:off x="6279001" y="5648226"/>
            <a:ext cx="5148134" cy="545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950"/>
              <a:buFont typeface="Montserrat"/>
              <a:buNone/>
            </a:pPr>
            <a:r>
              <a:rPr b="0" i="0" lang="en-US" sz="95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Docker Compose for local development orchestration. Each service (API, AI worker, database) runs in an isolated container with defined resource limits and health checks.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4" name="Google Shape;164;p1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589855" y="6417270"/>
            <a:ext cx="3601828" cy="4407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2"/>
          <p:cNvSpPr/>
          <p:nvPr/>
        </p:nvSpPr>
        <p:spPr>
          <a:xfrm>
            <a:off x="631908" y="649585"/>
            <a:ext cx="10927878" cy="4937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3100"/>
              <a:buFont typeface="Barlow"/>
              <a:buNone/>
            </a:pPr>
            <a:r>
              <a:rPr b="1" i="0" lang="en-US" sz="3100" u="none" cap="none" strike="noStrike">
                <a:solidFill>
                  <a:srgbClr val="2E3C4E"/>
                </a:solidFill>
                <a:latin typeface="Barlow"/>
                <a:ea typeface="Barlow"/>
                <a:cs typeface="Barlow"/>
                <a:sym typeface="Barlow"/>
              </a:rPr>
              <a:t>Implementation Status, Limitations &amp; Future Roadmap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2"/>
          <p:cNvSpPr/>
          <p:nvPr/>
        </p:nvSpPr>
        <p:spPr>
          <a:xfrm>
            <a:off x="631908" y="1428452"/>
            <a:ext cx="11537463" cy="234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50"/>
              <a:buFont typeface="Montserrat"/>
              <a:buNone/>
            </a:pPr>
            <a:r>
              <a:rPr b="0" i="0" lang="en-US" sz="115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Honest assessment of current scope, acknowledged constraints, and a technically grounded roadmap for production readiness.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2"/>
          <p:cNvSpPr/>
          <p:nvPr/>
        </p:nvSpPr>
        <p:spPr>
          <a:xfrm>
            <a:off x="523862" y="1822946"/>
            <a:ext cx="5496978" cy="4385370"/>
          </a:xfrm>
          <a:prstGeom prst="roundRect">
            <a:avLst>
              <a:gd fmla="val 8213" name="adj"/>
            </a:avLst>
          </a:prstGeom>
          <a:solidFill>
            <a:srgbClr val="063E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2"/>
          <p:cNvSpPr/>
          <p:nvPr/>
        </p:nvSpPr>
        <p:spPr>
          <a:xfrm>
            <a:off x="673877" y="1965523"/>
            <a:ext cx="5196948" cy="2594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✅</a:t>
            </a:r>
            <a:r>
              <a:rPr b="1" i="0" lang="en-US" sz="1550" u="none" cap="none" strike="noStrike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 Implemented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2"/>
          <p:cNvSpPr/>
          <p:nvPr/>
        </p:nvSpPr>
        <p:spPr>
          <a:xfrm>
            <a:off x="673877" y="2367558"/>
            <a:ext cx="5196900" cy="19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3680" lvl="0" marL="23368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Montserrat"/>
              <a:buChar char="•"/>
            </a:pPr>
            <a:r>
              <a:rPr b="0" i="0" lang="en-US" sz="11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End-to-end document upload and OCR pipeline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3680" lvl="0" marL="23368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Montserrat"/>
              <a:buChar char="•"/>
            </a:pPr>
            <a:r>
              <a:rPr b="0" i="0" lang="en-US" sz="11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KADI shared context orchestration engine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3680" lvl="0" marL="23368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Montserrat"/>
              <a:buChar char="•"/>
            </a:pPr>
            <a:r>
              <a:rPr b="0" i="0" lang="en-US" sz="11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BillNyay bill audit with anomaly detection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3680" lvl="0" marL="23368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Montserrat"/>
              <a:buChar char="•"/>
            </a:pPr>
            <a:r>
              <a:rPr b="0" i="0" lang="en-US" sz="11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DawaCheck medicine price benchmarking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3680" lvl="0" marL="23368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Montserrat"/>
              <a:buChar char="•"/>
            </a:pPr>
            <a:r>
              <a:rPr b="0" i="0" lang="en-US" sz="11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SchemeSetu eligibility estimation engine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3680" lvl="0" marL="23368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Montserrat"/>
              <a:buChar char="•"/>
            </a:pPr>
            <a:r>
              <a:rPr b="0" i="0" lang="en-US" sz="11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DaaviSetu claim form pre-population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3680" lvl="0" marL="23368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Montserrat"/>
              <a:buChar char="•"/>
            </a:pPr>
            <a:r>
              <a:rPr b="0" i="0" lang="en-US" sz="11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Structured PDF report generation for all modules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2"/>
          <p:cNvSpPr/>
          <p:nvPr/>
        </p:nvSpPr>
        <p:spPr>
          <a:xfrm>
            <a:off x="6285251" y="1965523"/>
            <a:ext cx="5280885" cy="2594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⚠️</a:t>
            </a:r>
            <a:r>
              <a:rPr b="1" i="0" lang="en-US" sz="1550" u="none" cap="none" strike="noStrike">
                <a:solidFill>
                  <a:srgbClr val="2E3C4E"/>
                </a:solidFill>
                <a:latin typeface="Barlow"/>
                <a:ea typeface="Barlow"/>
                <a:cs typeface="Barlow"/>
                <a:sym typeface="Barlow"/>
              </a:rPr>
              <a:t> Current Limitations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2"/>
          <p:cNvSpPr/>
          <p:nvPr/>
        </p:nvSpPr>
        <p:spPr>
          <a:xfrm>
            <a:off x="6285251" y="2367558"/>
            <a:ext cx="5280885" cy="1604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3680" lvl="0" marL="23368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50"/>
              <a:buFont typeface="Montserrat"/>
              <a:buChar char="•"/>
            </a:pPr>
            <a:r>
              <a:rPr b="0" i="0" lang="en-US" sz="115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Decision support only — no automatic approvals or binding recommendations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3680" lvl="0" marL="23368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50"/>
              <a:buFont typeface="Montserrat"/>
              <a:buChar char="•"/>
            </a:pPr>
            <a:r>
              <a:rPr b="0" i="0" lang="en-US" sz="115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No live hospital EMR or insurance API integrations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3680" lvl="0" marL="23368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50"/>
              <a:buFont typeface="Montserrat"/>
              <a:buChar char="•"/>
            </a:pPr>
            <a:r>
              <a:rPr b="0" i="0" lang="en-US" sz="115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OCR accuracy degrades on low-quality scanned documents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3680" lvl="0" marL="23368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50"/>
              <a:buFont typeface="Montserrat"/>
              <a:buChar char="•"/>
            </a:pPr>
            <a:r>
              <a:rPr b="0" i="0" lang="en-US" sz="115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Government scheme criteria manually maintained — not live-fed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3680" lvl="0" marL="23368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50"/>
              <a:buFont typeface="Montserrat"/>
              <a:buChar char="•"/>
            </a:pPr>
            <a:r>
              <a:rPr b="0" i="0" lang="en-US" sz="115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No multi-language prescription support beyond English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2"/>
          <p:cNvSpPr/>
          <p:nvPr/>
        </p:nvSpPr>
        <p:spPr>
          <a:xfrm>
            <a:off x="6285251" y="4169569"/>
            <a:ext cx="5280885" cy="19050"/>
          </a:xfrm>
          <a:prstGeom prst="roundRect">
            <a:avLst>
              <a:gd fmla="val 49999" name="adj"/>
            </a:avLst>
          </a:prstGeom>
          <a:solidFill>
            <a:srgbClr val="384653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2"/>
          <p:cNvSpPr/>
          <p:nvPr/>
        </p:nvSpPr>
        <p:spPr>
          <a:xfrm>
            <a:off x="6285251" y="4386461"/>
            <a:ext cx="5280885" cy="2594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🔭</a:t>
            </a:r>
            <a:r>
              <a:rPr b="1" i="0" lang="en-US" sz="1550" u="none" cap="none" strike="noStrike">
                <a:solidFill>
                  <a:srgbClr val="2E3C4E"/>
                </a:solidFill>
                <a:latin typeface="Barlow"/>
                <a:ea typeface="Barlow"/>
                <a:cs typeface="Barlow"/>
                <a:sym typeface="Barlow"/>
              </a:rPr>
              <a:t> Future Roadmap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2"/>
          <p:cNvSpPr/>
          <p:nvPr/>
        </p:nvSpPr>
        <p:spPr>
          <a:xfrm>
            <a:off x="6285251" y="4788495"/>
            <a:ext cx="5280885" cy="13700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3680" lvl="0" marL="23368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50"/>
              <a:buFont typeface="Montserrat"/>
              <a:buChar char="•"/>
            </a:pPr>
            <a:r>
              <a:rPr b="0" i="0" lang="en-US" sz="115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FHIR-compliant APIs for hospital EMR integration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3680" lvl="0" marL="23368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50"/>
              <a:buFont typeface="Montserrat"/>
              <a:buChar char="•"/>
            </a:pPr>
            <a:r>
              <a:rPr b="0" i="0" lang="en-US" sz="115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ABDM (Ayushman Bharat Digital Mission) interoperability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3680" lvl="0" marL="23368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50"/>
              <a:buFont typeface="Montserrat"/>
              <a:buChar char="•"/>
            </a:pPr>
            <a:r>
              <a:rPr b="0" i="0" lang="en-US" sz="115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Live hospital and insurer API partnerships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3680" lvl="0" marL="23368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50"/>
              <a:buFont typeface="Montserrat"/>
              <a:buChar char="•"/>
            </a:pPr>
            <a:r>
              <a:rPr b="0" i="0" lang="en-US" sz="115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Knowledge Graph for scheme and procedure ontologies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3680" lvl="0" marL="23368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50"/>
              <a:buFont typeface="Montserrat"/>
              <a:buChar char="•"/>
            </a:pPr>
            <a:r>
              <a:rPr b="0" i="0" lang="en-US" sz="115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Multi-language OCR for regional prescriptions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0" name="Google Shape;180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89855" y="6417270"/>
            <a:ext cx="3601828" cy="4407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3"/>
          <p:cNvSpPr/>
          <p:nvPr/>
        </p:nvSpPr>
        <p:spPr>
          <a:xfrm>
            <a:off x="631908" y="612080"/>
            <a:ext cx="10927878" cy="4417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2750"/>
              <a:buFont typeface="Barlow"/>
              <a:buNone/>
            </a:pPr>
            <a:r>
              <a:rPr b="1" i="0" lang="en-US" sz="2750" u="none" cap="none" strike="noStrike">
                <a:solidFill>
                  <a:srgbClr val="2E3C4E"/>
                </a:solidFill>
                <a:latin typeface="Barlow"/>
                <a:ea typeface="Barlow"/>
                <a:cs typeface="Barlow"/>
                <a:sym typeface="Barlow"/>
              </a:rPr>
              <a:t>Impact &amp; Conclusion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3"/>
          <p:cNvSpPr/>
          <p:nvPr/>
        </p:nvSpPr>
        <p:spPr>
          <a:xfrm>
            <a:off x="631908" y="1282005"/>
            <a:ext cx="10927878" cy="3972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050"/>
              <a:buFont typeface="Montserrat"/>
              <a:buNone/>
            </a:pPr>
            <a:r>
              <a:rPr b="0" i="0" lang="en-US" sz="105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ArogyaRakshak demonstrates that shared AI intelligence — not isolated modules — is the correct architectural pattern for healthcare administrative workflows. The platform delivers measurable value across all stakeholders.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3"/>
          <p:cNvSpPr/>
          <p:nvPr/>
        </p:nvSpPr>
        <p:spPr>
          <a:xfrm>
            <a:off x="898006" y="1874738"/>
            <a:ext cx="3015282" cy="4431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3450"/>
              <a:buFont typeface="Barlow"/>
              <a:buNone/>
            </a:pPr>
            <a:r>
              <a:rPr b="1" i="0" lang="en-US" sz="3450" u="none" cap="none" strike="noStrike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4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3"/>
          <p:cNvSpPr/>
          <p:nvPr/>
        </p:nvSpPr>
        <p:spPr>
          <a:xfrm>
            <a:off x="631908" y="2470448"/>
            <a:ext cx="3547478" cy="2208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350"/>
              <a:buFont typeface="Barlow"/>
              <a:buNone/>
            </a:pPr>
            <a:r>
              <a:rPr b="1" i="0" lang="en-US" sz="1350" u="none" cap="none" strike="noStrike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Integrated Modules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3"/>
          <p:cNvSpPr/>
          <p:nvPr/>
        </p:nvSpPr>
        <p:spPr>
          <a:xfrm>
            <a:off x="631908" y="2759770"/>
            <a:ext cx="3547478" cy="3972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050"/>
              <a:buFont typeface="Montserrat"/>
              <a:buNone/>
            </a:pPr>
            <a:r>
              <a:rPr b="0" i="0" lang="en-US" sz="105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Bill audit, medicine pricing, scheme eligibility, and claim automation in one workflow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3"/>
          <p:cNvSpPr/>
          <p:nvPr/>
        </p:nvSpPr>
        <p:spPr>
          <a:xfrm>
            <a:off x="4588157" y="1874738"/>
            <a:ext cx="3015282" cy="4431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3450"/>
              <a:buFont typeface="Barlow"/>
              <a:buNone/>
            </a:pPr>
            <a:r>
              <a:rPr b="1" i="0" lang="en-US" sz="3450" u="none" cap="none" strike="noStrike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1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3"/>
          <p:cNvSpPr/>
          <p:nvPr/>
        </p:nvSpPr>
        <p:spPr>
          <a:xfrm>
            <a:off x="4322059" y="2470448"/>
            <a:ext cx="3547478" cy="2208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350"/>
              <a:buFont typeface="Barlow"/>
              <a:buNone/>
            </a:pPr>
            <a:r>
              <a:rPr b="1" i="0" lang="en-US" sz="1350" u="none" cap="none" strike="noStrike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Unified Upload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3"/>
          <p:cNvSpPr/>
          <p:nvPr/>
        </p:nvSpPr>
        <p:spPr>
          <a:xfrm>
            <a:off x="4322059" y="2759770"/>
            <a:ext cx="3547478" cy="3972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050"/>
              <a:buFont typeface="Montserrat"/>
              <a:buNone/>
            </a:pPr>
            <a:r>
              <a:rPr b="0" i="0" lang="en-US" sz="105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Single document submission generates multiple intelligent structured outputs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3"/>
          <p:cNvSpPr/>
          <p:nvPr/>
        </p:nvSpPr>
        <p:spPr>
          <a:xfrm>
            <a:off x="8278308" y="1874738"/>
            <a:ext cx="3015282" cy="4431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3450"/>
              <a:buFont typeface="Barlow"/>
              <a:buNone/>
            </a:pPr>
            <a:r>
              <a:rPr b="1" i="0" lang="en-US" sz="3450" u="none" cap="none" strike="noStrike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0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3"/>
          <p:cNvSpPr/>
          <p:nvPr/>
        </p:nvSpPr>
        <p:spPr>
          <a:xfrm>
            <a:off x="8012210" y="2470448"/>
            <a:ext cx="3547478" cy="2208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350"/>
              <a:buFont typeface="Barlow"/>
              <a:buNone/>
            </a:pPr>
            <a:r>
              <a:rPr b="1" i="0" lang="en-US" sz="1350" u="none" cap="none" strike="noStrike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Diagnosis Claims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3"/>
          <p:cNvSpPr/>
          <p:nvPr/>
        </p:nvSpPr>
        <p:spPr>
          <a:xfrm>
            <a:off x="8012210" y="2759770"/>
            <a:ext cx="3547478" cy="3972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050"/>
              <a:buFont typeface="Montserrat"/>
              <a:buNone/>
            </a:pPr>
            <a:r>
              <a:rPr b="0" i="0" lang="en-US" sz="105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Platform explicitly does not diagnose, treat, or approve — decision support only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3"/>
          <p:cNvSpPr/>
          <p:nvPr/>
        </p:nvSpPr>
        <p:spPr>
          <a:xfrm>
            <a:off x="631908" y="3285430"/>
            <a:ext cx="5406890" cy="967780"/>
          </a:xfrm>
          <a:prstGeom prst="roundRect">
            <a:avLst>
              <a:gd fmla="val 20813" name="adj"/>
            </a:avLst>
          </a:prstGeom>
          <a:solidFill>
            <a:srgbClr val="D4E9F7"/>
          </a:solidFill>
          <a:ln cap="flat" cmpd="sng" w="9525">
            <a:solidFill>
              <a:srgbClr val="BACF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3"/>
          <p:cNvSpPr/>
          <p:nvPr/>
        </p:nvSpPr>
        <p:spPr>
          <a:xfrm>
            <a:off x="772498" y="3426023"/>
            <a:ext cx="5125711" cy="2208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350"/>
              <a:buFont typeface="Barlow"/>
              <a:buNone/>
            </a:pPr>
            <a:r>
              <a:rPr b="1" i="0" lang="en-US" sz="1350" u="none" cap="none" strike="noStrike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Patients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3"/>
          <p:cNvSpPr/>
          <p:nvPr/>
        </p:nvSpPr>
        <p:spPr>
          <a:xfrm>
            <a:off x="772498" y="3715345"/>
            <a:ext cx="5125711" cy="3972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050"/>
              <a:buFont typeface="Montserrat"/>
              <a:buNone/>
            </a:pPr>
            <a:r>
              <a:rPr b="0" i="0" lang="en-US" sz="105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Transparent bills, verified medicine prices, and claim-ready documentation without manual effort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3"/>
          <p:cNvSpPr/>
          <p:nvPr/>
        </p:nvSpPr>
        <p:spPr>
          <a:xfrm>
            <a:off x="6152897" y="3285430"/>
            <a:ext cx="5406890" cy="967780"/>
          </a:xfrm>
          <a:prstGeom prst="roundRect">
            <a:avLst>
              <a:gd fmla="val 20813" name="adj"/>
            </a:avLst>
          </a:prstGeom>
          <a:solidFill>
            <a:srgbClr val="D4E9F7"/>
          </a:solidFill>
          <a:ln cap="flat" cmpd="sng" w="9525">
            <a:solidFill>
              <a:srgbClr val="BACF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3"/>
          <p:cNvSpPr/>
          <p:nvPr/>
        </p:nvSpPr>
        <p:spPr>
          <a:xfrm>
            <a:off x="6293486" y="3426023"/>
            <a:ext cx="5125711" cy="2208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350"/>
              <a:buFont typeface="Barlow"/>
              <a:buNone/>
            </a:pPr>
            <a:r>
              <a:rPr b="1" i="0" lang="en-US" sz="1350" u="none" cap="none" strike="noStrike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Hospitals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3"/>
          <p:cNvSpPr/>
          <p:nvPr/>
        </p:nvSpPr>
        <p:spPr>
          <a:xfrm>
            <a:off x="6293486" y="3715345"/>
            <a:ext cx="5125711" cy="3972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050"/>
              <a:buFont typeface="Montserrat"/>
              <a:buNone/>
            </a:pPr>
            <a:r>
              <a:rPr b="0" i="0" lang="en-US" sz="105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Reduced administrative queries and standardized discharge documentation workflows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3"/>
          <p:cNvSpPr/>
          <p:nvPr/>
        </p:nvSpPr>
        <p:spPr>
          <a:xfrm>
            <a:off x="631908" y="4367312"/>
            <a:ext cx="5406890" cy="967780"/>
          </a:xfrm>
          <a:prstGeom prst="roundRect">
            <a:avLst>
              <a:gd fmla="val 20813" name="adj"/>
            </a:avLst>
          </a:prstGeom>
          <a:solidFill>
            <a:srgbClr val="D4E9F7"/>
          </a:solidFill>
          <a:ln cap="flat" cmpd="sng" w="9525">
            <a:solidFill>
              <a:srgbClr val="BACF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3"/>
          <p:cNvSpPr/>
          <p:nvPr/>
        </p:nvSpPr>
        <p:spPr>
          <a:xfrm>
            <a:off x="772498" y="4507905"/>
            <a:ext cx="5125711" cy="2208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350"/>
              <a:buFont typeface="Barlow"/>
              <a:buNone/>
            </a:pPr>
            <a:r>
              <a:rPr b="1" i="0" lang="en-US" sz="1350" u="none" cap="none" strike="noStrike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Government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3"/>
          <p:cNvSpPr/>
          <p:nvPr/>
        </p:nvSpPr>
        <p:spPr>
          <a:xfrm>
            <a:off x="772498" y="4797227"/>
            <a:ext cx="5125711" cy="3972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050"/>
              <a:buFont typeface="Montserrat"/>
              <a:buNone/>
            </a:pPr>
            <a:r>
              <a:rPr b="0" i="0" lang="en-US" sz="105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Improved scheme uptake through automated eligibility matching and reduced exclusion errors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3"/>
          <p:cNvSpPr/>
          <p:nvPr/>
        </p:nvSpPr>
        <p:spPr>
          <a:xfrm>
            <a:off x="6152897" y="4367312"/>
            <a:ext cx="5406890" cy="967780"/>
          </a:xfrm>
          <a:prstGeom prst="roundRect">
            <a:avLst>
              <a:gd fmla="val 20813" name="adj"/>
            </a:avLst>
          </a:prstGeom>
          <a:solidFill>
            <a:srgbClr val="D4E9F7"/>
          </a:solidFill>
          <a:ln cap="flat" cmpd="sng" w="9525">
            <a:solidFill>
              <a:srgbClr val="BACF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3"/>
          <p:cNvSpPr/>
          <p:nvPr/>
        </p:nvSpPr>
        <p:spPr>
          <a:xfrm>
            <a:off x="6293486" y="4507905"/>
            <a:ext cx="5125711" cy="2208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350"/>
              <a:buFont typeface="Barlow"/>
              <a:buNone/>
            </a:pPr>
            <a:r>
              <a:rPr b="1" i="0" lang="en-US" sz="1350" u="none" cap="none" strike="noStrike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Insurers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3"/>
          <p:cNvSpPr/>
          <p:nvPr/>
        </p:nvSpPr>
        <p:spPr>
          <a:xfrm>
            <a:off x="6293486" y="4797227"/>
            <a:ext cx="5125711" cy="3972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050"/>
              <a:buFont typeface="Montserrat"/>
              <a:buNone/>
            </a:pPr>
            <a:r>
              <a:rPr b="0" i="0" lang="en-US" sz="105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Higher-quality, complete claim submissions reducing processing time and rejection rates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3"/>
          <p:cNvSpPr/>
          <p:nvPr/>
        </p:nvSpPr>
        <p:spPr>
          <a:xfrm>
            <a:off x="833317" y="5591870"/>
            <a:ext cx="11336054" cy="1986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050"/>
              <a:buFont typeface="Montserrat"/>
              <a:buNone/>
            </a:pPr>
            <a:r>
              <a:rPr b="1" i="0" lang="en-US" sz="105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"A unified AI-assisted healthcare workflow powered by shared intelligence."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3"/>
          <p:cNvSpPr/>
          <p:nvPr/>
        </p:nvSpPr>
        <p:spPr>
          <a:xfrm>
            <a:off x="631908" y="5463480"/>
            <a:ext cx="19050" cy="455414"/>
          </a:xfrm>
          <a:prstGeom prst="roundRect">
            <a:avLst>
              <a:gd fmla="val 49999" name="adj"/>
            </a:avLst>
          </a:prstGeom>
          <a:solidFill>
            <a:srgbClr val="75BA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3"/>
          <p:cNvSpPr/>
          <p:nvPr/>
        </p:nvSpPr>
        <p:spPr>
          <a:xfrm>
            <a:off x="631908" y="6047284"/>
            <a:ext cx="11537463" cy="1986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050"/>
              <a:buFont typeface="Montserrat"/>
              <a:buNone/>
            </a:pPr>
            <a:r>
              <a:rPr b="0" i="0" lang="en-US" sz="105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Thank you for your time and attention. We welcome technical questions on architecture, AI pipeline design, and healthcare interoperability standards.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2" name="Google Shape;212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89855" y="6417270"/>
            <a:ext cx="3601828" cy="4407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