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2773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20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18.png"/><Relationship Id="rId5" Type="http://schemas.openxmlformats.org/officeDocument/2006/relationships/image" Target="../media/image30.png"/><Relationship Id="rId15" Type="http://schemas.openxmlformats.org/officeDocument/2006/relationships/image" Target="../media/image22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11.png"/><Relationship Id="rId4" Type="http://schemas.openxmlformats.org/officeDocument/2006/relationships/image" Target="../media/image5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72200" y="0"/>
            <a:ext cx="6019495" cy="6858000"/>
          </a:xfrm>
          <a:prstGeom prst="rect">
            <a:avLst/>
          </a:prstGeom>
          <a:solidFill>
            <a:srgbClr val="0F214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932688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700" b="1" kern="0" spc="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ArogyaRakshak</a:t>
            </a:r>
            <a:endParaRPr lang="en-US" sz="4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7FD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Healthcare Decision</a:t>
            </a:r>
            <a:endParaRPr lang="en-US" sz="1900" dirty="0"/>
          </a:p>
          <a:p>
            <a:pPr marL="0" indent="0" algn="l">
              <a:buNone/>
            </a:pPr>
            <a:r>
              <a:rPr lang="en-US" sz="1900" b="1" dirty="0">
                <a:solidFill>
                  <a:srgbClr val="7FD8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Platform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4320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A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“Making the post-discharge healthcare journey simpler,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A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smarter, and more transparent.”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91363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128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187952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Viraj Jadhao</a:t>
            </a:r>
            <a:endParaRPr lang="en-US" sz="13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Anurag Pawar</a:t>
            </a:r>
            <a:endParaRPr lang="en-US" sz="13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Sanjali Paygude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4187952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Janvekar</a:t>
            </a:r>
            <a:endParaRPr lang="en-US" sz="13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 Chandak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5440680"/>
            <a:ext cx="5074920" cy="0"/>
          </a:xfrm>
          <a:prstGeom prst="line">
            <a:avLst/>
          </a:prstGeom>
          <a:noFill/>
          <a:ln w="12700">
            <a:solidFill>
              <a:srgbClr val="2540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558698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A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Engineering  |  SPPU  ·  Academic Year 2026–27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0" y="566928"/>
            <a:ext cx="731520" cy="731520"/>
          </a:xfrm>
          <a:prstGeom prst="ellipse">
            <a:avLst/>
          </a:prstGeom>
          <a:solidFill>
            <a:srgbClr val="3D6A8A"/>
          </a:solidFill>
          <a:ln/>
        </p:spPr>
      </p:sp>
      <p:pic>
        <p:nvPicPr>
          <p:cNvPr id="13" name="Image 0" descr="/home/claude/arogya/icons/td_pat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4" y="740664"/>
            <a:ext cx="347472" cy="34747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138160" y="13350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kern="0" spc="140" dirty="0">
                <a:solidFill>
                  <a:srgbClr val="A9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9052560" y="1627632"/>
            <a:ext cx="0" cy="292608"/>
          </a:xfrm>
          <a:prstGeom prst="line">
            <a:avLst/>
          </a:prstGeom>
          <a:noFill/>
          <a:ln w="15875">
            <a:solidFill>
              <a:srgbClr val="3A5578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7223760" y="19568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kern="0" spc="140" dirty="0">
                <a:solidFill>
                  <a:srgbClr val="128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DOCUMENTS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995160" y="2249424"/>
            <a:ext cx="93268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B33">
                <a:alpha val="16000"/>
              </a:srgbClr>
            </a:outerShdw>
          </a:effectLst>
        </p:spPr>
      </p:sp>
      <p:pic>
        <p:nvPicPr>
          <p:cNvPr id="18" name="Image 1" descr="/home/claude/arogya/icons/td_bi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768" y="2386584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922008" y="281635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8055864" y="2249424"/>
            <a:ext cx="93268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B33">
                <a:alpha val="16000"/>
              </a:srgbClr>
            </a:outerShdw>
          </a:effectLst>
        </p:spPr>
      </p:sp>
      <p:pic>
        <p:nvPicPr>
          <p:cNvPr id="21" name="Image 2" descr="/home/claude/arogya/icons/td_r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2386584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982712" y="281635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9116568" y="2249424"/>
            <a:ext cx="93268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B33">
                <a:alpha val="16000"/>
              </a:srgbClr>
            </a:outerShdw>
          </a:effectLst>
        </p:spPr>
      </p:sp>
      <p:pic>
        <p:nvPicPr>
          <p:cNvPr id="24" name="Image 3" descr="/home/claude/arogya/icons/td_repo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9176" y="2386584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043416" y="281635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10177272" y="2249424"/>
            <a:ext cx="93268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B33">
                <a:alpha val="16000"/>
              </a:srgbClr>
            </a:outerShdw>
          </a:effectLst>
        </p:spPr>
      </p:sp>
      <p:pic>
        <p:nvPicPr>
          <p:cNvPr id="27" name="Image 4" descr="/home/claude/arogya/icons/td_insura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9880" y="2386584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0104120" y="281635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9052560" y="3236976"/>
            <a:ext cx="0" cy="310896"/>
          </a:xfrm>
          <a:prstGeom prst="line">
            <a:avLst/>
          </a:prstGeom>
          <a:noFill/>
          <a:ln w="15875">
            <a:solidFill>
              <a:srgbClr val="3A5578"/>
            </a:solidFill>
            <a:prstDash val="solid"/>
            <a:tailEnd type="triangle"/>
          </a:ln>
        </p:spPr>
      </p:sp>
      <p:pic>
        <p:nvPicPr>
          <p:cNvPr id="30" name="Image 5" descr="/home/claude/arogya/icons/td_platfor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7344" y="3621024"/>
            <a:ext cx="1170432" cy="117043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040880" y="48463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kern="0" spc="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AROGYARAKSHAK</a:t>
            </a:r>
            <a:endParaRPr lang="en-US" sz="1500" dirty="0"/>
          </a:p>
        </p:txBody>
      </p:sp>
      <p:sp>
        <p:nvSpPr>
          <p:cNvPr id="32" name="Shape 24"/>
          <p:cNvSpPr/>
          <p:nvPr/>
        </p:nvSpPr>
        <p:spPr>
          <a:xfrm>
            <a:off x="9052560" y="5175504"/>
            <a:ext cx="0" cy="274320"/>
          </a:xfrm>
          <a:prstGeom prst="line">
            <a:avLst/>
          </a:prstGeom>
          <a:noFill/>
          <a:ln w="15875">
            <a:solidFill>
              <a:srgbClr val="3A5578"/>
            </a:solidFill>
            <a:prstDash val="solid"/>
            <a:tailEnd type="triangle"/>
          </a:ln>
        </p:spPr>
      </p:sp>
      <p:sp>
        <p:nvSpPr>
          <p:cNvPr id="33" name="Shape 25"/>
          <p:cNvSpPr/>
          <p:nvPr/>
        </p:nvSpPr>
        <p:spPr>
          <a:xfrm>
            <a:off x="6839712" y="5504688"/>
            <a:ext cx="1170432" cy="420624"/>
          </a:xfrm>
          <a:prstGeom prst="roundRect">
            <a:avLst>
              <a:gd name="adj" fmla="val 50000"/>
            </a:avLst>
          </a:prstGeom>
          <a:solidFill>
            <a:srgbClr val="17325A"/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6839712" y="5504688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8046720" y="5715000"/>
            <a:ext cx="384048" cy="0"/>
          </a:xfrm>
          <a:prstGeom prst="line">
            <a:avLst/>
          </a:prstGeom>
          <a:noFill/>
          <a:ln w="15875">
            <a:solidFill>
              <a:srgbClr val="12867E"/>
            </a:solidFill>
            <a:prstDash val="solid"/>
            <a:tailEnd type="triangle"/>
          </a:ln>
        </p:spPr>
      </p:sp>
      <p:sp>
        <p:nvSpPr>
          <p:cNvPr id="36" name="Shape 28"/>
          <p:cNvSpPr/>
          <p:nvPr/>
        </p:nvSpPr>
        <p:spPr>
          <a:xfrm>
            <a:off x="8467344" y="5504688"/>
            <a:ext cx="1170432" cy="420624"/>
          </a:xfrm>
          <a:prstGeom prst="roundRect">
            <a:avLst>
              <a:gd name="adj" fmla="val 50000"/>
            </a:avLst>
          </a:prstGeom>
          <a:solidFill>
            <a:srgbClr val="17325A"/>
          </a:solidFill>
          <a:ln/>
        </p:spPr>
      </p:sp>
      <p:sp>
        <p:nvSpPr>
          <p:cNvPr id="37" name="Text 29"/>
          <p:cNvSpPr txBox="1"/>
          <p:nvPr/>
        </p:nvSpPr>
        <p:spPr>
          <a:xfrm>
            <a:off x="8467344" y="5504688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9674352" y="5715000"/>
            <a:ext cx="384048" cy="0"/>
          </a:xfrm>
          <a:prstGeom prst="line">
            <a:avLst/>
          </a:prstGeom>
          <a:noFill/>
          <a:ln w="15875">
            <a:solidFill>
              <a:srgbClr val="12867E"/>
            </a:solidFill>
            <a:prstDash val="solid"/>
            <a:tailEnd type="triangle"/>
          </a:ln>
        </p:spPr>
      </p:sp>
      <p:sp>
        <p:nvSpPr>
          <p:cNvPr id="39" name="Shape 31"/>
          <p:cNvSpPr/>
          <p:nvPr/>
        </p:nvSpPr>
        <p:spPr>
          <a:xfrm>
            <a:off x="10094976" y="5504688"/>
            <a:ext cx="1170432" cy="420624"/>
          </a:xfrm>
          <a:prstGeom prst="roundRect">
            <a:avLst>
              <a:gd name="adj" fmla="val 50000"/>
            </a:avLst>
          </a:prstGeom>
          <a:solidFill>
            <a:srgbClr val="12867E"/>
          </a:solidFill>
          <a:ln/>
        </p:spPr>
      </p:sp>
      <p:sp>
        <p:nvSpPr>
          <p:cNvPr id="40" name="Text 32"/>
          <p:cNvSpPr txBox="1"/>
          <p:nvPr/>
        </p:nvSpPr>
        <p:spPr>
          <a:xfrm>
            <a:off x="10094976" y="5504688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050" dirty="0"/>
          </a:p>
        </p:txBody>
      </p:sp>
      <p:sp>
        <p:nvSpPr>
          <p:cNvPr id="41" name="Text 33"/>
          <p:cNvSpPr txBox="1"/>
          <p:nvPr/>
        </p:nvSpPr>
        <p:spPr>
          <a:xfrm>
            <a:off x="6355080" y="64739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kern="0" spc="120" dirty="0">
                <a:solidFill>
                  <a:srgbClr val="6C8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 •  OCR  •  RULES  •  SHARED CONTEXT  •  ORCHESTRATION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Healthcare Journey Doesn’t End at Discharge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77824" y="1901952"/>
            <a:ext cx="10433304" cy="0"/>
          </a:xfrm>
          <a:prstGeom prst="line">
            <a:avLst/>
          </a:prstGeom>
          <a:noFill/>
          <a:ln w="19050">
            <a:solidFill>
              <a:srgbClr val="C7D6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572768"/>
            <a:ext cx="658368" cy="658368"/>
          </a:xfrm>
          <a:prstGeom prst="ellipse">
            <a:avLst/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B33">
                <a:alpha val="16000"/>
              </a:srgbClr>
            </a:outerShdw>
          </a:effectLst>
        </p:spPr>
      </p:sp>
      <p:pic>
        <p:nvPicPr>
          <p:cNvPr id="5" name="Image 0" descr="/home/claude/arogya/icons/t_dischar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81" y="1717609"/>
            <a:ext cx="368686" cy="36868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83464" y="242879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DISCHARGE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287524" y="1572768"/>
            <a:ext cx="658368" cy="658368"/>
          </a:xfrm>
          <a:prstGeom prst="ellipse">
            <a:avLst/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B33">
                <a:alpha val="16000"/>
              </a:srgbClr>
            </a:outerShdw>
          </a:effectLst>
        </p:spPr>
      </p:sp>
      <p:pic>
        <p:nvPicPr>
          <p:cNvPr id="8" name="Image 1" descr="/home/claude/arogya/icons/t_bi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365" y="1717609"/>
            <a:ext cx="368686" cy="36868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022348" y="242879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026408" y="1572768"/>
            <a:ext cx="658368" cy="658368"/>
          </a:xfrm>
          <a:prstGeom prst="ellipse">
            <a:avLst/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B33">
                <a:alpha val="16000"/>
              </a:srgbClr>
            </a:outerShdw>
          </a:effectLst>
        </p:spPr>
      </p:sp>
      <p:pic>
        <p:nvPicPr>
          <p:cNvPr id="11" name="Image 2" descr="/home/claude/arogya/icons/t_prescrip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1249" y="1717609"/>
            <a:ext cx="368686" cy="36868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761232" y="242879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PRESCRIPTION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765292" y="1572768"/>
            <a:ext cx="658368" cy="658368"/>
          </a:xfrm>
          <a:prstGeom prst="ellipse">
            <a:avLst/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B33">
                <a:alpha val="16000"/>
              </a:srgbClr>
            </a:outerShdw>
          </a:effectLst>
        </p:spPr>
      </p:sp>
      <p:pic>
        <p:nvPicPr>
          <p:cNvPr id="14" name="Image 3" descr="/home/claude/arogya/icons/t_repor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0133" y="1717609"/>
            <a:ext cx="368686" cy="36868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500116" y="242879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7504176" y="1572768"/>
            <a:ext cx="658368" cy="658368"/>
          </a:xfrm>
          <a:prstGeom prst="ellipse">
            <a:avLst/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B33">
                <a:alpha val="16000"/>
              </a:srgbClr>
            </a:outerShdw>
          </a:effectLst>
        </p:spPr>
      </p:sp>
      <p:pic>
        <p:nvPicPr>
          <p:cNvPr id="17" name="Image 4" descr="/home/claude/arogya/icons/t_insura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9017" y="1717609"/>
            <a:ext cx="368686" cy="36868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239000" y="242879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9243060" y="1572768"/>
            <a:ext cx="658368" cy="658368"/>
          </a:xfrm>
          <a:prstGeom prst="ellipse">
            <a:avLst/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B33">
                <a:alpha val="16000"/>
              </a:srgbClr>
            </a:outerShdw>
          </a:effectLst>
        </p:spPr>
      </p:sp>
      <p:pic>
        <p:nvPicPr>
          <p:cNvPr id="20" name="Image 5" descr="/home/claude/arogya/icons/t_clai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7901" y="1717609"/>
            <a:ext cx="368686" cy="368686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977884" y="242879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10908792" y="1499616"/>
            <a:ext cx="804672" cy="804672"/>
          </a:xfrm>
          <a:prstGeom prst="ellipse">
            <a:avLst/>
          </a:prstGeom>
          <a:ln w="15875">
            <a:solidFill>
              <a:srgbClr val="12867E"/>
            </a:solidFill>
            <a:prstDash val="dash"/>
          </a:ln>
        </p:spPr>
      </p:sp>
      <p:sp>
        <p:nvSpPr>
          <p:cNvPr id="23" name="Shape 15"/>
          <p:cNvSpPr/>
          <p:nvPr/>
        </p:nvSpPr>
        <p:spPr>
          <a:xfrm>
            <a:off x="10981944" y="1572768"/>
            <a:ext cx="658368" cy="658368"/>
          </a:xfrm>
          <a:prstGeom prst="ellipse">
            <a:avLst/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B33">
                <a:alpha val="16000"/>
              </a:srgbClr>
            </a:outerShdw>
          </a:effectLst>
        </p:spPr>
      </p:sp>
      <p:pic>
        <p:nvPicPr>
          <p:cNvPr id="24" name="Image 6" descr="/home/claude/arogya/icons/t_deni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26785" y="1717609"/>
            <a:ext cx="368686" cy="368686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0716768" y="242879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DENIAL</a:t>
            </a:r>
            <a:endParaRPr lang="en-US" sz="1200" dirty="0"/>
          </a:p>
        </p:txBody>
      </p:sp>
      <p:sp>
        <p:nvSpPr>
          <p:cNvPr id="26" name="Shape 17"/>
          <p:cNvSpPr/>
          <p:nvPr/>
        </p:nvSpPr>
        <p:spPr>
          <a:xfrm>
            <a:off x="548640" y="2999232"/>
            <a:ext cx="3453384" cy="1417320"/>
          </a:xfrm>
          <a:prstGeom prst="roundRect">
            <a:avLst>
              <a:gd name="adj" fmla="val 5806"/>
            </a:avLst>
          </a:prstGeom>
          <a:solidFill>
            <a:srgbClr val="ECF1F6"/>
          </a:solidFill>
          <a:ln/>
        </p:spPr>
      </p:sp>
      <p:sp>
        <p:nvSpPr>
          <p:cNvPr id="27" name="Shape 18"/>
          <p:cNvSpPr/>
          <p:nvPr/>
        </p:nvSpPr>
        <p:spPr>
          <a:xfrm>
            <a:off x="804672" y="3236976"/>
            <a:ext cx="512064" cy="512064"/>
          </a:xfrm>
          <a:prstGeom prst="ellipse">
            <a:avLst/>
          </a:prstGeom>
          <a:solidFill>
            <a:srgbClr val="12867E"/>
          </a:solidFill>
          <a:ln/>
        </p:spPr>
      </p:sp>
      <p:pic>
        <p:nvPicPr>
          <p:cNvPr id="28" name="Image 7" descr="/home/claude/arogya/icons/pain_fragment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3346704"/>
            <a:ext cx="292608" cy="292608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463040" y="3313884"/>
            <a:ext cx="2356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</a:t>
            </a:r>
            <a:endParaRPr lang="en-US" sz="1600" dirty="0"/>
          </a:p>
        </p:txBody>
      </p:sp>
      <p:sp>
        <p:nvSpPr>
          <p:cNvPr id="30" name="Text 20"/>
          <p:cNvSpPr txBox="1"/>
          <p:nvPr/>
        </p:nvSpPr>
        <p:spPr>
          <a:xfrm>
            <a:off x="804672" y="3840480"/>
            <a:ext cx="294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and information are scattered across sources.</a:t>
            </a:r>
            <a:endParaRPr lang="en-US" sz="1200" dirty="0"/>
          </a:p>
        </p:txBody>
      </p:sp>
      <p:sp>
        <p:nvSpPr>
          <p:cNvPr id="31" name="Shape 21"/>
          <p:cNvSpPr/>
          <p:nvPr/>
        </p:nvSpPr>
        <p:spPr>
          <a:xfrm>
            <a:off x="4367784" y="2999232"/>
            <a:ext cx="3453384" cy="1417320"/>
          </a:xfrm>
          <a:prstGeom prst="roundRect">
            <a:avLst>
              <a:gd name="adj" fmla="val 5806"/>
            </a:avLst>
          </a:prstGeom>
          <a:solidFill>
            <a:srgbClr val="ECF1F6"/>
          </a:solidFill>
          <a:ln/>
        </p:spPr>
      </p:sp>
      <p:sp>
        <p:nvSpPr>
          <p:cNvPr id="32" name="Shape 22"/>
          <p:cNvSpPr/>
          <p:nvPr/>
        </p:nvSpPr>
        <p:spPr>
          <a:xfrm>
            <a:off x="4623816" y="3236976"/>
            <a:ext cx="512064" cy="512064"/>
          </a:xfrm>
          <a:prstGeom prst="ellipse">
            <a:avLst/>
          </a:prstGeom>
          <a:solidFill>
            <a:srgbClr val="12867E"/>
          </a:solidFill>
          <a:ln/>
        </p:spPr>
      </p:sp>
      <p:pic>
        <p:nvPicPr>
          <p:cNvPr id="33" name="Image 8" descr="/home/claude/arogya/icons/pain_manu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33544" y="3346704"/>
            <a:ext cx="292608" cy="292608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5282184" y="3313884"/>
            <a:ext cx="2356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600" dirty="0"/>
          </a:p>
        </p:txBody>
      </p:sp>
      <p:sp>
        <p:nvSpPr>
          <p:cNvPr id="35" name="Text 24"/>
          <p:cNvSpPr txBox="1"/>
          <p:nvPr/>
        </p:nvSpPr>
        <p:spPr>
          <a:xfrm>
            <a:off x="4623816" y="3840480"/>
            <a:ext cx="294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repeatedly enter, verify, compare, and submit information.</a:t>
            </a:r>
            <a:endParaRPr lang="en-US" sz="1200" dirty="0"/>
          </a:p>
        </p:txBody>
      </p:sp>
      <p:sp>
        <p:nvSpPr>
          <p:cNvPr id="36" name="Shape 25"/>
          <p:cNvSpPr/>
          <p:nvPr/>
        </p:nvSpPr>
        <p:spPr>
          <a:xfrm>
            <a:off x="8186928" y="2999232"/>
            <a:ext cx="3453384" cy="1417320"/>
          </a:xfrm>
          <a:prstGeom prst="roundRect">
            <a:avLst>
              <a:gd name="adj" fmla="val 5806"/>
            </a:avLst>
          </a:prstGeom>
          <a:solidFill>
            <a:srgbClr val="ECF1F6"/>
          </a:solidFill>
          <a:ln/>
        </p:spPr>
      </p:sp>
      <p:sp>
        <p:nvSpPr>
          <p:cNvPr id="37" name="Shape 26"/>
          <p:cNvSpPr/>
          <p:nvPr/>
        </p:nvSpPr>
        <p:spPr>
          <a:xfrm>
            <a:off x="8442960" y="3236976"/>
            <a:ext cx="512064" cy="512064"/>
          </a:xfrm>
          <a:prstGeom prst="ellipse">
            <a:avLst/>
          </a:prstGeom>
          <a:solidFill>
            <a:srgbClr val="12867E"/>
          </a:solidFill>
          <a:ln/>
        </p:spPr>
      </p:sp>
      <p:pic>
        <p:nvPicPr>
          <p:cNvPr id="38" name="Image 9" descr="/home/claude/arogya/icons/pain_opaqu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52688" y="3346704"/>
            <a:ext cx="292608" cy="292608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9101328" y="3313884"/>
            <a:ext cx="2356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OPAQUE</a:t>
            </a:r>
            <a:endParaRPr lang="en-US" sz="1600" dirty="0"/>
          </a:p>
        </p:txBody>
      </p:sp>
      <p:sp>
        <p:nvSpPr>
          <p:cNvPr id="40" name="Text 28"/>
          <p:cNvSpPr txBox="1"/>
          <p:nvPr/>
        </p:nvSpPr>
        <p:spPr>
          <a:xfrm>
            <a:off x="8442960" y="3840480"/>
            <a:ext cx="294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Charges, schemes, and claim decisions are difficult to understand.</a:t>
            </a:r>
            <a:endParaRPr lang="en-US" sz="1200" dirty="0"/>
          </a:p>
        </p:txBody>
      </p:sp>
      <p:sp>
        <p:nvSpPr>
          <p:cNvPr id="41" name="Shape 29"/>
          <p:cNvSpPr/>
          <p:nvPr/>
        </p:nvSpPr>
        <p:spPr>
          <a:xfrm>
            <a:off x="548640" y="4709160"/>
            <a:ext cx="11091672" cy="1691640"/>
          </a:xfrm>
          <a:prstGeom prst="roundRect">
            <a:avLst>
              <a:gd name="adj" fmla="val 4865"/>
            </a:avLst>
          </a:prstGeom>
          <a:solidFill>
            <a:srgbClr val="122A4D"/>
          </a:solidFill>
          <a:ln/>
        </p:spPr>
      </p:sp>
      <p:sp>
        <p:nvSpPr>
          <p:cNvPr id="42" name="Text 30"/>
          <p:cNvSpPr txBox="1"/>
          <p:nvPr/>
        </p:nvSpPr>
        <p:spPr>
          <a:xfrm>
            <a:off x="914400" y="49651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6F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050" dirty="0"/>
          </a:p>
        </p:txBody>
      </p:sp>
      <p:sp>
        <p:nvSpPr>
          <p:cNvPr id="43" name="Text 31"/>
          <p:cNvSpPr txBox="1"/>
          <p:nvPr/>
        </p:nvSpPr>
        <p:spPr>
          <a:xfrm>
            <a:off x="914400" y="5239512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fragmented post-discharge administrative processes with one unified AI-assisted decision-support platform.</a:t>
            </a:r>
            <a:endParaRPr lang="en-US" sz="1800" dirty="0"/>
          </a:p>
        </p:txBody>
      </p:sp>
      <p:sp>
        <p:nvSpPr>
          <p:cNvPr id="44" name="Shape 32"/>
          <p:cNvSpPr/>
          <p:nvPr/>
        </p:nvSpPr>
        <p:spPr>
          <a:xfrm>
            <a:off x="6903720" y="5181840"/>
            <a:ext cx="310896" cy="310896"/>
          </a:xfrm>
          <a:prstGeom prst="ellipse">
            <a:avLst/>
          </a:prstGeom>
          <a:solidFill>
            <a:srgbClr val="1E3E68"/>
          </a:solidFill>
          <a:ln/>
        </p:spPr>
      </p:sp>
      <p:pic>
        <p:nvPicPr>
          <p:cNvPr id="45" name="Image 10" descr="/home/claude/arogya/icons/chev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86016" y="5264136"/>
            <a:ext cx="146304" cy="146304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7324344" y="5072112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repetitive work</a:t>
            </a:r>
            <a:endParaRPr lang="en-US" sz="1150" dirty="0"/>
          </a:p>
        </p:txBody>
      </p:sp>
      <p:sp>
        <p:nvSpPr>
          <p:cNvPr id="47" name="Shape 34"/>
          <p:cNvSpPr/>
          <p:nvPr/>
        </p:nvSpPr>
        <p:spPr>
          <a:xfrm>
            <a:off x="9281160" y="5181840"/>
            <a:ext cx="310896" cy="310896"/>
          </a:xfrm>
          <a:prstGeom prst="ellipse">
            <a:avLst/>
          </a:prstGeom>
          <a:solidFill>
            <a:srgbClr val="1E3E68"/>
          </a:solidFill>
          <a:ln/>
        </p:spPr>
      </p:sp>
      <p:pic>
        <p:nvPicPr>
          <p:cNvPr id="48" name="Image 11" descr="/home/claude/arogya/icons/chev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63456" y="5264136"/>
            <a:ext cx="146304" cy="146304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9701784" y="5072112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patient context</a:t>
            </a:r>
            <a:endParaRPr lang="en-US" sz="1150" dirty="0"/>
          </a:p>
        </p:txBody>
      </p:sp>
      <p:sp>
        <p:nvSpPr>
          <p:cNvPr id="50" name="Shape 36"/>
          <p:cNvSpPr/>
          <p:nvPr/>
        </p:nvSpPr>
        <p:spPr>
          <a:xfrm>
            <a:off x="6903720" y="5756490"/>
            <a:ext cx="310896" cy="310896"/>
          </a:xfrm>
          <a:prstGeom prst="ellipse">
            <a:avLst/>
          </a:prstGeom>
          <a:solidFill>
            <a:srgbClr val="1E3E68"/>
          </a:solidFill>
          <a:ln/>
        </p:spPr>
      </p:sp>
      <p:pic>
        <p:nvPicPr>
          <p:cNvPr id="51" name="Image 12" descr="/home/claude/arogya/icons/chev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86016" y="5838786"/>
            <a:ext cx="146304" cy="146304"/>
          </a:xfrm>
          <a:prstGeom prst="rect">
            <a:avLst/>
          </a:prstGeom>
        </p:spPr>
      </p:pic>
      <p:sp>
        <p:nvSpPr>
          <p:cNvPr id="52" name="Text 37"/>
          <p:cNvSpPr txBox="1"/>
          <p:nvPr/>
        </p:nvSpPr>
        <p:spPr>
          <a:xfrm>
            <a:off x="7324344" y="5646762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transparency</a:t>
            </a:r>
            <a:endParaRPr lang="en-US" sz="1150" dirty="0"/>
          </a:p>
        </p:txBody>
      </p:sp>
      <p:sp>
        <p:nvSpPr>
          <p:cNvPr id="53" name="Shape 38"/>
          <p:cNvSpPr/>
          <p:nvPr/>
        </p:nvSpPr>
        <p:spPr>
          <a:xfrm>
            <a:off x="9281160" y="5756490"/>
            <a:ext cx="310896" cy="310896"/>
          </a:xfrm>
          <a:prstGeom prst="ellipse">
            <a:avLst/>
          </a:prstGeom>
          <a:solidFill>
            <a:srgbClr val="1E3E68"/>
          </a:solidFill>
          <a:ln/>
        </p:spPr>
      </p:sp>
      <p:pic>
        <p:nvPicPr>
          <p:cNvPr id="54" name="Image 13" descr="/home/claude/arogya/icons/chev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63456" y="5838786"/>
            <a:ext cx="146304" cy="146304"/>
          </a:xfrm>
          <a:prstGeom prst="rect">
            <a:avLst/>
          </a:prstGeom>
        </p:spPr>
      </p:pic>
      <p:sp>
        <p:nvSpPr>
          <p:cNvPr id="55" name="Text 39"/>
          <p:cNvSpPr txBox="1"/>
          <p:nvPr/>
        </p:nvSpPr>
        <p:spPr>
          <a:xfrm>
            <a:off x="9701784" y="5646762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structured action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 Five Bounded Workflows.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74552" cy="4892040"/>
          </a:xfrm>
          <a:prstGeom prst="roundRect">
            <a:avLst>
              <a:gd name="adj" fmla="val 1869"/>
            </a:avLst>
          </a:prstGeom>
          <a:solidFill>
            <a:srgbClr val="ECF1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252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60" dirty="0">
                <a:solidFill>
                  <a:srgbClr val="128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AROGYARAKSHAK  ·  SPECIALIZED WORKFLOWS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7532" y="1600200"/>
            <a:ext cx="331012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B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65276" y="1837944"/>
            <a:ext cx="566928" cy="566928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7" name="Image 0" descr="/home/claude/arogya/icons/mod_billny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148" y="195681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60220" y="192587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BillNyay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065276" y="260253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my hospital bill correct?”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65276" y="3072384"/>
            <a:ext cx="2834640" cy="0"/>
          </a:xfrm>
          <a:prstGeom prst="line">
            <a:avLst/>
          </a:prstGeom>
          <a:noFill/>
          <a:ln w="12700">
            <a:solidFill>
              <a:srgbClr val="DCE4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65276" y="31455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POST-DISCHARGE BILL AUDIT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439412" y="1600200"/>
            <a:ext cx="331012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B33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77156" y="1837944"/>
            <a:ext cx="566928" cy="566928"/>
          </a:xfrm>
          <a:prstGeom prst="ellipse">
            <a:avLst/>
          </a:prstGeom>
          <a:solidFill>
            <a:srgbClr val="12867E"/>
          </a:solidFill>
          <a:ln/>
        </p:spPr>
      </p:sp>
      <p:pic>
        <p:nvPicPr>
          <p:cNvPr id="14" name="Image 1" descr="/home/claude/arogya/icons/mod_dawa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028" y="1956816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372100" y="192587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DawaCheck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4677156" y="260253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“Are my medicines fairly priced?”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677156" y="3072384"/>
            <a:ext cx="2834640" cy="0"/>
          </a:xfrm>
          <a:prstGeom prst="line">
            <a:avLst/>
          </a:prstGeom>
          <a:noFill/>
          <a:ln w="12700">
            <a:solidFill>
              <a:srgbClr val="DCE4EE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677156" y="31455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128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MEDICINE PRICE BENCHMARKING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8051292" y="1600200"/>
            <a:ext cx="331012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B33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89036" y="1837944"/>
            <a:ext cx="566928" cy="566928"/>
          </a:xfrm>
          <a:prstGeom prst="ellipse">
            <a:avLst/>
          </a:prstGeom>
          <a:solidFill>
            <a:srgbClr val="122A4D"/>
          </a:solidFill>
          <a:ln/>
        </p:spPr>
      </p:sp>
      <p:pic>
        <p:nvPicPr>
          <p:cNvPr id="21" name="Image 2" descr="/home/claude/arogya/icons/mod_schemeset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7908" y="1956816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983980" y="192587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SchemeSetu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8289036" y="260253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healthcare schemes may I be eligible for?”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8289036" y="3072384"/>
            <a:ext cx="2834640" cy="0"/>
          </a:xfrm>
          <a:prstGeom prst="line">
            <a:avLst/>
          </a:prstGeom>
          <a:noFill/>
          <a:ln w="12700">
            <a:solidFill>
              <a:srgbClr val="DCE4EE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289036" y="31455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SCHEME ELIGIBILITY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2633472" y="3749040"/>
            <a:ext cx="331012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B33">
                <a:alpha val="1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2871216" y="3986784"/>
            <a:ext cx="566928" cy="566928"/>
          </a:xfrm>
          <a:prstGeom prst="ellipse">
            <a:avLst/>
          </a:prstGeom>
          <a:solidFill>
            <a:srgbClr val="3D6A8A"/>
          </a:solidFill>
          <a:ln/>
        </p:spPr>
      </p:sp>
      <p:pic>
        <p:nvPicPr>
          <p:cNvPr id="28" name="Image 3" descr="/home/claude/arogya/icons/mod_daavise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0088" y="4105656"/>
            <a:ext cx="329184" cy="32918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3566160" y="407471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DaaviSetu</a:t>
            </a:r>
            <a:endParaRPr lang="en-US" sz="1700" dirty="0"/>
          </a:p>
        </p:txBody>
      </p:sp>
      <p:sp>
        <p:nvSpPr>
          <p:cNvPr id="30" name="Text 24"/>
          <p:cNvSpPr txBox="1"/>
          <p:nvPr/>
        </p:nvSpPr>
        <p:spPr>
          <a:xfrm>
            <a:off x="2871216" y="475137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 I prepare my insurance claim?”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2871216" y="5221224"/>
            <a:ext cx="2834640" cy="0"/>
          </a:xfrm>
          <a:prstGeom prst="line">
            <a:avLst/>
          </a:prstGeom>
          <a:noFill/>
          <a:ln w="12700">
            <a:solidFill>
              <a:srgbClr val="DCE4EE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2871216" y="52943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3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CLAIM AUTOMATION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6245352" y="3749040"/>
            <a:ext cx="331012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B33">
                <a:alpha val="16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6483096" y="3986784"/>
            <a:ext cx="566928" cy="566928"/>
          </a:xfrm>
          <a:prstGeom prst="ellipse">
            <a:avLst/>
          </a:prstGeom>
          <a:solidFill>
            <a:srgbClr val="0B4F45"/>
          </a:solidFill>
          <a:ln/>
        </p:spPr>
      </p:sp>
      <p:pic>
        <p:nvPicPr>
          <p:cNvPr id="35" name="Image 4" descr="/home/claude/arogya/icons/mod_bimany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1968" y="4105656"/>
            <a:ext cx="329184" cy="329184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7178040" y="407471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BimaNyay</a:t>
            </a:r>
            <a:endParaRPr lang="en-US" sz="1700" dirty="0"/>
          </a:p>
        </p:txBody>
      </p:sp>
      <p:sp>
        <p:nvSpPr>
          <p:cNvPr id="37" name="Text 30"/>
          <p:cNvSpPr txBox="1"/>
          <p:nvPr/>
        </p:nvSpPr>
        <p:spPr>
          <a:xfrm>
            <a:off x="6483096" y="475137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claim was denied. What can I do?”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6483096" y="5221224"/>
            <a:ext cx="2834640" cy="0"/>
          </a:xfrm>
          <a:prstGeom prst="line">
            <a:avLst/>
          </a:prstGeom>
          <a:noFill/>
          <a:ln w="12700">
            <a:solidFill>
              <a:srgbClr val="DCE4EE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6483096" y="52943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0B4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DENIAL ANALYSIS + GRIEVANCE ASSISTANCE</a:t>
            </a:r>
            <a:endParaRPr lang="en-US" sz="1000" dirty="0"/>
          </a:p>
        </p:txBody>
      </p:sp>
      <p:sp>
        <p:nvSpPr>
          <p:cNvPr id="40" name="Text 33"/>
          <p:cNvSpPr txBox="1"/>
          <p:nvPr/>
        </p:nvSpPr>
        <p:spPr>
          <a:xfrm>
            <a:off x="548640" y="61081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BOUNDARIES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1965960" y="610819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Post-discharge administrative workflows  ·  Decision-support only  ·  No diagnosis or treatment  ·  No automatic approvals  ·  No live EMR / insurer APIs initially  ·  English-only  ·  OCR depends on document quality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Discharge Documents to Action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6860" y="1298448"/>
            <a:ext cx="2145182" cy="4160520"/>
          </a:xfrm>
          <a:prstGeom prst="roundRect">
            <a:avLst>
              <a:gd name="adj" fmla="val 3836"/>
            </a:avLst>
          </a:prstGeom>
          <a:solidFill>
            <a:srgbClr val="ECF1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50012" y="1527048"/>
            <a:ext cx="1998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15111" y="1837944"/>
            <a:ext cx="868680" cy="868680"/>
          </a:xfrm>
          <a:prstGeom prst="ellipse">
            <a:avLst/>
          </a:prstGeom>
          <a:solidFill>
            <a:srgbClr val="2F6FED"/>
          </a:solidFill>
          <a:ln/>
        </p:spPr>
      </p:sp>
      <p:pic>
        <p:nvPicPr>
          <p:cNvPr id="6" name="Image 0" descr="/home/claude/arogya/icons/j_up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907" y="2037740"/>
            <a:ext cx="469087" cy="4690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50012" y="2862072"/>
            <a:ext cx="19988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kern="0" spc="60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275131" y="3246120"/>
            <a:ext cx="548640" cy="0"/>
          </a:xfrm>
          <a:prstGeom prst="line">
            <a:avLst/>
          </a:prstGeom>
          <a:noFill/>
          <a:ln w="12700">
            <a:solidFill>
              <a:srgbClr val="DCE4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1452" y="3429000"/>
            <a:ext cx="18159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400" dirty="0"/>
          </a:p>
          <a:p>
            <a:pPr marL="0" indent="0" algn="ctr">
              <a:lnSpc>
                <a:spcPct val="1550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400" dirty="0"/>
          </a:p>
          <a:p>
            <a:pPr marL="0" indent="0" algn="ctr">
              <a:lnSpc>
                <a:spcPct val="1550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400" dirty="0"/>
          </a:p>
          <a:p>
            <a:pPr marL="0" indent="0" algn="ctr">
              <a:lnSpc>
                <a:spcPct val="1550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ABHA / ABDM*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585466" y="2272284"/>
            <a:ext cx="201168" cy="0"/>
          </a:xfrm>
          <a:prstGeom prst="line">
            <a:avLst/>
          </a:prstGeom>
          <a:noFill/>
          <a:ln w="19050">
            <a:solidFill>
              <a:srgbClr val="B9C7D6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750058" y="1298448"/>
            <a:ext cx="2145182" cy="4160520"/>
          </a:xfrm>
          <a:prstGeom prst="roundRect">
            <a:avLst>
              <a:gd name="adj" fmla="val 3836"/>
            </a:avLst>
          </a:prstGeom>
          <a:solidFill>
            <a:srgbClr val="ECF1F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823210" y="1527048"/>
            <a:ext cx="1998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128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388309" y="1837944"/>
            <a:ext cx="868680" cy="868680"/>
          </a:xfrm>
          <a:prstGeom prst="ellipse">
            <a:avLst/>
          </a:prstGeom>
          <a:solidFill>
            <a:srgbClr val="12867E"/>
          </a:solidFill>
          <a:ln/>
        </p:spPr>
      </p:sp>
      <p:pic>
        <p:nvPicPr>
          <p:cNvPr id="14" name="Image 1" descr="/home/claude/arogya/icons/j_underst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8106" y="2037740"/>
            <a:ext cx="469087" cy="46908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823210" y="2862072"/>
            <a:ext cx="19988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kern="0" spc="60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3548329" y="3246120"/>
            <a:ext cx="548640" cy="0"/>
          </a:xfrm>
          <a:prstGeom prst="line">
            <a:avLst/>
          </a:prstGeom>
          <a:noFill/>
          <a:ln w="12700">
            <a:solidFill>
              <a:srgbClr val="DCE4E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2914650" y="3447288"/>
            <a:ext cx="181599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4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4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858664" y="2272284"/>
            <a:ext cx="201168" cy="0"/>
          </a:xfrm>
          <a:prstGeom prst="line">
            <a:avLst/>
          </a:prstGeom>
          <a:noFill/>
          <a:ln w="19050">
            <a:solidFill>
              <a:srgbClr val="B9C7D6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5023256" y="1298448"/>
            <a:ext cx="2145182" cy="4160520"/>
          </a:xfrm>
          <a:prstGeom prst="roundRect">
            <a:avLst>
              <a:gd name="adj" fmla="val 3836"/>
            </a:avLst>
          </a:prstGeom>
          <a:solidFill>
            <a:srgbClr val="ECF1F6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5096408" y="1527048"/>
            <a:ext cx="1998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661508" y="1837944"/>
            <a:ext cx="868680" cy="868680"/>
          </a:xfrm>
          <a:prstGeom prst="ellipse">
            <a:avLst/>
          </a:prstGeom>
          <a:solidFill>
            <a:srgbClr val="122A4D"/>
          </a:solidFill>
          <a:ln/>
        </p:spPr>
      </p:sp>
      <p:pic>
        <p:nvPicPr>
          <p:cNvPr id="22" name="Image 2" descr="/home/claude/arogya/icons/j_sto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1304" y="2037740"/>
            <a:ext cx="469087" cy="469087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096408" y="2862072"/>
            <a:ext cx="19988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kern="0" spc="60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5821528" y="3246120"/>
            <a:ext cx="548640" cy="0"/>
          </a:xfrm>
          <a:prstGeom prst="line">
            <a:avLst/>
          </a:prstGeom>
          <a:noFill/>
          <a:ln w="12700">
            <a:solidFill>
              <a:srgbClr val="DCE4EE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233568" y="3410712"/>
            <a:ext cx="1724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ArogyaVault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5279288" y="3758184"/>
            <a:ext cx="16331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healthcare document vault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7131863" y="2272284"/>
            <a:ext cx="201168" cy="0"/>
          </a:xfrm>
          <a:prstGeom prst="line">
            <a:avLst/>
          </a:prstGeom>
          <a:noFill/>
          <a:ln w="19050">
            <a:solidFill>
              <a:srgbClr val="B9C7D6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7296455" y="1298448"/>
            <a:ext cx="2145182" cy="4160520"/>
          </a:xfrm>
          <a:prstGeom prst="roundRect">
            <a:avLst>
              <a:gd name="adj" fmla="val 3836"/>
            </a:avLst>
          </a:prstGeom>
          <a:solidFill>
            <a:srgbClr val="ECF1F6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369607" y="1527048"/>
            <a:ext cx="1998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3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7934706" y="1837944"/>
            <a:ext cx="868680" cy="868680"/>
          </a:xfrm>
          <a:prstGeom prst="ellipse">
            <a:avLst/>
          </a:prstGeom>
          <a:solidFill>
            <a:srgbClr val="3D6A8A"/>
          </a:solidFill>
          <a:ln/>
        </p:spPr>
      </p:sp>
      <p:pic>
        <p:nvPicPr>
          <p:cNvPr id="31" name="Image 3" descr="/home/claude/arogya/icons/j_assi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4502" y="2037740"/>
            <a:ext cx="469087" cy="469087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7369607" y="2862072"/>
            <a:ext cx="19988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kern="0" spc="60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</a:t>
            </a:r>
            <a:endParaRPr lang="en-US" sz="1500" dirty="0"/>
          </a:p>
        </p:txBody>
      </p:sp>
      <p:sp>
        <p:nvSpPr>
          <p:cNvPr id="33" name="Shape 27"/>
          <p:cNvSpPr/>
          <p:nvPr/>
        </p:nvSpPr>
        <p:spPr>
          <a:xfrm>
            <a:off x="8094726" y="3246120"/>
            <a:ext cx="548640" cy="0"/>
          </a:xfrm>
          <a:prstGeom prst="line">
            <a:avLst/>
          </a:prstGeom>
          <a:noFill/>
          <a:ln w="12700">
            <a:solidFill>
              <a:srgbClr val="DCE4EE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7506767" y="3410712"/>
            <a:ext cx="1724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6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KADI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7552487" y="3758184"/>
            <a:ext cx="16331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context + workflow routing</a:t>
            </a:r>
            <a:endParaRPr lang="en-US" sz="1400" dirty="0"/>
          </a:p>
        </p:txBody>
      </p:sp>
      <p:sp>
        <p:nvSpPr>
          <p:cNvPr id="36" name="Shape 30"/>
          <p:cNvSpPr/>
          <p:nvPr/>
        </p:nvSpPr>
        <p:spPr>
          <a:xfrm>
            <a:off x="9405061" y="2272284"/>
            <a:ext cx="201168" cy="0"/>
          </a:xfrm>
          <a:prstGeom prst="line">
            <a:avLst/>
          </a:prstGeom>
          <a:noFill/>
          <a:ln w="19050">
            <a:solidFill>
              <a:srgbClr val="B9C7D6"/>
            </a:solidFill>
            <a:prstDash val="solid"/>
            <a:tailEnd type="triangle"/>
          </a:ln>
        </p:spPr>
      </p:sp>
      <p:sp>
        <p:nvSpPr>
          <p:cNvPr id="37" name="Shape 31"/>
          <p:cNvSpPr/>
          <p:nvPr/>
        </p:nvSpPr>
        <p:spPr>
          <a:xfrm>
            <a:off x="9569653" y="1298448"/>
            <a:ext cx="2145182" cy="4160520"/>
          </a:xfrm>
          <a:prstGeom prst="roundRect">
            <a:avLst>
              <a:gd name="adj" fmla="val 3836"/>
            </a:avLst>
          </a:prstGeom>
          <a:solidFill>
            <a:srgbClr val="ECF1F6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9642805" y="1527048"/>
            <a:ext cx="1998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0B4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9" name="Shape 33"/>
          <p:cNvSpPr/>
          <p:nvPr/>
        </p:nvSpPr>
        <p:spPr>
          <a:xfrm>
            <a:off x="10207904" y="1837944"/>
            <a:ext cx="868680" cy="868680"/>
          </a:xfrm>
          <a:prstGeom prst="ellipse">
            <a:avLst/>
          </a:prstGeom>
          <a:solidFill>
            <a:srgbClr val="0B4F45"/>
          </a:solidFill>
          <a:ln/>
        </p:spPr>
      </p:sp>
      <p:pic>
        <p:nvPicPr>
          <p:cNvPr id="40" name="Image 4" descr="/home/claude/arogya/icons/j_ac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7701" y="2037740"/>
            <a:ext cx="469087" cy="469087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9642805" y="2862072"/>
            <a:ext cx="19988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kern="0" spc="60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500" dirty="0"/>
          </a:p>
        </p:txBody>
      </p:sp>
      <p:sp>
        <p:nvSpPr>
          <p:cNvPr id="42" name="Shape 35"/>
          <p:cNvSpPr/>
          <p:nvPr/>
        </p:nvSpPr>
        <p:spPr>
          <a:xfrm>
            <a:off x="10367924" y="3246120"/>
            <a:ext cx="548640" cy="0"/>
          </a:xfrm>
          <a:prstGeom prst="line">
            <a:avLst/>
          </a:prstGeom>
          <a:noFill/>
          <a:ln w="12700">
            <a:solidFill>
              <a:srgbClr val="DCE4EE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9734245" y="3429000"/>
            <a:ext cx="18159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400" dirty="0"/>
          </a:p>
          <a:p>
            <a:pPr marL="0" indent="0" algn="ctr">
              <a:lnSpc>
                <a:spcPct val="1550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400" dirty="0"/>
          </a:p>
          <a:p>
            <a:pPr marL="0" indent="0" algn="ctr">
              <a:lnSpc>
                <a:spcPct val="1550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eligibility</a:t>
            </a:r>
            <a:endParaRPr lang="en-US" sz="1400" dirty="0"/>
          </a:p>
          <a:p>
            <a:pPr marL="0" indent="0" algn="ctr">
              <a:lnSpc>
                <a:spcPct val="1550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claim</a:t>
            </a:r>
            <a:endParaRPr lang="en-US" sz="1400" dirty="0"/>
          </a:p>
          <a:p>
            <a:pPr marL="0" indent="0" algn="ctr">
              <a:lnSpc>
                <a:spcPct val="1550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denial</a:t>
            </a:r>
            <a:endParaRPr lang="en-US" sz="1400" dirty="0"/>
          </a:p>
        </p:txBody>
      </p:sp>
      <p:sp>
        <p:nvSpPr>
          <p:cNvPr id="44" name="Text 37"/>
          <p:cNvSpPr txBox="1"/>
          <p:nvPr/>
        </p:nvSpPr>
        <p:spPr>
          <a:xfrm>
            <a:off x="550012" y="5166360"/>
            <a:ext cx="19988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9AAA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where supported</a:t>
            </a:r>
            <a:endParaRPr lang="en-US" sz="850" dirty="0"/>
          </a:p>
        </p:txBody>
      </p:sp>
      <p:sp>
        <p:nvSpPr>
          <p:cNvPr id="45" name="Shape 38"/>
          <p:cNvSpPr/>
          <p:nvPr/>
        </p:nvSpPr>
        <p:spPr>
          <a:xfrm>
            <a:off x="548640" y="5806440"/>
            <a:ext cx="11091672" cy="749808"/>
          </a:xfrm>
          <a:prstGeom prst="roundRect">
            <a:avLst>
              <a:gd name="adj" fmla="val 10976"/>
            </a:avLst>
          </a:prstGeom>
          <a:solidFill>
            <a:srgbClr val="122A4D"/>
          </a:solidFill>
          <a:ln/>
        </p:spPr>
      </p:sp>
      <p:sp>
        <p:nvSpPr>
          <p:cNvPr id="46" name="Shape 39"/>
          <p:cNvSpPr/>
          <p:nvPr/>
        </p:nvSpPr>
        <p:spPr>
          <a:xfrm>
            <a:off x="1889608" y="5952744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E3E68"/>
          </a:solidFill>
          <a:ln/>
        </p:spPr>
      </p:sp>
      <p:sp>
        <p:nvSpPr>
          <p:cNvPr id="47" name="Text 40"/>
          <p:cNvSpPr txBox="1"/>
          <p:nvPr/>
        </p:nvSpPr>
        <p:spPr>
          <a:xfrm>
            <a:off x="1889608" y="59527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ONCE</a:t>
            </a:r>
            <a:endParaRPr lang="en-US" sz="1250" dirty="0"/>
          </a:p>
        </p:txBody>
      </p:sp>
      <p:sp>
        <p:nvSpPr>
          <p:cNvPr id="48" name="Shape 41"/>
          <p:cNvSpPr/>
          <p:nvPr/>
        </p:nvSpPr>
        <p:spPr>
          <a:xfrm>
            <a:off x="4230472" y="6181344"/>
            <a:ext cx="667512" cy="0"/>
          </a:xfrm>
          <a:prstGeom prst="line">
            <a:avLst/>
          </a:prstGeom>
          <a:noFill/>
          <a:ln w="19050">
            <a:solidFill>
              <a:srgbClr val="12867E"/>
            </a:solidFill>
            <a:prstDash val="solid"/>
            <a:tailEnd type="triangle"/>
          </a:ln>
        </p:spPr>
      </p:sp>
      <p:sp>
        <p:nvSpPr>
          <p:cNvPr id="49" name="Shape 42"/>
          <p:cNvSpPr/>
          <p:nvPr/>
        </p:nvSpPr>
        <p:spPr>
          <a:xfrm>
            <a:off x="4952848" y="5952744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E3E68"/>
          </a:solidFill>
          <a:ln/>
        </p:spPr>
      </p:sp>
      <p:sp>
        <p:nvSpPr>
          <p:cNvPr id="50" name="Text 43"/>
          <p:cNvSpPr txBox="1"/>
          <p:nvPr/>
        </p:nvSpPr>
        <p:spPr>
          <a:xfrm>
            <a:off x="4952848" y="59527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CONTEXT</a:t>
            </a:r>
            <a:endParaRPr lang="en-US" sz="1250" dirty="0"/>
          </a:p>
        </p:txBody>
      </p:sp>
      <p:sp>
        <p:nvSpPr>
          <p:cNvPr id="51" name="Shape 44"/>
          <p:cNvSpPr/>
          <p:nvPr/>
        </p:nvSpPr>
        <p:spPr>
          <a:xfrm>
            <a:off x="7293712" y="6181344"/>
            <a:ext cx="667512" cy="0"/>
          </a:xfrm>
          <a:prstGeom prst="line">
            <a:avLst/>
          </a:prstGeom>
          <a:noFill/>
          <a:ln w="19050">
            <a:solidFill>
              <a:srgbClr val="12867E"/>
            </a:solidFill>
            <a:prstDash val="solid"/>
            <a:tailEnd type="triangle"/>
          </a:ln>
        </p:spPr>
      </p:sp>
      <p:sp>
        <p:nvSpPr>
          <p:cNvPr id="52" name="Shape 45"/>
          <p:cNvSpPr/>
          <p:nvPr/>
        </p:nvSpPr>
        <p:spPr>
          <a:xfrm>
            <a:off x="8016088" y="5952744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2867E"/>
          </a:solidFill>
          <a:ln/>
        </p:spPr>
      </p:sp>
      <p:sp>
        <p:nvSpPr>
          <p:cNvPr id="53" name="Text 46"/>
          <p:cNvSpPr txBox="1"/>
          <p:nvPr/>
        </p:nvSpPr>
        <p:spPr>
          <a:xfrm>
            <a:off x="8016088" y="59527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ACTION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 Architecture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0" y="927067"/>
            <a:ext cx="12191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kern="0" spc="160" dirty="0">
                <a:solidFill>
                  <a:srgbClr val="6F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USER INTERFACES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212184" y="1183099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17325A"/>
          </a:solidFill>
          <a:ln/>
        </p:spPr>
      </p:sp>
      <p:pic>
        <p:nvPicPr>
          <p:cNvPr id="5" name="Image 0" descr="/home/claude/arogya/icons/a_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1912" y="1256251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651096" y="1183099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242152" y="1183099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17325A"/>
          </a:solidFill>
          <a:ln/>
        </p:spPr>
      </p:sp>
      <p:pic>
        <p:nvPicPr>
          <p:cNvPr id="8" name="Image 1" descr="/home/claude/arogya/icons/a_we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880" y="1256251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681064" y="1183099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095848" y="1603723"/>
            <a:ext cx="0" cy="128016"/>
          </a:xfrm>
          <a:prstGeom prst="line">
            <a:avLst/>
          </a:prstGeom>
          <a:noFill/>
          <a:ln w="15875">
            <a:solidFill>
              <a:srgbClr val="3A5578"/>
            </a:solidFill>
            <a:prstDash val="solid"/>
            <a:tailEnd type="triangle"/>
          </a:ln>
        </p:spPr>
      </p:sp>
      <p:sp>
        <p:nvSpPr>
          <p:cNvPr id="11" name="Text 7"/>
          <p:cNvSpPr txBox="1"/>
          <p:nvPr/>
        </p:nvSpPr>
        <p:spPr>
          <a:xfrm>
            <a:off x="0" y="1750027"/>
            <a:ext cx="12191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kern="0" spc="160" dirty="0">
                <a:solidFill>
                  <a:srgbClr val="6F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AROGYAVAULT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947008" y="1987771"/>
            <a:ext cx="4297680" cy="402336"/>
          </a:xfrm>
          <a:prstGeom prst="roundRect">
            <a:avLst>
              <a:gd name="adj" fmla="val 50000"/>
            </a:avLst>
          </a:prstGeom>
          <a:solidFill>
            <a:srgbClr val="17325A"/>
          </a:solidFill>
          <a:ln/>
        </p:spPr>
      </p:sp>
      <p:pic>
        <p:nvPicPr>
          <p:cNvPr id="13" name="Image 2" descr="/home/claude/arogya/icons/a_vau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6736" y="2060923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404208" y="1987771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Healthcare Document Vault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095848" y="2408395"/>
            <a:ext cx="0" cy="128016"/>
          </a:xfrm>
          <a:prstGeom prst="line">
            <a:avLst/>
          </a:prstGeom>
          <a:noFill/>
          <a:ln w="15875">
            <a:solidFill>
              <a:srgbClr val="3A5578"/>
            </a:solidFill>
            <a:prstDash val="solid"/>
            <a:tailEnd type="triangle"/>
          </a:ln>
        </p:spPr>
      </p:sp>
      <p:sp>
        <p:nvSpPr>
          <p:cNvPr id="16" name="Text 11"/>
          <p:cNvSpPr txBox="1"/>
          <p:nvPr/>
        </p:nvSpPr>
        <p:spPr>
          <a:xfrm>
            <a:off x="0" y="2554699"/>
            <a:ext cx="12191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kern="0" spc="160" dirty="0">
                <a:solidFill>
                  <a:srgbClr val="6F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DOCUMENT + AI PROCESSING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2804008" y="2792443"/>
            <a:ext cx="1481328" cy="566928"/>
          </a:xfrm>
          <a:prstGeom prst="roundRect">
            <a:avLst>
              <a:gd name="adj" fmla="val 14516"/>
            </a:avLst>
          </a:prstGeom>
          <a:solidFill>
            <a:srgbClr val="17325A"/>
          </a:solidFill>
          <a:ln/>
        </p:spPr>
      </p:sp>
      <p:pic>
        <p:nvPicPr>
          <p:cNvPr id="18" name="Image 3" descr="/home/claude/arogya/icons/a_oc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2880" y="2957035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224632" y="2792443"/>
            <a:ext cx="978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A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504792" y="2792443"/>
            <a:ext cx="1481328" cy="566928"/>
          </a:xfrm>
          <a:prstGeom prst="roundRect">
            <a:avLst>
              <a:gd name="adj" fmla="val 14516"/>
            </a:avLst>
          </a:prstGeom>
          <a:solidFill>
            <a:srgbClr val="17325A"/>
          </a:solidFill>
          <a:ln/>
        </p:spPr>
      </p:sp>
      <p:pic>
        <p:nvPicPr>
          <p:cNvPr id="21" name="Image 4" descr="/home/claude/arogya/icons/a_extrac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3664" y="2957035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925416" y="2792443"/>
            <a:ext cx="978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A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Extraction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6205576" y="2792443"/>
            <a:ext cx="1481328" cy="566928"/>
          </a:xfrm>
          <a:prstGeom prst="roundRect">
            <a:avLst>
              <a:gd name="adj" fmla="val 14516"/>
            </a:avLst>
          </a:prstGeom>
          <a:solidFill>
            <a:srgbClr val="17325A"/>
          </a:solidFill>
          <a:ln/>
        </p:spPr>
      </p:sp>
      <p:pic>
        <p:nvPicPr>
          <p:cNvPr id="24" name="Image 5" descr="/home/claude/arogya/icons/a_a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448" y="2957035"/>
            <a:ext cx="237744" cy="237744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626200" y="2792443"/>
            <a:ext cx="978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A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</a:t>
            </a:r>
            <a:endParaRPr lang="en-US" sz="950" dirty="0"/>
          </a:p>
        </p:txBody>
      </p:sp>
      <p:sp>
        <p:nvSpPr>
          <p:cNvPr id="26" name="Shape 18"/>
          <p:cNvSpPr/>
          <p:nvPr/>
        </p:nvSpPr>
        <p:spPr>
          <a:xfrm>
            <a:off x="7906360" y="2792443"/>
            <a:ext cx="1481328" cy="566928"/>
          </a:xfrm>
          <a:prstGeom prst="roundRect">
            <a:avLst>
              <a:gd name="adj" fmla="val 14516"/>
            </a:avLst>
          </a:prstGeom>
          <a:solidFill>
            <a:srgbClr val="17325A"/>
          </a:solidFill>
          <a:ln/>
        </p:spPr>
      </p:sp>
      <p:pic>
        <p:nvPicPr>
          <p:cNvPr id="27" name="Image 6" descr="/home/claude/arogya/icons/a_rule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25232" y="2957035"/>
            <a:ext cx="237744" cy="237744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326984" y="2792443"/>
            <a:ext cx="978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A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Validation</a:t>
            </a:r>
            <a:endParaRPr lang="en-US" sz="950" dirty="0"/>
          </a:p>
        </p:txBody>
      </p:sp>
      <p:sp>
        <p:nvSpPr>
          <p:cNvPr id="29" name="Shape 20"/>
          <p:cNvSpPr/>
          <p:nvPr/>
        </p:nvSpPr>
        <p:spPr>
          <a:xfrm>
            <a:off x="3544672" y="3359371"/>
            <a:ext cx="2551176" cy="301752"/>
          </a:xfrm>
          <a:prstGeom prst="line">
            <a:avLst/>
          </a:prstGeom>
          <a:noFill/>
          <a:ln w="12700">
            <a:solidFill>
              <a:srgbClr val="294A75"/>
            </a:solidFill>
            <a:prstDash val="solid"/>
          </a:ln>
        </p:spPr>
      </p:sp>
      <p:sp>
        <p:nvSpPr>
          <p:cNvPr id="30" name="Shape 21"/>
          <p:cNvSpPr/>
          <p:nvPr/>
        </p:nvSpPr>
        <p:spPr>
          <a:xfrm>
            <a:off x="5245456" y="3359371"/>
            <a:ext cx="850392" cy="301752"/>
          </a:xfrm>
          <a:prstGeom prst="line">
            <a:avLst/>
          </a:prstGeom>
          <a:noFill/>
          <a:ln w="12700">
            <a:solidFill>
              <a:srgbClr val="294A75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 flipV="1">
            <a:off x="6095848" y="3359371"/>
            <a:ext cx="850392" cy="301752"/>
          </a:xfrm>
          <a:prstGeom prst="line">
            <a:avLst/>
          </a:prstGeom>
          <a:noFill/>
          <a:ln w="12700">
            <a:solidFill>
              <a:srgbClr val="294A75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 flipV="1">
            <a:off x="6095848" y="3359371"/>
            <a:ext cx="2551176" cy="301752"/>
          </a:xfrm>
          <a:prstGeom prst="line">
            <a:avLst/>
          </a:prstGeom>
          <a:noFill/>
          <a:ln w="12700">
            <a:solidFill>
              <a:srgbClr val="294A75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5419192" y="3578827"/>
            <a:ext cx="1353312" cy="1353312"/>
          </a:xfrm>
          <a:prstGeom prst="ellipse">
            <a:avLst/>
          </a:prstGeom>
          <a:ln w="19050">
            <a:solidFill>
              <a:srgbClr val="1E8177"/>
            </a:solidFill>
            <a:prstDash val="solid"/>
          </a:ln>
        </p:spPr>
      </p:sp>
      <p:pic>
        <p:nvPicPr>
          <p:cNvPr id="34" name="Image 7" descr="/home/claude/arogya/icons/a_kadi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01488" y="3661123"/>
            <a:ext cx="1188720" cy="118872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7010248" y="3706843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KADI</a:t>
            </a:r>
            <a:endParaRPr lang="en-US" sz="1800" dirty="0"/>
          </a:p>
        </p:txBody>
      </p:sp>
      <p:sp>
        <p:nvSpPr>
          <p:cNvPr id="36" name="Text 26"/>
          <p:cNvSpPr txBox="1"/>
          <p:nvPr/>
        </p:nvSpPr>
        <p:spPr>
          <a:xfrm>
            <a:off x="7010248" y="4063459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A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Knowledge-Aware Decision Intelligence</a:t>
            </a:r>
            <a:endParaRPr lang="en-US" sz="1050" dirty="0"/>
          </a:p>
        </p:txBody>
      </p:sp>
      <p:sp>
        <p:nvSpPr>
          <p:cNvPr id="37" name="Text 27"/>
          <p:cNvSpPr txBox="1"/>
          <p:nvPr/>
        </p:nvSpPr>
        <p:spPr>
          <a:xfrm>
            <a:off x="7010248" y="4356067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6C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Context  ·  Entity Normalization  ·  Workflow Routing</a:t>
            </a:r>
            <a:endParaRPr lang="en-US" sz="950" dirty="0"/>
          </a:p>
        </p:txBody>
      </p:sp>
      <p:sp>
        <p:nvSpPr>
          <p:cNvPr id="38" name="Text 28"/>
          <p:cNvSpPr txBox="1"/>
          <p:nvPr/>
        </p:nvSpPr>
        <p:spPr>
          <a:xfrm>
            <a:off x="7010248" y="4721827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50" dirty="0">
                <a:solidFill>
                  <a:srgbClr val="6F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KADI = SHARED SOURCE OF TRUTH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 flipV="1">
            <a:off x="2163928" y="4849843"/>
            <a:ext cx="3931920" cy="274320"/>
          </a:xfrm>
          <a:prstGeom prst="line">
            <a:avLst/>
          </a:prstGeom>
          <a:noFill/>
          <a:ln w="15875">
            <a:solidFill>
              <a:srgbClr val="1E8177"/>
            </a:solidFill>
            <a:prstDash val="solid"/>
          </a:ln>
        </p:spPr>
      </p:sp>
      <p:sp>
        <p:nvSpPr>
          <p:cNvPr id="40" name="Shape 30"/>
          <p:cNvSpPr/>
          <p:nvPr/>
        </p:nvSpPr>
        <p:spPr>
          <a:xfrm flipV="1">
            <a:off x="4129888" y="4849843"/>
            <a:ext cx="1965960" cy="274320"/>
          </a:xfrm>
          <a:prstGeom prst="line">
            <a:avLst/>
          </a:prstGeom>
          <a:noFill/>
          <a:ln w="15875">
            <a:solidFill>
              <a:srgbClr val="1E8177"/>
            </a:solidFill>
            <a:prstDash val="solid"/>
          </a:ln>
        </p:spPr>
      </p:sp>
      <p:sp>
        <p:nvSpPr>
          <p:cNvPr id="41" name="Shape 31"/>
          <p:cNvSpPr/>
          <p:nvPr/>
        </p:nvSpPr>
        <p:spPr>
          <a:xfrm flipV="1">
            <a:off x="6095848" y="4849843"/>
            <a:ext cx="0" cy="274320"/>
          </a:xfrm>
          <a:prstGeom prst="line">
            <a:avLst/>
          </a:prstGeom>
          <a:noFill/>
          <a:ln w="15875">
            <a:solidFill>
              <a:srgbClr val="1E8177"/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6095848" y="4849843"/>
            <a:ext cx="1965960" cy="274320"/>
          </a:xfrm>
          <a:prstGeom prst="line">
            <a:avLst/>
          </a:prstGeom>
          <a:noFill/>
          <a:ln w="15875">
            <a:solidFill>
              <a:srgbClr val="1E8177"/>
            </a:solidFill>
            <a:prstDash val="solid"/>
          </a:ln>
        </p:spPr>
      </p:sp>
      <p:sp>
        <p:nvSpPr>
          <p:cNvPr id="43" name="Shape 33"/>
          <p:cNvSpPr/>
          <p:nvPr/>
        </p:nvSpPr>
        <p:spPr>
          <a:xfrm>
            <a:off x="6095848" y="4849843"/>
            <a:ext cx="3931920" cy="274320"/>
          </a:xfrm>
          <a:prstGeom prst="line">
            <a:avLst/>
          </a:prstGeom>
          <a:noFill/>
          <a:ln w="15875">
            <a:solidFill>
              <a:srgbClr val="1E8177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1272388" y="5124163"/>
            <a:ext cx="178308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45" name="Image 8" descr="/home/claude/arogya/icons/mod_billnya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54684" y="5206459"/>
            <a:ext cx="256032" cy="256032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1656436" y="5124163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BillNyay</a:t>
            </a:r>
            <a:endParaRPr lang="en-US" sz="1050" dirty="0"/>
          </a:p>
        </p:txBody>
      </p:sp>
      <p:sp>
        <p:nvSpPr>
          <p:cNvPr id="47" name="Shape 36"/>
          <p:cNvSpPr/>
          <p:nvPr/>
        </p:nvSpPr>
        <p:spPr>
          <a:xfrm>
            <a:off x="3238348" y="5124163"/>
            <a:ext cx="178308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48" name="Image 9" descr="/home/claude/arogya/icons/mod_dawacheck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20644" y="5206459"/>
            <a:ext cx="256032" cy="256032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3622396" y="5124163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DawaCheck</a:t>
            </a:r>
            <a:endParaRPr lang="en-US" sz="1050" dirty="0"/>
          </a:p>
        </p:txBody>
      </p:sp>
      <p:sp>
        <p:nvSpPr>
          <p:cNvPr id="50" name="Shape 38"/>
          <p:cNvSpPr/>
          <p:nvPr/>
        </p:nvSpPr>
        <p:spPr>
          <a:xfrm>
            <a:off x="5204308" y="5124163"/>
            <a:ext cx="178308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51" name="Image 10" descr="/home/claude/arogya/icons/mod_schemesetu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86604" y="5206459"/>
            <a:ext cx="256032" cy="256032"/>
          </a:xfrm>
          <a:prstGeom prst="rect">
            <a:avLst/>
          </a:prstGeom>
        </p:spPr>
      </p:pic>
      <p:sp>
        <p:nvSpPr>
          <p:cNvPr id="52" name="Text 39"/>
          <p:cNvSpPr txBox="1"/>
          <p:nvPr/>
        </p:nvSpPr>
        <p:spPr>
          <a:xfrm>
            <a:off x="5588356" y="5124163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SchemeSetu</a:t>
            </a:r>
            <a:endParaRPr lang="en-US" sz="1050" dirty="0"/>
          </a:p>
        </p:txBody>
      </p:sp>
      <p:sp>
        <p:nvSpPr>
          <p:cNvPr id="53" name="Shape 40"/>
          <p:cNvSpPr/>
          <p:nvPr/>
        </p:nvSpPr>
        <p:spPr>
          <a:xfrm>
            <a:off x="7170268" y="5124163"/>
            <a:ext cx="178308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54" name="Image 11" descr="/home/claude/arogya/icons/mod_daavisetu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52564" y="5206459"/>
            <a:ext cx="256032" cy="256032"/>
          </a:xfrm>
          <a:prstGeom prst="rect">
            <a:avLst/>
          </a:prstGeom>
        </p:spPr>
      </p:pic>
      <p:sp>
        <p:nvSpPr>
          <p:cNvPr id="55" name="Text 41"/>
          <p:cNvSpPr txBox="1"/>
          <p:nvPr/>
        </p:nvSpPr>
        <p:spPr>
          <a:xfrm>
            <a:off x="7554316" y="5124163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DaaviSetu</a:t>
            </a:r>
            <a:endParaRPr lang="en-US" sz="1050" dirty="0"/>
          </a:p>
        </p:txBody>
      </p:sp>
      <p:sp>
        <p:nvSpPr>
          <p:cNvPr id="56" name="Shape 42"/>
          <p:cNvSpPr/>
          <p:nvPr/>
        </p:nvSpPr>
        <p:spPr>
          <a:xfrm>
            <a:off x="9136228" y="5124163"/>
            <a:ext cx="178308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pic>
        <p:nvPicPr>
          <p:cNvPr id="57" name="Image 12" descr="/home/claude/arogya/icons/mod_bimanyay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18524" y="5206459"/>
            <a:ext cx="256032" cy="256032"/>
          </a:xfrm>
          <a:prstGeom prst="rect">
            <a:avLst/>
          </a:prstGeom>
        </p:spPr>
      </p:pic>
      <p:sp>
        <p:nvSpPr>
          <p:cNvPr id="58" name="Text 43"/>
          <p:cNvSpPr txBox="1"/>
          <p:nvPr/>
        </p:nvSpPr>
        <p:spPr>
          <a:xfrm>
            <a:off x="9520276" y="5124163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BimaNyay</a:t>
            </a:r>
            <a:endParaRPr lang="en-US" sz="1050" dirty="0"/>
          </a:p>
        </p:txBody>
      </p:sp>
      <p:sp>
        <p:nvSpPr>
          <p:cNvPr id="59" name="Text 44"/>
          <p:cNvSpPr txBox="1"/>
          <p:nvPr/>
        </p:nvSpPr>
        <p:spPr>
          <a:xfrm>
            <a:off x="2438248" y="5654515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remain decoupled — no direct connections between workflows.</a:t>
            </a:r>
            <a:endParaRPr lang="en-US" sz="1000" dirty="0"/>
          </a:p>
        </p:txBody>
      </p:sp>
      <p:sp>
        <p:nvSpPr>
          <p:cNvPr id="60" name="Text 45"/>
          <p:cNvSpPr txBox="1"/>
          <p:nvPr/>
        </p:nvSpPr>
        <p:spPr>
          <a:xfrm>
            <a:off x="0" y="6001987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6F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OUTPUTS</a:t>
            </a:r>
            <a:endParaRPr lang="en-US" sz="950" dirty="0"/>
          </a:p>
        </p:txBody>
      </p:sp>
      <p:sp>
        <p:nvSpPr>
          <p:cNvPr id="61" name="Text 46"/>
          <p:cNvSpPr txBox="1"/>
          <p:nvPr/>
        </p:nvSpPr>
        <p:spPr>
          <a:xfrm>
            <a:off x="0" y="6239731"/>
            <a:ext cx="12191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Reports  ·  Price Reports  ·  Eligibility Results  ·  Claim Packages  ·  Grievance Reports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Around the Patient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77240" y="1188720"/>
            <a:ext cx="2697480" cy="4892040"/>
          </a:xfrm>
          <a:prstGeom prst="roundRect">
            <a:avLst>
              <a:gd name="adj" fmla="val 7458"/>
            </a:avLst>
          </a:prstGeom>
          <a:solidFill>
            <a:srgbClr val="122A4D"/>
          </a:solidFill>
          <a:ln/>
          <a:effectLst>
            <a:outerShdw blurRad="88900" dist="25400" dir="5400000" algn="bl" rotWithShape="0">
              <a:srgbClr val="0B1B33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86968" y="1298448"/>
            <a:ext cx="2478024" cy="4672584"/>
          </a:xfrm>
          <a:prstGeom prst="roundRect">
            <a:avLst>
              <a:gd name="adj" fmla="val 4428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805940" y="1234440"/>
            <a:ext cx="640080" cy="109728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69848" y="1499616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ArogyaRakshak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1746504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morning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9848" y="2066544"/>
            <a:ext cx="643128" cy="566928"/>
          </a:xfrm>
          <a:prstGeom prst="roundRect">
            <a:avLst>
              <a:gd name="adj" fmla="val 14516"/>
            </a:avLst>
          </a:prstGeom>
          <a:solidFill>
            <a:srgbClr val="ECF1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69848" y="2121408"/>
            <a:ext cx="64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28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404872"/>
            <a:ext cx="588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04416" y="2066544"/>
            <a:ext cx="643128" cy="566928"/>
          </a:xfrm>
          <a:prstGeom prst="roundRect">
            <a:avLst>
              <a:gd name="adj" fmla="val 14516"/>
            </a:avLst>
          </a:prstGeom>
          <a:solidFill>
            <a:srgbClr val="ECF1F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804416" y="2121408"/>
            <a:ext cx="64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28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1831848" y="2404872"/>
            <a:ext cx="588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38984" y="2066544"/>
            <a:ext cx="643128" cy="566928"/>
          </a:xfrm>
          <a:prstGeom prst="roundRect">
            <a:avLst>
              <a:gd name="adj" fmla="val 14516"/>
            </a:avLst>
          </a:prstGeom>
          <a:solidFill>
            <a:srgbClr val="ECF1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538984" y="2121408"/>
            <a:ext cx="643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28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2566416" y="2404872"/>
            <a:ext cx="588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Policy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69848" y="2816352"/>
            <a:ext cx="2112264" cy="384048"/>
          </a:xfrm>
          <a:prstGeom prst="roundRect">
            <a:avLst>
              <a:gd name="adj" fmla="val 50000"/>
            </a:avLst>
          </a:prstGeom>
          <a:solidFill>
            <a:srgbClr val="12867E"/>
          </a:solidFill>
          <a:ln/>
        </p:spPr>
      </p:sp>
      <p:pic>
        <p:nvPicPr>
          <p:cNvPr id="18" name="Image 0" descr="/home/claude/arogya/icons/mock_sc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2907792"/>
            <a:ext cx="201168" cy="201168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481328" y="2816352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Document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069848" y="3419856"/>
            <a:ext cx="2112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8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ACTIVITY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069848" y="3712464"/>
            <a:ext cx="2112264" cy="621792"/>
          </a:xfrm>
          <a:prstGeom prst="roundRect">
            <a:avLst>
              <a:gd name="adj" fmla="val 13235"/>
            </a:avLst>
          </a:prstGeom>
          <a:solidFill>
            <a:srgbClr val="ECF1F6"/>
          </a:solidFill>
          <a:ln/>
        </p:spPr>
      </p:sp>
      <p:sp>
        <p:nvSpPr>
          <p:cNvPr id="22" name="Shape 19"/>
          <p:cNvSpPr/>
          <p:nvPr/>
        </p:nvSpPr>
        <p:spPr>
          <a:xfrm>
            <a:off x="1179576" y="38404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1" descr="/home/claude/arogya/icons/mock_bi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872" y="3922776"/>
            <a:ext cx="201168" cy="201168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636776" y="3803904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Bill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1636776" y="4032504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BillNyay — Audited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1069848" y="4425696"/>
            <a:ext cx="2112264" cy="621792"/>
          </a:xfrm>
          <a:prstGeom prst="roundRect">
            <a:avLst>
              <a:gd name="adj" fmla="val 13235"/>
            </a:avLst>
          </a:prstGeom>
          <a:solidFill>
            <a:srgbClr val="ECF1F6"/>
          </a:solidFill>
          <a:ln/>
        </p:spPr>
      </p:sp>
      <p:sp>
        <p:nvSpPr>
          <p:cNvPr id="27" name="Shape 23"/>
          <p:cNvSpPr/>
          <p:nvPr/>
        </p:nvSpPr>
        <p:spPr>
          <a:xfrm>
            <a:off x="1179576" y="4553712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2" descr="/home/claude/arogya/icons/mock_clai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872" y="4636008"/>
            <a:ext cx="201168" cy="201168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636776" y="4517136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Claim</a:t>
            </a: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1636776" y="4745736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8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DaaviSetu — Processing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1069848" y="5138928"/>
            <a:ext cx="2112264" cy="621792"/>
          </a:xfrm>
          <a:prstGeom prst="roundRect">
            <a:avLst>
              <a:gd name="adj" fmla="val 13235"/>
            </a:avLst>
          </a:prstGeom>
          <a:solidFill>
            <a:srgbClr val="ECF1F6"/>
          </a:solidFill>
          <a:ln/>
        </p:spPr>
      </p:sp>
      <p:sp>
        <p:nvSpPr>
          <p:cNvPr id="32" name="Shape 27"/>
          <p:cNvSpPr/>
          <p:nvPr/>
        </p:nvSpPr>
        <p:spPr>
          <a:xfrm>
            <a:off x="1179576" y="5266944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3" descr="/home/claude/arogya/icons/mock_deni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1872" y="5349240"/>
            <a:ext cx="201168" cy="201168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1636776" y="5230368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Denial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1636776" y="5458968"/>
            <a:ext cx="1563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BimaNyay — Action Needed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3977640" y="1371600"/>
            <a:ext cx="740664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1B33">
                <a:alpha val="16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3977640" y="1371600"/>
            <a:ext cx="7406640" cy="384048"/>
          </a:xfrm>
          <a:prstGeom prst="roundRect">
            <a:avLst>
              <a:gd name="adj" fmla="val 23810"/>
            </a:avLst>
          </a:prstGeom>
          <a:solidFill>
            <a:srgbClr val="E3EAF2"/>
          </a:solidFill>
          <a:ln/>
        </p:spPr>
      </p:sp>
      <p:sp>
        <p:nvSpPr>
          <p:cNvPr id="38" name="Shape 32"/>
          <p:cNvSpPr/>
          <p:nvPr/>
        </p:nvSpPr>
        <p:spPr>
          <a:xfrm>
            <a:off x="3977640" y="1563624"/>
            <a:ext cx="7406640" cy="192024"/>
          </a:xfrm>
          <a:prstGeom prst="rect">
            <a:avLst/>
          </a:prstGeom>
          <a:solidFill>
            <a:srgbClr val="E3EAF2"/>
          </a:solidFill>
          <a:ln/>
        </p:spPr>
      </p:sp>
      <p:sp>
        <p:nvSpPr>
          <p:cNvPr id="39" name="Shape 33"/>
          <p:cNvSpPr/>
          <p:nvPr/>
        </p:nvSpPr>
        <p:spPr>
          <a:xfrm>
            <a:off x="4160520" y="1517904"/>
            <a:ext cx="91440" cy="91440"/>
          </a:xfrm>
          <a:prstGeom prst="ellipse">
            <a:avLst/>
          </a:prstGeom>
          <a:solidFill>
            <a:srgbClr val="C3CEDA"/>
          </a:solidFill>
          <a:ln/>
        </p:spPr>
      </p:sp>
      <p:sp>
        <p:nvSpPr>
          <p:cNvPr id="40" name="Shape 34"/>
          <p:cNvSpPr/>
          <p:nvPr/>
        </p:nvSpPr>
        <p:spPr>
          <a:xfrm>
            <a:off x="4361688" y="1517904"/>
            <a:ext cx="91440" cy="91440"/>
          </a:xfrm>
          <a:prstGeom prst="ellipse">
            <a:avLst/>
          </a:prstGeom>
          <a:solidFill>
            <a:srgbClr val="C3CEDA"/>
          </a:solidFill>
          <a:ln/>
        </p:spPr>
      </p:sp>
      <p:sp>
        <p:nvSpPr>
          <p:cNvPr id="41" name="Shape 35"/>
          <p:cNvSpPr/>
          <p:nvPr/>
        </p:nvSpPr>
        <p:spPr>
          <a:xfrm>
            <a:off x="4562856" y="1517904"/>
            <a:ext cx="91440" cy="91440"/>
          </a:xfrm>
          <a:prstGeom prst="ellipse">
            <a:avLst/>
          </a:prstGeom>
          <a:solidFill>
            <a:srgbClr val="C3CEDA"/>
          </a:solidFill>
          <a:ln/>
        </p:spPr>
      </p:sp>
      <p:sp>
        <p:nvSpPr>
          <p:cNvPr id="42" name="Shape 36"/>
          <p:cNvSpPr/>
          <p:nvPr/>
        </p:nvSpPr>
        <p:spPr>
          <a:xfrm>
            <a:off x="4846320" y="1463040"/>
            <a:ext cx="621792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4983480" y="146304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app.arogyarakshak.in/dashboard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3977640" y="1755648"/>
            <a:ext cx="1874520" cy="3593592"/>
          </a:xfrm>
          <a:prstGeom prst="roundRect">
            <a:avLst>
              <a:gd name="adj" fmla="val 4390"/>
            </a:avLst>
          </a:prstGeom>
          <a:solidFill>
            <a:srgbClr val="122A4D"/>
          </a:solidFill>
          <a:ln/>
        </p:spPr>
      </p:sp>
      <p:sp>
        <p:nvSpPr>
          <p:cNvPr id="45" name="Shape 39"/>
          <p:cNvSpPr/>
          <p:nvPr/>
        </p:nvSpPr>
        <p:spPr>
          <a:xfrm>
            <a:off x="4087368" y="1938528"/>
            <a:ext cx="1655064" cy="402336"/>
          </a:xfrm>
          <a:prstGeom prst="roundRect">
            <a:avLst>
              <a:gd name="adj" fmla="val 20455"/>
            </a:avLst>
          </a:prstGeom>
          <a:solidFill>
            <a:srgbClr val="1E3E68"/>
          </a:solidFill>
          <a:ln/>
        </p:spPr>
      </p:sp>
      <p:pic>
        <p:nvPicPr>
          <p:cNvPr id="46" name="Image 4" descr="/home/claude/arogya/icons/mock_do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5384" y="2011680"/>
            <a:ext cx="219456" cy="219456"/>
          </a:xfrm>
          <a:prstGeom prst="rect">
            <a:avLst/>
          </a:prstGeom>
        </p:spPr>
      </p:pic>
      <p:sp>
        <p:nvSpPr>
          <p:cNvPr id="47" name="Text 40"/>
          <p:cNvSpPr txBox="1"/>
          <p:nvPr/>
        </p:nvSpPr>
        <p:spPr>
          <a:xfrm>
            <a:off x="4544568" y="19659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Workspace</a:t>
            </a:r>
            <a:endParaRPr lang="en-US" sz="1050" dirty="0"/>
          </a:p>
        </p:txBody>
      </p:sp>
      <p:pic>
        <p:nvPicPr>
          <p:cNvPr id="48" name="Image 5" descr="/home/claude/arogya/icons/mock_vault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5384" y="2523744"/>
            <a:ext cx="219456" cy="219456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4544568" y="247802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Vault</a:t>
            </a:r>
            <a:endParaRPr lang="en-US" sz="1050" dirty="0"/>
          </a:p>
        </p:txBody>
      </p:sp>
      <p:pic>
        <p:nvPicPr>
          <p:cNvPr id="50" name="Image 6" descr="/home/claude/arogya/icons/mock_bi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384" y="3035808"/>
            <a:ext cx="219456" cy="219456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4544568" y="299008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Analysis</a:t>
            </a:r>
            <a:endParaRPr lang="en-US" sz="1050" dirty="0"/>
          </a:p>
        </p:txBody>
      </p:sp>
      <p:pic>
        <p:nvPicPr>
          <p:cNvPr id="52" name="Image 7" descr="/home/claude/arogya/icons/mock_clai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5384" y="3547872"/>
            <a:ext cx="219456" cy="219456"/>
          </a:xfrm>
          <a:prstGeom prst="rect">
            <a:avLst/>
          </a:prstGeom>
        </p:spPr>
      </p:pic>
      <p:sp>
        <p:nvSpPr>
          <p:cNvPr id="53" name="Text 43"/>
          <p:cNvSpPr txBox="1"/>
          <p:nvPr/>
        </p:nvSpPr>
        <p:spPr>
          <a:xfrm>
            <a:off x="4544568" y="350215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1050" dirty="0"/>
          </a:p>
        </p:txBody>
      </p:sp>
      <p:pic>
        <p:nvPicPr>
          <p:cNvPr id="54" name="Image 8" descr="/home/claude/arogya/icons/mock_reports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15384" y="4059936"/>
            <a:ext cx="219456" cy="219456"/>
          </a:xfrm>
          <a:prstGeom prst="rect">
            <a:avLst/>
          </a:prstGeom>
        </p:spPr>
      </p:pic>
      <p:sp>
        <p:nvSpPr>
          <p:cNvPr id="55" name="Text 44"/>
          <p:cNvSpPr txBox="1"/>
          <p:nvPr/>
        </p:nvSpPr>
        <p:spPr>
          <a:xfrm>
            <a:off x="4544568" y="401421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050" dirty="0"/>
          </a:p>
        </p:txBody>
      </p:sp>
      <p:sp>
        <p:nvSpPr>
          <p:cNvPr id="56" name="Text 45"/>
          <p:cNvSpPr txBox="1"/>
          <p:nvPr/>
        </p:nvSpPr>
        <p:spPr>
          <a:xfrm>
            <a:off x="6126480" y="1956816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Workspace</a:t>
            </a:r>
            <a:endParaRPr lang="en-US" dirty="0"/>
          </a:p>
        </p:txBody>
      </p:sp>
      <p:sp>
        <p:nvSpPr>
          <p:cNvPr id="57" name="Shape 46"/>
          <p:cNvSpPr/>
          <p:nvPr/>
        </p:nvSpPr>
        <p:spPr>
          <a:xfrm>
            <a:off x="6126480" y="2350008"/>
            <a:ext cx="2377440" cy="1207008"/>
          </a:xfrm>
          <a:prstGeom prst="roundRect">
            <a:avLst>
              <a:gd name="adj" fmla="val 6818"/>
            </a:avLst>
          </a:prstGeom>
          <a:solidFill>
            <a:srgbClr val="ECF1F6"/>
          </a:solidFill>
          <a:ln/>
        </p:spPr>
      </p:sp>
      <p:sp>
        <p:nvSpPr>
          <p:cNvPr id="58" name="Shape 47"/>
          <p:cNvSpPr/>
          <p:nvPr/>
        </p:nvSpPr>
        <p:spPr>
          <a:xfrm>
            <a:off x="6309360" y="2532888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9" name="Image 9" descr="/home/claude/arogya/icons/mock_bi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2615184"/>
            <a:ext cx="219456" cy="219456"/>
          </a:xfrm>
          <a:prstGeom prst="rect">
            <a:avLst/>
          </a:prstGeom>
        </p:spPr>
      </p:pic>
      <p:sp>
        <p:nvSpPr>
          <p:cNvPr id="60" name="Text 48"/>
          <p:cNvSpPr txBox="1"/>
          <p:nvPr/>
        </p:nvSpPr>
        <p:spPr>
          <a:xfrm>
            <a:off x="6309360" y="30266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Analysis</a:t>
            </a:r>
            <a:endParaRPr lang="en-US" sz="1400" dirty="0"/>
          </a:p>
        </p:txBody>
      </p:sp>
      <p:sp>
        <p:nvSpPr>
          <p:cNvPr id="61" name="Shape 49"/>
          <p:cNvSpPr/>
          <p:nvPr/>
        </p:nvSpPr>
        <p:spPr>
          <a:xfrm>
            <a:off x="6309360" y="3319272"/>
            <a:ext cx="2011680" cy="73152"/>
          </a:xfrm>
          <a:prstGeom prst="rect">
            <a:avLst/>
          </a:prstGeom>
          <a:solidFill>
            <a:srgbClr val="DCE4EE"/>
          </a:solidFill>
          <a:ln/>
        </p:spPr>
      </p:sp>
      <p:sp>
        <p:nvSpPr>
          <p:cNvPr id="62" name="Shape 50"/>
          <p:cNvSpPr/>
          <p:nvPr/>
        </p:nvSpPr>
        <p:spPr>
          <a:xfrm>
            <a:off x="6309360" y="3319272"/>
            <a:ext cx="704088" cy="73152"/>
          </a:xfrm>
          <a:prstGeom prst="rect">
            <a:avLst/>
          </a:prstGeom>
          <a:solidFill>
            <a:srgbClr val="12867E"/>
          </a:solidFill>
          <a:ln/>
        </p:spPr>
      </p:sp>
      <p:sp>
        <p:nvSpPr>
          <p:cNvPr id="63" name="Shape 51"/>
          <p:cNvSpPr/>
          <p:nvPr/>
        </p:nvSpPr>
        <p:spPr>
          <a:xfrm>
            <a:off x="8732520" y="2350008"/>
            <a:ext cx="2377440" cy="1207008"/>
          </a:xfrm>
          <a:prstGeom prst="roundRect">
            <a:avLst>
              <a:gd name="adj" fmla="val 6818"/>
            </a:avLst>
          </a:prstGeom>
          <a:solidFill>
            <a:srgbClr val="ECF1F6"/>
          </a:solidFill>
          <a:ln/>
        </p:spPr>
      </p:sp>
      <p:sp>
        <p:nvSpPr>
          <p:cNvPr id="64" name="Shape 52"/>
          <p:cNvSpPr/>
          <p:nvPr/>
        </p:nvSpPr>
        <p:spPr>
          <a:xfrm>
            <a:off x="8915400" y="2532888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5" name="Image 10" descr="/home/claude/arogya/icons/mock_clai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7696" y="2615184"/>
            <a:ext cx="219456" cy="219456"/>
          </a:xfrm>
          <a:prstGeom prst="rect">
            <a:avLst/>
          </a:prstGeom>
        </p:spPr>
      </p:pic>
      <p:sp>
        <p:nvSpPr>
          <p:cNvPr id="66" name="Text 53"/>
          <p:cNvSpPr txBox="1"/>
          <p:nvPr/>
        </p:nvSpPr>
        <p:spPr>
          <a:xfrm>
            <a:off x="8915400" y="30266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1400" dirty="0"/>
          </a:p>
        </p:txBody>
      </p:sp>
      <p:sp>
        <p:nvSpPr>
          <p:cNvPr id="67" name="Shape 54"/>
          <p:cNvSpPr/>
          <p:nvPr/>
        </p:nvSpPr>
        <p:spPr>
          <a:xfrm>
            <a:off x="8915400" y="3319272"/>
            <a:ext cx="2011680" cy="73152"/>
          </a:xfrm>
          <a:prstGeom prst="rect">
            <a:avLst/>
          </a:prstGeom>
          <a:solidFill>
            <a:srgbClr val="DCE4EE"/>
          </a:solidFill>
          <a:ln/>
        </p:spPr>
      </p:sp>
      <p:sp>
        <p:nvSpPr>
          <p:cNvPr id="68" name="Shape 55"/>
          <p:cNvSpPr/>
          <p:nvPr/>
        </p:nvSpPr>
        <p:spPr>
          <a:xfrm>
            <a:off x="8915400" y="3319272"/>
            <a:ext cx="1005840" cy="73152"/>
          </a:xfrm>
          <a:prstGeom prst="rect">
            <a:avLst/>
          </a:prstGeom>
          <a:solidFill>
            <a:srgbClr val="12867E"/>
          </a:solidFill>
          <a:ln/>
        </p:spPr>
      </p:sp>
      <p:sp>
        <p:nvSpPr>
          <p:cNvPr id="69" name="Shape 56"/>
          <p:cNvSpPr/>
          <p:nvPr/>
        </p:nvSpPr>
        <p:spPr>
          <a:xfrm>
            <a:off x="6126480" y="3739896"/>
            <a:ext cx="2377440" cy="1207008"/>
          </a:xfrm>
          <a:prstGeom prst="roundRect">
            <a:avLst>
              <a:gd name="adj" fmla="val 6818"/>
            </a:avLst>
          </a:prstGeom>
          <a:solidFill>
            <a:srgbClr val="ECF1F6"/>
          </a:solidFill>
          <a:ln/>
        </p:spPr>
      </p:sp>
      <p:sp>
        <p:nvSpPr>
          <p:cNvPr id="70" name="Shape 57"/>
          <p:cNvSpPr/>
          <p:nvPr/>
        </p:nvSpPr>
        <p:spPr>
          <a:xfrm>
            <a:off x="6309360" y="392277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1" name="Image 11" descr="/home/claude/arogya/icons/mock_vault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1656" y="4005072"/>
            <a:ext cx="219456" cy="219456"/>
          </a:xfrm>
          <a:prstGeom prst="rect">
            <a:avLst/>
          </a:prstGeom>
        </p:spPr>
      </p:pic>
      <p:sp>
        <p:nvSpPr>
          <p:cNvPr id="72" name="Text 58"/>
          <p:cNvSpPr txBox="1"/>
          <p:nvPr/>
        </p:nvSpPr>
        <p:spPr>
          <a:xfrm>
            <a:off x="6309360" y="4416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Vault</a:t>
            </a:r>
            <a:endParaRPr lang="en-US" sz="1400" dirty="0"/>
          </a:p>
        </p:txBody>
      </p:sp>
      <p:sp>
        <p:nvSpPr>
          <p:cNvPr id="73" name="Shape 59"/>
          <p:cNvSpPr/>
          <p:nvPr/>
        </p:nvSpPr>
        <p:spPr>
          <a:xfrm>
            <a:off x="6309360" y="4709160"/>
            <a:ext cx="2011680" cy="73152"/>
          </a:xfrm>
          <a:prstGeom prst="rect">
            <a:avLst/>
          </a:prstGeom>
          <a:solidFill>
            <a:srgbClr val="DCE4EE"/>
          </a:solidFill>
          <a:ln/>
        </p:spPr>
      </p:sp>
      <p:sp>
        <p:nvSpPr>
          <p:cNvPr id="74" name="Shape 60"/>
          <p:cNvSpPr/>
          <p:nvPr/>
        </p:nvSpPr>
        <p:spPr>
          <a:xfrm>
            <a:off x="6309360" y="4709160"/>
            <a:ext cx="1307592" cy="73152"/>
          </a:xfrm>
          <a:prstGeom prst="rect">
            <a:avLst/>
          </a:prstGeom>
          <a:solidFill>
            <a:srgbClr val="12867E"/>
          </a:solidFill>
          <a:ln/>
        </p:spPr>
      </p:sp>
      <p:sp>
        <p:nvSpPr>
          <p:cNvPr id="75" name="Shape 61"/>
          <p:cNvSpPr/>
          <p:nvPr/>
        </p:nvSpPr>
        <p:spPr>
          <a:xfrm>
            <a:off x="8732520" y="3739896"/>
            <a:ext cx="2377440" cy="1207008"/>
          </a:xfrm>
          <a:prstGeom prst="roundRect">
            <a:avLst>
              <a:gd name="adj" fmla="val 6818"/>
            </a:avLst>
          </a:prstGeom>
          <a:solidFill>
            <a:srgbClr val="ECF1F6"/>
          </a:solidFill>
          <a:ln/>
        </p:spPr>
      </p:sp>
      <p:sp>
        <p:nvSpPr>
          <p:cNvPr id="76" name="Shape 62"/>
          <p:cNvSpPr/>
          <p:nvPr/>
        </p:nvSpPr>
        <p:spPr>
          <a:xfrm>
            <a:off x="8915400" y="392277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7" name="Image 12" descr="/home/claude/arogya/icons/mock_reports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97696" y="4005072"/>
            <a:ext cx="219456" cy="219456"/>
          </a:xfrm>
          <a:prstGeom prst="rect">
            <a:avLst/>
          </a:prstGeom>
        </p:spPr>
      </p:pic>
      <p:sp>
        <p:nvSpPr>
          <p:cNvPr id="78" name="Text 63"/>
          <p:cNvSpPr txBox="1"/>
          <p:nvPr/>
        </p:nvSpPr>
        <p:spPr>
          <a:xfrm>
            <a:off x="8915400" y="4416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400" dirty="0"/>
          </a:p>
        </p:txBody>
      </p:sp>
      <p:sp>
        <p:nvSpPr>
          <p:cNvPr id="79" name="Shape 64"/>
          <p:cNvSpPr/>
          <p:nvPr/>
        </p:nvSpPr>
        <p:spPr>
          <a:xfrm>
            <a:off x="8915400" y="4709160"/>
            <a:ext cx="2011680" cy="73152"/>
          </a:xfrm>
          <a:prstGeom prst="rect">
            <a:avLst/>
          </a:prstGeom>
          <a:solidFill>
            <a:srgbClr val="DCE4EE"/>
          </a:solidFill>
          <a:ln/>
        </p:spPr>
      </p:sp>
      <p:sp>
        <p:nvSpPr>
          <p:cNvPr id="80" name="Shape 65"/>
          <p:cNvSpPr/>
          <p:nvPr/>
        </p:nvSpPr>
        <p:spPr>
          <a:xfrm>
            <a:off x="8915400" y="4709160"/>
            <a:ext cx="1609344" cy="73152"/>
          </a:xfrm>
          <a:prstGeom prst="rect">
            <a:avLst/>
          </a:prstGeom>
          <a:solidFill>
            <a:srgbClr val="12867E"/>
          </a:solidFill>
          <a:ln/>
        </p:spPr>
      </p:sp>
      <p:sp>
        <p:nvSpPr>
          <p:cNvPr id="81" name="Shape 66"/>
          <p:cNvSpPr/>
          <p:nvPr/>
        </p:nvSpPr>
        <p:spPr>
          <a:xfrm>
            <a:off x="3977640" y="5468112"/>
            <a:ext cx="7406640" cy="658368"/>
          </a:xfrm>
          <a:prstGeom prst="roundRect">
            <a:avLst>
              <a:gd name="adj" fmla="val 12500"/>
            </a:avLst>
          </a:prstGeom>
          <a:solidFill>
            <a:srgbClr val="ECF1F6"/>
          </a:solidFill>
          <a:ln/>
        </p:spPr>
      </p:sp>
      <p:sp>
        <p:nvSpPr>
          <p:cNvPr id="82" name="Text 67"/>
          <p:cNvSpPr txBox="1"/>
          <p:nvPr/>
        </p:nvSpPr>
        <p:spPr>
          <a:xfrm>
            <a:off x="4251960" y="546811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</a:t>
            </a:r>
            <a:endParaRPr lang="en-US" sz="1600" dirty="0"/>
          </a:p>
        </p:txBody>
      </p:sp>
      <p:sp>
        <p:nvSpPr>
          <p:cNvPr id="83" name="Text 68"/>
          <p:cNvSpPr txBox="1"/>
          <p:nvPr/>
        </p:nvSpPr>
        <p:spPr>
          <a:xfrm>
            <a:off x="5989320" y="5468112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+ Web  ·  Same backend  ·  Same KADI  ·  Same context</a:t>
            </a:r>
            <a:endParaRPr lang="en-US" sz="1600" dirty="0"/>
          </a:p>
        </p:txBody>
      </p:sp>
      <p:sp>
        <p:nvSpPr>
          <p:cNvPr id="84" name="Text 69"/>
          <p:cNvSpPr txBox="1"/>
          <p:nvPr/>
        </p:nvSpPr>
        <p:spPr>
          <a:xfrm>
            <a:off x="3977640" y="6236208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9AAA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interface mockups — illustrative only.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ArogyaVault — Your Personal Healthcare Document Vault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0" y="1430922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6F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BILLS     ·     PRESCRIPTIONS     ·     REPORTS     ·     DISCHARGE SUMMARIES     ·     INSURANCE     ·     CLAIMS     ·     DENIALS     ·     SCHEMES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249528" y="2253882"/>
            <a:ext cx="4846320" cy="393192"/>
          </a:xfrm>
          <a:prstGeom prst="line">
            <a:avLst/>
          </a:prstGeom>
          <a:noFill/>
          <a:ln w="9525">
            <a:solidFill>
              <a:srgbClr val="1E4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34190" y="2253882"/>
            <a:ext cx="3461657" cy="393192"/>
          </a:xfrm>
          <a:prstGeom prst="line">
            <a:avLst/>
          </a:prstGeom>
          <a:noFill/>
          <a:ln w="9525">
            <a:solidFill>
              <a:srgbClr val="1E4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18853" y="2253882"/>
            <a:ext cx="2076994" cy="393192"/>
          </a:xfrm>
          <a:prstGeom prst="line">
            <a:avLst/>
          </a:prstGeom>
          <a:noFill/>
          <a:ln w="9525">
            <a:solidFill>
              <a:srgbClr val="1E4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03516" y="2253882"/>
            <a:ext cx="692331" cy="393192"/>
          </a:xfrm>
          <a:prstGeom prst="line">
            <a:avLst/>
          </a:prstGeom>
          <a:noFill/>
          <a:ln w="9525">
            <a:solidFill>
              <a:srgbClr val="1E4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6095848" y="2253882"/>
            <a:ext cx="692331" cy="393192"/>
          </a:xfrm>
          <a:prstGeom prst="line">
            <a:avLst/>
          </a:prstGeom>
          <a:noFill/>
          <a:ln w="9525">
            <a:solidFill>
              <a:srgbClr val="1E4A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6095848" y="2253882"/>
            <a:ext cx="2076994" cy="393192"/>
          </a:xfrm>
          <a:prstGeom prst="line">
            <a:avLst/>
          </a:prstGeom>
          <a:noFill/>
          <a:ln w="9525">
            <a:solidFill>
              <a:srgbClr val="1E4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6095848" y="2253882"/>
            <a:ext cx="3461657" cy="393192"/>
          </a:xfrm>
          <a:prstGeom prst="line">
            <a:avLst/>
          </a:prstGeom>
          <a:noFill/>
          <a:ln w="9525">
            <a:solidFill>
              <a:srgbClr val="1E4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6095848" y="2253882"/>
            <a:ext cx="4846320" cy="393192"/>
          </a:xfrm>
          <a:prstGeom prst="line">
            <a:avLst/>
          </a:prstGeom>
          <a:noFill/>
          <a:ln w="9525">
            <a:solidFill>
              <a:srgbClr val="1E4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0928" y="1796682"/>
            <a:ext cx="457200" cy="457200"/>
          </a:xfrm>
          <a:prstGeom prst="ellipse">
            <a:avLst/>
          </a:prstGeom>
          <a:solidFill>
            <a:srgbClr val="17325A"/>
          </a:solidFill>
          <a:ln w="12700">
            <a:solidFill>
              <a:srgbClr val="2C5580"/>
            </a:solidFill>
            <a:prstDash val="solid"/>
          </a:ln>
        </p:spPr>
      </p:sp>
      <p:pic>
        <p:nvPicPr>
          <p:cNvPr id="13" name="Image 0" descr="/home/claude/arogya/icons/vdoc_b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512" y="1906410"/>
            <a:ext cx="237744" cy="23774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405590" y="1796682"/>
            <a:ext cx="457200" cy="457200"/>
          </a:xfrm>
          <a:prstGeom prst="ellipse">
            <a:avLst/>
          </a:prstGeom>
          <a:solidFill>
            <a:srgbClr val="17325A"/>
          </a:solidFill>
          <a:ln w="12700">
            <a:solidFill>
              <a:srgbClr val="2C5580"/>
            </a:solidFill>
            <a:prstDash val="solid"/>
          </a:ln>
        </p:spPr>
      </p:sp>
      <p:pic>
        <p:nvPicPr>
          <p:cNvPr id="15" name="Image 1" descr="/home/claude/arogya/icons/vdoc_r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6174" y="1906410"/>
            <a:ext cx="237744" cy="2377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790253" y="1796682"/>
            <a:ext cx="457200" cy="457200"/>
          </a:xfrm>
          <a:prstGeom prst="ellipse">
            <a:avLst/>
          </a:prstGeom>
          <a:solidFill>
            <a:srgbClr val="17325A"/>
          </a:solidFill>
          <a:ln w="12700">
            <a:solidFill>
              <a:srgbClr val="2C5580"/>
            </a:solidFill>
            <a:prstDash val="solid"/>
          </a:ln>
        </p:spPr>
      </p:sp>
      <p:pic>
        <p:nvPicPr>
          <p:cNvPr id="17" name="Image 2" descr="/home/claude/arogya/icons/vdoc_repo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0837" y="1906410"/>
            <a:ext cx="237744" cy="237744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174916" y="1796682"/>
            <a:ext cx="457200" cy="457200"/>
          </a:xfrm>
          <a:prstGeom prst="ellipse">
            <a:avLst/>
          </a:prstGeom>
          <a:solidFill>
            <a:srgbClr val="17325A"/>
          </a:solidFill>
          <a:ln w="12700">
            <a:solidFill>
              <a:srgbClr val="2C5580"/>
            </a:solidFill>
            <a:prstDash val="solid"/>
          </a:ln>
        </p:spPr>
      </p:sp>
      <p:pic>
        <p:nvPicPr>
          <p:cNvPr id="19" name="Image 3" descr="/home/claude/arogya/icons/vdoc_dischar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5500" y="1906410"/>
            <a:ext cx="237744" cy="23774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559579" y="1796682"/>
            <a:ext cx="457200" cy="457200"/>
          </a:xfrm>
          <a:prstGeom prst="ellipse">
            <a:avLst/>
          </a:prstGeom>
          <a:solidFill>
            <a:srgbClr val="17325A"/>
          </a:solidFill>
          <a:ln w="12700">
            <a:solidFill>
              <a:srgbClr val="2C5580"/>
            </a:solidFill>
            <a:prstDash val="solid"/>
          </a:ln>
        </p:spPr>
      </p:sp>
      <p:pic>
        <p:nvPicPr>
          <p:cNvPr id="21" name="Image 4" descr="/home/claude/arogya/icons/vdoc_insura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0163" y="1906410"/>
            <a:ext cx="237744" cy="237744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7944242" y="1796682"/>
            <a:ext cx="457200" cy="457200"/>
          </a:xfrm>
          <a:prstGeom prst="ellipse">
            <a:avLst/>
          </a:prstGeom>
          <a:solidFill>
            <a:srgbClr val="17325A"/>
          </a:solidFill>
          <a:ln w="12700">
            <a:solidFill>
              <a:srgbClr val="2C5580"/>
            </a:solidFill>
            <a:prstDash val="solid"/>
          </a:ln>
        </p:spPr>
      </p:sp>
      <p:pic>
        <p:nvPicPr>
          <p:cNvPr id="23" name="Image 5" descr="/home/claude/arogya/icons/vdoc_clai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4826" y="1906410"/>
            <a:ext cx="237744" cy="237744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9328905" y="1796682"/>
            <a:ext cx="457200" cy="457200"/>
          </a:xfrm>
          <a:prstGeom prst="ellipse">
            <a:avLst/>
          </a:prstGeom>
          <a:solidFill>
            <a:srgbClr val="17325A"/>
          </a:solidFill>
          <a:ln w="12700">
            <a:solidFill>
              <a:srgbClr val="2C5580"/>
            </a:solidFill>
            <a:prstDash val="solid"/>
          </a:ln>
        </p:spPr>
      </p:sp>
      <p:pic>
        <p:nvPicPr>
          <p:cNvPr id="25" name="Image 6" descr="/home/claude/arogya/icons/vdoc_deni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29489" y="1906410"/>
            <a:ext cx="237744" cy="237744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10713568" y="1796682"/>
            <a:ext cx="457200" cy="457200"/>
          </a:xfrm>
          <a:prstGeom prst="ellipse">
            <a:avLst/>
          </a:prstGeom>
          <a:solidFill>
            <a:srgbClr val="17325A"/>
          </a:solidFill>
          <a:ln w="12700">
            <a:solidFill>
              <a:srgbClr val="2C5580"/>
            </a:solidFill>
            <a:prstDash val="solid"/>
          </a:ln>
        </p:spPr>
      </p:sp>
      <p:pic>
        <p:nvPicPr>
          <p:cNvPr id="27" name="Image 7" descr="/home/claude/arogya/icons/vdoc_schem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14152" y="1906410"/>
            <a:ext cx="237744" cy="237744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5295748" y="2555634"/>
            <a:ext cx="1600200" cy="1600200"/>
          </a:xfrm>
          <a:prstGeom prst="ellipse">
            <a:avLst/>
          </a:prstGeom>
          <a:ln w="19050">
            <a:solidFill>
              <a:srgbClr val="1E8177"/>
            </a:solidFill>
            <a:prstDash val="solid"/>
          </a:ln>
        </p:spPr>
      </p:sp>
      <p:pic>
        <p:nvPicPr>
          <p:cNvPr id="29" name="Image 8" descr="/home/claude/arogya/icons/vault_her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87188" y="2647074"/>
            <a:ext cx="1417320" cy="1417320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3238348" y="4357002"/>
            <a:ext cx="2697480" cy="868680"/>
          </a:xfrm>
          <a:prstGeom prst="roundRect">
            <a:avLst>
              <a:gd name="adj" fmla="val 9474"/>
            </a:avLst>
          </a:prstGeom>
          <a:solidFill>
            <a:srgbClr val="132D53"/>
          </a:solidFill>
          <a:ln/>
        </p:spPr>
      </p:sp>
      <p:sp>
        <p:nvSpPr>
          <p:cNvPr id="31" name="Shape 20"/>
          <p:cNvSpPr/>
          <p:nvPr/>
        </p:nvSpPr>
        <p:spPr>
          <a:xfrm>
            <a:off x="3439516" y="4576458"/>
            <a:ext cx="438912" cy="438912"/>
          </a:xfrm>
          <a:prstGeom prst="ellipse">
            <a:avLst/>
          </a:prstGeom>
          <a:solidFill>
            <a:srgbClr val="12867E"/>
          </a:solidFill>
          <a:ln/>
        </p:spPr>
      </p:sp>
      <p:pic>
        <p:nvPicPr>
          <p:cNvPr id="32" name="Image 9" descr="/home/claude/arogya/icons/vault_loca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40100" y="4677042"/>
            <a:ext cx="237744" cy="237744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4015588" y="453988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spc="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1300" dirty="0"/>
          </a:p>
        </p:txBody>
      </p:sp>
      <p:sp>
        <p:nvSpPr>
          <p:cNvPr id="34" name="Text 22"/>
          <p:cNvSpPr txBox="1"/>
          <p:nvPr/>
        </p:nvSpPr>
        <p:spPr>
          <a:xfrm>
            <a:off x="4015588" y="481420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A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 · Offline availability</a:t>
            </a:r>
            <a:endParaRPr lang="en-US" sz="950" dirty="0"/>
          </a:p>
        </p:txBody>
      </p:sp>
      <p:sp>
        <p:nvSpPr>
          <p:cNvPr id="35" name="Shape 23"/>
          <p:cNvSpPr/>
          <p:nvPr/>
        </p:nvSpPr>
        <p:spPr>
          <a:xfrm>
            <a:off x="6255868" y="4357002"/>
            <a:ext cx="2697480" cy="868680"/>
          </a:xfrm>
          <a:prstGeom prst="roundRect">
            <a:avLst>
              <a:gd name="adj" fmla="val 9474"/>
            </a:avLst>
          </a:prstGeom>
          <a:solidFill>
            <a:srgbClr val="132D53"/>
          </a:solidFill>
          <a:ln/>
        </p:spPr>
      </p:sp>
      <p:sp>
        <p:nvSpPr>
          <p:cNvPr id="36" name="Shape 24"/>
          <p:cNvSpPr/>
          <p:nvPr/>
        </p:nvSpPr>
        <p:spPr>
          <a:xfrm>
            <a:off x="6457036" y="4576458"/>
            <a:ext cx="438912" cy="438912"/>
          </a:xfrm>
          <a:prstGeom prst="ellipse">
            <a:avLst/>
          </a:prstGeom>
          <a:solidFill>
            <a:srgbClr val="12867E"/>
          </a:solidFill>
          <a:ln/>
        </p:spPr>
      </p:sp>
      <p:pic>
        <p:nvPicPr>
          <p:cNvPr id="37" name="Image 10" descr="/home/claude/arogya/icons/vault_clou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7620" y="4677042"/>
            <a:ext cx="237744" cy="237744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7033108" y="453988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spc="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300" dirty="0"/>
          </a:p>
        </p:txBody>
      </p:sp>
      <p:sp>
        <p:nvSpPr>
          <p:cNvPr id="39" name="Text 26"/>
          <p:cNvSpPr txBox="1"/>
          <p:nvPr/>
        </p:nvSpPr>
        <p:spPr>
          <a:xfrm>
            <a:off x="7033108" y="481420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A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· Synchronization</a:t>
            </a:r>
            <a:endParaRPr lang="en-US" sz="950" dirty="0"/>
          </a:p>
        </p:txBody>
      </p:sp>
      <p:sp>
        <p:nvSpPr>
          <p:cNvPr id="40" name="Text 27"/>
          <p:cNvSpPr txBox="1"/>
          <p:nvPr/>
        </p:nvSpPr>
        <p:spPr>
          <a:xfrm>
            <a:off x="0" y="551829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kern="0" spc="80" dirty="0">
                <a:solidFill>
                  <a:srgbClr val="6F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AROGYAVAULT     →     KADI     →     REUSABLE CONTEXT</a:t>
            </a:r>
            <a:endParaRPr lang="en-US" sz="1400" dirty="0"/>
          </a:p>
        </p:txBody>
      </p:sp>
      <p:sp>
        <p:nvSpPr>
          <p:cNvPr id="41" name="Text 28"/>
          <p:cNvSpPr txBox="1"/>
          <p:nvPr/>
        </p:nvSpPr>
        <p:spPr>
          <a:xfrm>
            <a:off x="1371600" y="602121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user-controlled document layer — not a replacement for hospital EMRs or ABHA.”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Documents to Decisions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50012" y="1429764"/>
            <a:ext cx="1998878" cy="420624"/>
          </a:xfrm>
          <a:prstGeom prst="roundRect">
            <a:avLst>
              <a:gd name="adj" fmla="val 17391"/>
            </a:avLst>
          </a:prstGeom>
          <a:solidFill>
            <a:srgbClr val="2F6FE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50012" y="1429764"/>
            <a:ext cx="1998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BillNyay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93419" y="2024124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6FED"/>
            </a:solidFill>
            <a:prstDash val="solid"/>
          </a:ln>
        </p:spPr>
      </p:sp>
      <p:pic>
        <p:nvPicPr>
          <p:cNvPr id="6" name="Image 0" descr="/home/claude/arogya/icons/mod_billny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073" y="2136778"/>
            <a:ext cx="286756" cy="2867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50012" y="2801364"/>
            <a:ext cx="1998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9AAA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23164" y="3002532"/>
            <a:ext cx="1852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1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549451" y="3441444"/>
            <a:ext cx="0" cy="128016"/>
          </a:xfrm>
          <a:prstGeom prst="line">
            <a:avLst/>
          </a:prstGeom>
          <a:noFill/>
          <a:ln w="15875">
            <a:solidFill>
              <a:srgbClr val="C7D6E6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550012" y="3606036"/>
            <a:ext cx="1998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9AAA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23164" y="3807204"/>
            <a:ext cx="1852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1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549451" y="4246116"/>
            <a:ext cx="0" cy="128016"/>
          </a:xfrm>
          <a:prstGeom prst="line">
            <a:avLst/>
          </a:prstGeom>
          <a:noFill/>
          <a:ln w="15875">
            <a:solidFill>
              <a:srgbClr val="C7D6E6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550012" y="4410708"/>
            <a:ext cx="1998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9AAA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23164" y="4611876"/>
            <a:ext cx="18525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F6F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Audit Report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823210" y="1429764"/>
            <a:ext cx="1998878" cy="420624"/>
          </a:xfrm>
          <a:prstGeom prst="roundRect">
            <a:avLst>
              <a:gd name="adj" fmla="val 17391"/>
            </a:avLst>
          </a:prstGeom>
          <a:solidFill>
            <a:srgbClr val="12867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823210" y="1429764"/>
            <a:ext cx="1998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DawaCheck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566617" y="2024124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2867E"/>
            </a:solidFill>
            <a:prstDash val="solid"/>
          </a:ln>
        </p:spPr>
      </p:sp>
      <p:pic>
        <p:nvPicPr>
          <p:cNvPr id="18" name="Image 1" descr="/home/claude/arogya/icons/mod_dawa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9271" y="2136778"/>
            <a:ext cx="286756" cy="28675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2823210" y="2801364"/>
            <a:ext cx="1998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9AAA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2896362" y="3002532"/>
            <a:ext cx="1852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1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/ Medicine Bill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3822649" y="3441444"/>
            <a:ext cx="0" cy="128016"/>
          </a:xfrm>
          <a:prstGeom prst="line">
            <a:avLst/>
          </a:prstGeom>
          <a:noFill/>
          <a:ln w="15875">
            <a:solidFill>
              <a:srgbClr val="C7D6E6"/>
            </a:solidFill>
            <a:prstDash val="solid"/>
            <a:tailEnd type="triangle"/>
          </a:ln>
        </p:spPr>
      </p:sp>
      <p:sp>
        <p:nvSpPr>
          <p:cNvPr id="22" name="Text 18"/>
          <p:cNvSpPr txBox="1"/>
          <p:nvPr/>
        </p:nvSpPr>
        <p:spPr>
          <a:xfrm>
            <a:off x="2823210" y="3606036"/>
            <a:ext cx="1998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9AAA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2896362" y="3807204"/>
            <a:ext cx="1852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1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Benchmark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3822649" y="4246116"/>
            <a:ext cx="0" cy="128016"/>
          </a:xfrm>
          <a:prstGeom prst="line">
            <a:avLst/>
          </a:prstGeom>
          <a:noFill/>
          <a:ln w="15875">
            <a:solidFill>
              <a:srgbClr val="C7D6E6"/>
            </a:solidFill>
            <a:prstDash val="solid"/>
            <a:tailEnd type="triangle"/>
          </a:ln>
        </p:spPr>
      </p:sp>
      <p:sp>
        <p:nvSpPr>
          <p:cNvPr id="25" name="Text 21"/>
          <p:cNvSpPr txBox="1"/>
          <p:nvPr/>
        </p:nvSpPr>
        <p:spPr>
          <a:xfrm>
            <a:off x="2823210" y="4410708"/>
            <a:ext cx="1998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9AAA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2896362" y="4611876"/>
            <a:ext cx="18525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28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Price Report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5096408" y="1429764"/>
            <a:ext cx="1998878" cy="420624"/>
          </a:xfrm>
          <a:prstGeom prst="roundRect">
            <a:avLst>
              <a:gd name="adj" fmla="val 17391"/>
            </a:avLst>
          </a:prstGeom>
          <a:solidFill>
            <a:srgbClr val="122A4D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5096408" y="1429764"/>
            <a:ext cx="1998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SchemeSetu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5839816" y="2024124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22A4D"/>
            </a:solidFill>
            <a:prstDash val="solid"/>
          </a:ln>
        </p:spPr>
      </p:sp>
      <p:pic>
        <p:nvPicPr>
          <p:cNvPr id="30" name="Image 2" descr="/home/claude/arogya/icons/mod_schemeset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2470" y="2136778"/>
            <a:ext cx="286756" cy="28675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5096408" y="2801364"/>
            <a:ext cx="1998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9AAA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5169560" y="3002532"/>
            <a:ext cx="1852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1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Context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6095848" y="3441444"/>
            <a:ext cx="0" cy="128016"/>
          </a:xfrm>
          <a:prstGeom prst="line">
            <a:avLst/>
          </a:prstGeom>
          <a:noFill/>
          <a:ln w="15875">
            <a:solidFill>
              <a:srgbClr val="C7D6E6"/>
            </a:solidFill>
            <a:prstDash val="solid"/>
            <a:tailEnd type="triangle"/>
          </a:ln>
        </p:spPr>
      </p:sp>
      <p:sp>
        <p:nvSpPr>
          <p:cNvPr id="34" name="Text 29"/>
          <p:cNvSpPr txBox="1"/>
          <p:nvPr/>
        </p:nvSpPr>
        <p:spPr>
          <a:xfrm>
            <a:off x="5096408" y="3606036"/>
            <a:ext cx="1998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9AAA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5169560" y="3807204"/>
            <a:ext cx="1852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1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Rules</a:t>
            </a:r>
            <a:endParaRPr lang="en-US" sz="1400" dirty="0"/>
          </a:p>
        </p:txBody>
      </p:sp>
      <p:sp>
        <p:nvSpPr>
          <p:cNvPr id="36" name="Shape 31"/>
          <p:cNvSpPr/>
          <p:nvPr/>
        </p:nvSpPr>
        <p:spPr>
          <a:xfrm>
            <a:off x="6095848" y="4246116"/>
            <a:ext cx="0" cy="128016"/>
          </a:xfrm>
          <a:prstGeom prst="line">
            <a:avLst/>
          </a:prstGeom>
          <a:noFill/>
          <a:ln w="15875">
            <a:solidFill>
              <a:srgbClr val="C7D6E6"/>
            </a:solidFill>
            <a:prstDash val="solid"/>
            <a:tailEnd type="triangle"/>
          </a:ln>
        </p:spPr>
      </p:sp>
      <p:sp>
        <p:nvSpPr>
          <p:cNvPr id="37" name="Text 32"/>
          <p:cNvSpPr txBox="1"/>
          <p:nvPr/>
        </p:nvSpPr>
        <p:spPr>
          <a:xfrm>
            <a:off x="5096408" y="4410708"/>
            <a:ext cx="1998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9AAA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5169560" y="4611876"/>
            <a:ext cx="18525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Result</a:t>
            </a:r>
            <a:endParaRPr lang="en-US" sz="1400" dirty="0"/>
          </a:p>
        </p:txBody>
      </p:sp>
      <p:sp>
        <p:nvSpPr>
          <p:cNvPr id="39" name="Shape 34"/>
          <p:cNvSpPr/>
          <p:nvPr/>
        </p:nvSpPr>
        <p:spPr>
          <a:xfrm>
            <a:off x="7369607" y="1429764"/>
            <a:ext cx="1998878" cy="420624"/>
          </a:xfrm>
          <a:prstGeom prst="roundRect">
            <a:avLst>
              <a:gd name="adj" fmla="val 17391"/>
            </a:avLst>
          </a:prstGeom>
          <a:solidFill>
            <a:srgbClr val="3D6A8A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7369607" y="1429764"/>
            <a:ext cx="1998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DaaviSetu</a:t>
            </a:r>
            <a:endParaRPr lang="en-US" sz="1600" dirty="0"/>
          </a:p>
        </p:txBody>
      </p:sp>
      <p:sp>
        <p:nvSpPr>
          <p:cNvPr id="41" name="Shape 36"/>
          <p:cNvSpPr/>
          <p:nvPr/>
        </p:nvSpPr>
        <p:spPr>
          <a:xfrm>
            <a:off x="8113014" y="2024124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D6A8A"/>
            </a:solidFill>
            <a:prstDash val="solid"/>
          </a:ln>
        </p:spPr>
      </p:sp>
      <p:pic>
        <p:nvPicPr>
          <p:cNvPr id="42" name="Image 3" descr="/home/claude/arogya/icons/mod_daavise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5668" y="2136778"/>
            <a:ext cx="286756" cy="286756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7369607" y="2801364"/>
            <a:ext cx="1998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9AAA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000" dirty="0"/>
          </a:p>
        </p:txBody>
      </p:sp>
      <p:sp>
        <p:nvSpPr>
          <p:cNvPr id="44" name="Text 38"/>
          <p:cNvSpPr txBox="1"/>
          <p:nvPr/>
        </p:nvSpPr>
        <p:spPr>
          <a:xfrm>
            <a:off x="7442759" y="3002532"/>
            <a:ext cx="1852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1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+ Hospital Documents</a:t>
            </a:r>
            <a:endParaRPr lang="en-US" sz="1400" dirty="0"/>
          </a:p>
        </p:txBody>
      </p:sp>
      <p:sp>
        <p:nvSpPr>
          <p:cNvPr id="45" name="Shape 39"/>
          <p:cNvSpPr/>
          <p:nvPr/>
        </p:nvSpPr>
        <p:spPr>
          <a:xfrm>
            <a:off x="8369046" y="3441444"/>
            <a:ext cx="0" cy="128016"/>
          </a:xfrm>
          <a:prstGeom prst="line">
            <a:avLst/>
          </a:prstGeom>
          <a:noFill/>
          <a:ln w="15875">
            <a:solidFill>
              <a:srgbClr val="C7D6E6"/>
            </a:solidFill>
            <a:prstDash val="solid"/>
            <a:tailEnd type="triangle"/>
          </a:ln>
        </p:spPr>
      </p:sp>
      <p:sp>
        <p:nvSpPr>
          <p:cNvPr id="46" name="Text 40"/>
          <p:cNvSpPr txBox="1"/>
          <p:nvPr/>
        </p:nvSpPr>
        <p:spPr>
          <a:xfrm>
            <a:off x="7369607" y="3606036"/>
            <a:ext cx="1998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9AAA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000" dirty="0"/>
          </a:p>
        </p:txBody>
      </p:sp>
      <p:sp>
        <p:nvSpPr>
          <p:cNvPr id="47" name="Text 41"/>
          <p:cNvSpPr txBox="1"/>
          <p:nvPr/>
        </p:nvSpPr>
        <p:spPr>
          <a:xfrm>
            <a:off x="7442759" y="3807204"/>
            <a:ext cx="1852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1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Preparation</a:t>
            </a:r>
            <a:endParaRPr lang="en-US" sz="1400" dirty="0"/>
          </a:p>
        </p:txBody>
      </p:sp>
      <p:sp>
        <p:nvSpPr>
          <p:cNvPr id="48" name="Shape 42"/>
          <p:cNvSpPr/>
          <p:nvPr/>
        </p:nvSpPr>
        <p:spPr>
          <a:xfrm>
            <a:off x="8369046" y="4246116"/>
            <a:ext cx="0" cy="128016"/>
          </a:xfrm>
          <a:prstGeom prst="line">
            <a:avLst/>
          </a:prstGeom>
          <a:noFill/>
          <a:ln w="15875">
            <a:solidFill>
              <a:srgbClr val="C7D6E6"/>
            </a:solidFill>
            <a:prstDash val="solid"/>
            <a:tailEnd type="triangle"/>
          </a:ln>
        </p:spPr>
      </p:sp>
      <p:sp>
        <p:nvSpPr>
          <p:cNvPr id="49" name="Text 43"/>
          <p:cNvSpPr txBox="1"/>
          <p:nvPr/>
        </p:nvSpPr>
        <p:spPr>
          <a:xfrm>
            <a:off x="7369607" y="4410708"/>
            <a:ext cx="1998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9AAA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50" name="Text 44"/>
          <p:cNvSpPr txBox="1"/>
          <p:nvPr/>
        </p:nvSpPr>
        <p:spPr>
          <a:xfrm>
            <a:off x="7442759" y="4611876"/>
            <a:ext cx="18525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D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Package</a:t>
            </a:r>
            <a:endParaRPr lang="en-US" sz="1400" dirty="0"/>
          </a:p>
        </p:txBody>
      </p:sp>
      <p:sp>
        <p:nvSpPr>
          <p:cNvPr id="51" name="Shape 45"/>
          <p:cNvSpPr/>
          <p:nvPr/>
        </p:nvSpPr>
        <p:spPr>
          <a:xfrm>
            <a:off x="9642805" y="1429764"/>
            <a:ext cx="1998878" cy="420624"/>
          </a:xfrm>
          <a:prstGeom prst="roundRect">
            <a:avLst>
              <a:gd name="adj" fmla="val 17391"/>
            </a:avLst>
          </a:prstGeom>
          <a:solidFill>
            <a:srgbClr val="0B4F45"/>
          </a:solidFill>
          <a:ln/>
        </p:spPr>
      </p:sp>
      <p:sp>
        <p:nvSpPr>
          <p:cNvPr id="52" name="Text 46"/>
          <p:cNvSpPr txBox="1"/>
          <p:nvPr/>
        </p:nvSpPr>
        <p:spPr>
          <a:xfrm>
            <a:off x="9642805" y="1429764"/>
            <a:ext cx="19988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BimaNyay</a:t>
            </a:r>
            <a:endParaRPr lang="en-US" sz="1600" dirty="0"/>
          </a:p>
        </p:txBody>
      </p:sp>
      <p:sp>
        <p:nvSpPr>
          <p:cNvPr id="53" name="Shape 47"/>
          <p:cNvSpPr/>
          <p:nvPr/>
        </p:nvSpPr>
        <p:spPr>
          <a:xfrm>
            <a:off x="10386212" y="2024124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4F45"/>
            </a:solidFill>
            <a:prstDash val="solid"/>
          </a:ln>
        </p:spPr>
      </p:sp>
      <p:pic>
        <p:nvPicPr>
          <p:cNvPr id="54" name="Image 4" descr="/home/claude/arogya/icons/mod_bimany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98866" y="2136778"/>
            <a:ext cx="286756" cy="286756"/>
          </a:xfrm>
          <a:prstGeom prst="rect">
            <a:avLst/>
          </a:prstGeom>
        </p:spPr>
      </p:pic>
      <p:sp>
        <p:nvSpPr>
          <p:cNvPr id="55" name="Text 48"/>
          <p:cNvSpPr txBox="1"/>
          <p:nvPr/>
        </p:nvSpPr>
        <p:spPr>
          <a:xfrm>
            <a:off x="9642805" y="2801364"/>
            <a:ext cx="1998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9AAA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000" dirty="0"/>
          </a:p>
        </p:txBody>
      </p:sp>
      <p:sp>
        <p:nvSpPr>
          <p:cNvPr id="56" name="Text 49"/>
          <p:cNvSpPr txBox="1"/>
          <p:nvPr/>
        </p:nvSpPr>
        <p:spPr>
          <a:xfrm>
            <a:off x="9715957" y="3002532"/>
            <a:ext cx="1852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1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+ Claim + Denial</a:t>
            </a:r>
            <a:endParaRPr lang="en-US" sz="1400" dirty="0"/>
          </a:p>
        </p:txBody>
      </p:sp>
      <p:sp>
        <p:nvSpPr>
          <p:cNvPr id="57" name="Shape 50"/>
          <p:cNvSpPr/>
          <p:nvPr/>
        </p:nvSpPr>
        <p:spPr>
          <a:xfrm>
            <a:off x="10642244" y="3441444"/>
            <a:ext cx="0" cy="128016"/>
          </a:xfrm>
          <a:prstGeom prst="line">
            <a:avLst/>
          </a:prstGeom>
          <a:noFill/>
          <a:ln w="15875">
            <a:solidFill>
              <a:srgbClr val="C7D6E6"/>
            </a:solidFill>
            <a:prstDash val="solid"/>
            <a:tailEnd type="triangle"/>
          </a:ln>
        </p:spPr>
      </p:sp>
      <p:sp>
        <p:nvSpPr>
          <p:cNvPr id="58" name="Text 51"/>
          <p:cNvSpPr txBox="1"/>
          <p:nvPr/>
        </p:nvSpPr>
        <p:spPr>
          <a:xfrm>
            <a:off x="9642805" y="3606036"/>
            <a:ext cx="1998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9AAA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000" dirty="0"/>
          </a:p>
        </p:txBody>
      </p:sp>
      <p:sp>
        <p:nvSpPr>
          <p:cNvPr id="59" name="Text 52"/>
          <p:cNvSpPr txBox="1"/>
          <p:nvPr/>
        </p:nvSpPr>
        <p:spPr>
          <a:xfrm>
            <a:off x="9715957" y="3807204"/>
            <a:ext cx="18525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dirty="0">
                <a:solidFill>
                  <a:srgbClr val="12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Analysis</a:t>
            </a:r>
            <a:endParaRPr lang="en-US" sz="1400" dirty="0"/>
          </a:p>
        </p:txBody>
      </p:sp>
      <p:sp>
        <p:nvSpPr>
          <p:cNvPr id="60" name="Shape 53"/>
          <p:cNvSpPr/>
          <p:nvPr/>
        </p:nvSpPr>
        <p:spPr>
          <a:xfrm>
            <a:off x="10642244" y="4246116"/>
            <a:ext cx="0" cy="128016"/>
          </a:xfrm>
          <a:prstGeom prst="line">
            <a:avLst/>
          </a:prstGeom>
          <a:noFill/>
          <a:ln w="15875">
            <a:solidFill>
              <a:srgbClr val="C7D6E6"/>
            </a:solidFill>
            <a:prstDash val="solid"/>
            <a:tailEnd type="triangle"/>
          </a:ln>
        </p:spPr>
      </p:sp>
      <p:sp>
        <p:nvSpPr>
          <p:cNvPr id="61" name="Text 54"/>
          <p:cNvSpPr txBox="1"/>
          <p:nvPr/>
        </p:nvSpPr>
        <p:spPr>
          <a:xfrm>
            <a:off x="9642805" y="4410708"/>
            <a:ext cx="19988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9AAA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62" name="Text 55"/>
          <p:cNvSpPr txBox="1"/>
          <p:nvPr/>
        </p:nvSpPr>
        <p:spPr>
          <a:xfrm>
            <a:off x="9715957" y="4611876"/>
            <a:ext cx="18525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B4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 Report</a:t>
            </a:r>
            <a:endParaRPr lang="en-US" sz="1400" dirty="0"/>
          </a:p>
        </p:txBody>
      </p:sp>
      <p:sp>
        <p:nvSpPr>
          <p:cNvPr id="63" name="Shape 56"/>
          <p:cNvSpPr/>
          <p:nvPr/>
        </p:nvSpPr>
        <p:spPr>
          <a:xfrm>
            <a:off x="548640" y="5391355"/>
            <a:ext cx="11091672" cy="910366"/>
          </a:xfrm>
          <a:prstGeom prst="roundRect">
            <a:avLst>
              <a:gd name="adj" fmla="val 13235"/>
            </a:avLst>
          </a:prstGeom>
          <a:solidFill>
            <a:srgbClr val="ECF1F6"/>
          </a:solidFill>
          <a:ln/>
        </p:spPr>
      </p:sp>
      <p:sp>
        <p:nvSpPr>
          <p:cNvPr id="64" name="Text 57"/>
          <p:cNvSpPr txBox="1"/>
          <p:nvPr/>
        </p:nvSpPr>
        <p:spPr>
          <a:xfrm>
            <a:off x="548640" y="5391355"/>
            <a:ext cx="11091672" cy="910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80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  →   COMPARE   →   DISCOVER   →   CLAIM   →   REDRESS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Transparency &amp; Responsible Decision Support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98448"/>
            <a:ext cx="5385816" cy="1691640"/>
          </a:xfrm>
          <a:prstGeom prst="roundRect">
            <a:avLst>
              <a:gd name="adj" fmla="val 4865"/>
            </a:avLst>
          </a:prstGeom>
          <a:solidFill>
            <a:srgbClr val="ECF1F6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72768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22A4D"/>
            </a:solidFill>
            <a:prstDash val="solid"/>
          </a:ln>
        </p:spPr>
      </p:sp>
      <p:pic>
        <p:nvPicPr>
          <p:cNvPr id="5" name="Image 0" descr="/home/claude/arogya/icons/val_transpar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700784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572768"/>
            <a:ext cx="4197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50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</a:t>
            </a:r>
            <a:endParaRPr lang="en-US" dirty="0"/>
          </a:p>
        </p:txBody>
      </p:sp>
      <p:sp>
        <p:nvSpPr>
          <p:cNvPr id="7" name="Text 4"/>
          <p:cNvSpPr txBox="1"/>
          <p:nvPr/>
        </p:nvSpPr>
        <p:spPr>
          <a:xfrm>
            <a:off x="1098467" y="2154936"/>
            <a:ext cx="4837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–"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–"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findings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–"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context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54496" y="1298448"/>
            <a:ext cx="5385816" cy="1691640"/>
          </a:xfrm>
          <a:prstGeom prst="roundRect">
            <a:avLst>
              <a:gd name="adj" fmla="val 4865"/>
            </a:avLst>
          </a:prstGeom>
          <a:solidFill>
            <a:srgbClr val="ECF1F6"/>
          </a:solidFill>
          <a:ln/>
        </p:spPr>
      </p:sp>
      <p:sp>
        <p:nvSpPr>
          <p:cNvPr id="9" name="Shape 6"/>
          <p:cNvSpPr/>
          <p:nvPr/>
        </p:nvSpPr>
        <p:spPr>
          <a:xfrm>
            <a:off x="6528816" y="1572768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22A4D"/>
            </a:solidFill>
            <a:prstDash val="solid"/>
          </a:ln>
        </p:spPr>
      </p:sp>
      <p:pic>
        <p:nvPicPr>
          <p:cNvPr id="10" name="Image 1" descr="/home/claude/arogya/icons/val_auditabi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1700784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60336" y="1572768"/>
            <a:ext cx="4197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50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AUDITABILITY</a:t>
            </a:r>
            <a:endParaRPr lang="en-US" dirty="0"/>
          </a:p>
        </p:txBody>
      </p:sp>
      <p:sp>
        <p:nvSpPr>
          <p:cNvPr id="12" name="Text 8"/>
          <p:cNvSpPr txBox="1"/>
          <p:nvPr/>
        </p:nvSpPr>
        <p:spPr>
          <a:xfrm>
            <a:off x="6804323" y="2154936"/>
            <a:ext cx="4837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–"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validation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–"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outputs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–"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191256"/>
            <a:ext cx="5385816" cy="1691640"/>
          </a:xfrm>
          <a:prstGeom prst="roundRect">
            <a:avLst>
              <a:gd name="adj" fmla="val 4865"/>
            </a:avLst>
          </a:prstGeom>
          <a:solidFill>
            <a:srgbClr val="ECF1F6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3465576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22A4D"/>
            </a:solidFill>
            <a:prstDash val="solid"/>
          </a:ln>
        </p:spPr>
      </p:sp>
      <p:pic>
        <p:nvPicPr>
          <p:cNvPr id="15" name="Image 2" descr="/home/claude/arogya/icons/val_privac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359359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3465576"/>
            <a:ext cx="4197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50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dirty="0"/>
          </a:p>
        </p:txBody>
      </p:sp>
      <p:sp>
        <p:nvSpPr>
          <p:cNvPr id="17" name="Text 12"/>
          <p:cNvSpPr txBox="1"/>
          <p:nvPr/>
        </p:nvSpPr>
        <p:spPr>
          <a:xfrm>
            <a:off x="1098467" y="4047744"/>
            <a:ext cx="4837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–"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User-controlled records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–"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local storage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–"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synchronization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54496" y="3191256"/>
            <a:ext cx="5385816" cy="1691640"/>
          </a:xfrm>
          <a:prstGeom prst="roundRect">
            <a:avLst>
              <a:gd name="adj" fmla="val 4865"/>
            </a:avLst>
          </a:prstGeom>
          <a:solidFill>
            <a:srgbClr val="ECF1F6"/>
          </a:solidFill>
          <a:ln/>
        </p:spPr>
      </p:sp>
      <p:sp>
        <p:nvSpPr>
          <p:cNvPr id="19" name="Shape 14"/>
          <p:cNvSpPr/>
          <p:nvPr/>
        </p:nvSpPr>
        <p:spPr>
          <a:xfrm>
            <a:off x="6528816" y="3465576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22A4D"/>
            </a:solidFill>
            <a:prstDash val="solid"/>
          </a:ln>
        </p:spPr>
      </p:sp>
      <p:pic>
        <p:nvPicPr>
          <p:cNvPr id="20" name="Image 3" descr="/home/claude/arogya/icons/val_boundari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2" y="359359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260336" y="3465576"/>
            <a:ext cx="4197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50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BOUNDARIES</a:t>
            </a:r>
            <a:endParaRPr lang="en-US" dirty="0"/>
          </a:p>
        </p:txBody>
      </p:sp>
      <p:sp>
        <p:nvSpPr>
          <p:cNvPr id="22" name="Text 16"/>
          <p:cNvSpPr txBox="1"/>
          <p:nvPr/>
        </p:nvSpPr>
        <p:spPr>
          <a:xfrm>
            <a:off x="6804323" y="4047744"/>
            <a:ext cx="4837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–"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diagnosis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–"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autonomous approval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–"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binding recommendations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1389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80" dirty="0">
                <a:solidFill>
                  <a:srgbClr val="122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DIMENSIONS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5431536"/>
            <a:ext cx="3602736" cy="384048"/>
          </a:xfrm>
          <a:prstGeom prst="roundRect">
            <a:avLst>
              <a:gd name="adj" fmla="val 50000"/>
            </a:avLst>
          </a:prstGeom>
          <a:solidFill>
            <a:srgbClr val="E4EEEC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548640" y="5431536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8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accuracy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288536" y="5431536"/>
            <a:ext cx="3602736" cy="384048"/>
          </a:xfrm>
          <a:prstGeom prst="roundRect">
            <a:avLst>
              <a:gd name="adj" fmla="val 50000"/>
            </a:avLst>
          </a:prstGeom>
          <a:solidFill>
            <a:srgbClr val="E4EEEC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4288536" y="5431536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8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correctness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8028432" y="5431536"/>
            <a:ext cx="3602736" cy="384048"/>
          </a:xfrm>
          <a:prstGeom prst="roundRect">
            <a:avLst>
              <a:gd name="adj" fmla="val 50000"/>
            </a:avLst>
          </a:prstGeom>
          <a:solidFill>
            <a:srgbClr val="E4EEEC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8028432" y="5431536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8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correctness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548640" y="5925312"/>
            <a:ext cx="3602736" cy="384048"/>
          </a:xfrm>
          <a:prstGeom prst="roundRect">
            <a:avLst>
              <a:gd name="adj" fmla="val 50000"/>
            </a:avLst>
          </a:prstGeom>
          <a:solidFill>
            <a:srgbClr val="E4EEEC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548640" y="59253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8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completeness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4288536" y="5925312"/>
            <a:ext cx="3602736" cy="384048"/>
          </a:xfrm>
          <a:prstGeom prst="roundRect">
            <a:avLst>
              <a:gd name="adj" fmla="val 50000"/>
            </a:avLst>
          </a:prstGeom>
          <a:solidFill>
            <a:srgbClr val="E4EEEC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4288536" y="59253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8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analysis quality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8028432" y="5925312"/>
            <a:ext cx="3602736" cy="384048"/>
          </a:xfrm>
          <a:prstGeom prst="roundRect">
            <a:avLst>
              <a:gd name="adj" fmla="val 50000"/>
            </a:avLst>
          </a:prstGeom>
          <a:solidFill>
            <a:srgbClr val="E4EEEC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8028432" y="59253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8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efficiency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Fragmented Documents to Unified Healthcare Administration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9554" y="12801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/home/claude/arogya/icons/road_n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" y="1400861"/>
            <a:ext cx="307238" cy="30723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62786" y="1280160"/>
            <a:ext cx="274045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100" dirty="0">
                <a:solidFill>
                  <a:srgbClr val="6F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dirty="0"/>
          </a:p>
        </p:txBody>
      </p:sp>
      <p:sp>
        <p:nvSpPr>
          <p:cNvPr id="6" name="Text 3"/>
          <p:cNvSpPr txBox="1"/>
          <p:nvPr/>
        </p:nvSpPr>
        <p:spPr>
          <a:xfrm>
            <a:off x="595274" y="2029968"/>
            <a:ext cx="336224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–"/>
            </a:pPr>
            <a:r>
              <a:rPr lang="en-US" sz="1600" dirty="0">
                <a:solidFill>
                  <a:srgbClr val="A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+ Web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–"/>
            </a:pPr>
            <a:r>
              <a:rPr lang="en-US" sz="1600" dirty="0">
                <a:solidFill>
                  <a:srgbClr val="A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ArogyaVault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–"/>
            </a:pPr>
            <a:r>
              <a:rPr lang="en-US" sz="1600" dirty="0">
                <a:solidFill>
                  <a:srgbClr val="A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KADI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–"/>
            </a:pPr>
            <a:r>
              <a:rPr lang="en-US" sz="1600" dirty="0">
                <a:solidFill>
                  <a:srgbClr val="A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workflows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058107" y="1554480"/>
            <a:ext cx="256032" cy="0"/>
          </a:xfrm>
          <a:prstGeom prst="line">
            <a:avLst/>
          </a:prstGeom>
          <a:noFill/>
          <a:ln w="19050">
            <a:solidFill>
              <a:srgbClr val="3A5578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4369003" y="12801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/home/claude/arogya/icons/road_n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9704" y="140086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082235" y="1280160"/>
            <a:ext cx="274045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100" dirty="0">
                <a:solidFill>
                  <a:srgbClr val="6F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dirty="0"/>
          </a:p>
        </p:txBody>
      </p:sp>
      <p:sp>
        <p:nvSpPr>
          <p:cNvPr id="11" name="Text 7"/>
          <p:cNvSpPr txBox="1"/>
          <p:nvPr/>
        </p:nvSpPr>
        <p:spPr>
          <a:xfrm>
            <a:off x="4414723" y="2029968"/>
            <a:ext cx="336224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–"/>
            </a:pPr>
            <a:r>
              <a:rPr lang="en-US" sz="1600" dirty="0">
                <a:solidFill>
                  <a:srgbClr val="A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–"/>
            </a:pPr>
            <a:r>
              <a:rPr lang="en-US" sz="1600" dirty="0">
                <a:solidFill>
                  <a:srgbClr val="A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OCR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–"/>
            </a:pPr>
            <a:r>
              <a:rPr lang="en-US" sz="1600" dirty="0">
                <a:solidFill>
                  <a:srgbClr val="A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scheme datasets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–"/>
            </a:pPr>
            <a:r>
              <a:rPr lang="en-US" sz="1600" dirty="0">
                <a:solidFill>
                  <a:srgbClr val="A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document intelligence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7877556" y="1554480"/>
            <a:ext cx="256032" cy="0"/>
          </a:xfrm>
          <a:prstGeom prst="line">
            <a:avLst/>
          </a:prstGeom>
          <a:noFill/>
          <a:ln w="19050">
            <a:solidFill>
              <a:srgbClr val="3A5578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8188452" y="12801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/home/claude/arogya/icons/road_fu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9153" y="1400861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901684" y="1280160"/>
            <a:ext cx="274045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100" dirty="0">
                <a:solidFill>
                  <a:srgbClr val="6F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</a:t>
            </a:r>
            <a:endParaRPr lang="en-US" dirty="0"/>
          </a:p>
        </p:txBody>
      </p:sp>
      <p:sp>
        <p:nvSpPr>
          <p:cNvPr id="16" name="Text 11"/>
          <p:cNvSpPr txBox="1"/>
          <p:nvPr/>
        </p:nvSpPr>
        <p:spPr>
          <a:xfrm>
            <a:off x="8234172" y="2029968"/>
            <a:ext cx="336224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–"/>
            </a:pPr>
            <a:r>
              <a:rPr lang="en-US" sz="1600" dirty="0">
                <a:solidFill>
                  <a:srgbClr val="A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ABDM ecosystem integration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–"/>
            </a:pPr>
            <a:r>
              <a:rPr lang="en-US" sz="1600" dirty="0">
                <a:solidFill>
                  <a:srgbClr val="A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integrations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–"/>
            </a:pPr>
            <a:r>
              <a:rPr lang="en-US" sz="1600" dirty="0">
                <a:solidFill>
                  <a:srgbClr val="A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 integrations</a:t>
            </a:r>
            <a:endParaRPr lang="en-US" sz="1600" dirty="0"/>
          </a:p>
          <a:p>
            <a:pPr marL="342900" indent="-342900">
              <a:lnSpc>
                <a:spcPct val="140000"/>
              </a:lnSpc>
              <a:buSzPct val="100000"/>
              <a:buChar char="–"/>
            </a:pPr>
            <a:r>
              <a:rPr lang="en-US" sz="1600" dirty="0">
                <a:solidFill>
                  <a:srgbClr val="A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grievance workflows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280160" y="3977640"/>
            <a:ext cx="9628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ArogyaRakshak turns fragmented post-discharge healthcare administration into </a:t>
            </a:r>
            <a:r>
              <a:rPr lang="en-US" sz="2000" b="1" dirty="0">
                <a:solidFill>
                  <a:srgbClr val="6F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context-aware, AI-assisted workflow</a:t>
            </a: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9554" y="5074920"/>
            <a:ext cx="3453689" cy="960120"/>
          </a:xfrm>
          <a:prstGeom prst="roundRect">
            <a:avLst>
              <a:gd name="adj" fmla="val 8571"/>
            </a:avLst>
          </a:prstGeom>
          <a:solidFill>
            <a:srgbClr val="1B3A63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750722" y="5221224"/>
            <a:ext cx="30513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kern="0" spc="30" dirty="0">
                <a:solidFill>
                  <a:srgbClr val="6F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750722" y="5623560"/>
            <a:ext cx="30513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+ Web + ArogyaVault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369003" y="5074920"/>
            <a:ext cx="3453689" cy="960120"/>
          </a:xfrm>
          <a:prstGeom prst="roundRect">
            <a:avLst>
              <a:gd name="adj" fmla="val 8571"/>
            </a:avLst>
          </a:prstGeom>
          <a:solidFill>
            <a:srgbClr val="1B3A63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4570171" y="5221224"/>
            <a:ext cx="30513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kern="0" spc="30" dirty="0">
                <a:solidFill>
                  <a:srgbClr val="6F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INTELLIGENCE LAYER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4576033" y="5752520"/>
            <a:ext cx="30513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KADI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8188452" y="5074920"/>
            <a:ext cx="3453689" cy="960120"/>
          </a:xfrm>
          <a:prstGeom prst="roundRect">
            <a:avLst>
              <a:gd name="adj" fmla="val 8571"/>
            </a:avLst>
          </a:prstGeom>
          <a:solidFill>
            <a:srgbClr val="1B3A63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389620" y="5221224"/>
            <a:ext cx="30513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kern="0" spc="30" dirty="0">
                <a:solidFill>
                  <a:srgbClr val="6F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SPECIALIZED WORKFLOWS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8389620" y="5523916"/>
            <a:ext cx="30513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BillNyay • DawaCheck • SchemeSetu • DaaviSetu • BimaNyay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documents → understanding → action.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723</Words>
  <Application>Microsoft Office PowerPoint</Application>
  <PresentationFormat>Widescreen</PresentationFormat>
  <Paragraphs>251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Viraj Jadhao</cp:lastModifiedBy>
  <cp:revision>3</cp:revision>
  <dcterms:created xsi:type="dcterms:W3CDTF">2026-09-09T10:48:48Z</dcterms:created>
  <dcterms:modified xsi:type="dcterms:W3CDTF">2026-09-09T11:10:20Z</dcterms:modified>
</cp:coreProperties>
</file>