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11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the administrative side of diabetes care is its own battle. We're not pitching a new idea — we're applying an existing, working platform (ArogyaRakshak) to this specific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Grounded, cited problem framing — no invented statistics. ICMR-INDIAB (Lancet Diabetes &amp; Endocrinology, 2023) and National Health Accounts 2022-23 (Govt of India) are both official/peer-reviewed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Documents to action, not documents to decisions — the core positioning line the whole deck reinforces.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Explicitly declares existing work per submission rules. DawaCheck is de-emphasized honestly — it's real but not central to the insurance/scheme/paperwork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Explicitly labeled PROTOTYPE per submission rules — the status vocabulary (present/missing/needs review) mirrors what DaaviSetu's readiness checker and SchemeSetu's eligibility engine already return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Provenance labels (Machine-derived / Human-reviewed / Human-authored / External source / Patient-provided) are real, shipped UI vocabulary — not invented for this slide. Doctor's name pending confirmation from Viraj; placeholder used until then.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same 'documents to action' line the deck opened its positioning with. No deployment or outcome claims — MVP and impact are both framed as forward-looking.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10" Type="http://schemas.openxmlformats.org/officeDocument/2006/relationships/image" Target="../media/image16.png"/><Relationship Id="rId4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HEALTH-A-THON 2026  ·  DIABETES CARE  ·  FINANCIAL &amp; ADMINISTRATIVE SUPPORT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412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ArogyaRakshak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evidence-grounded healthcare administration platform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6596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managing diabetes becomes</a:t>
            </a:r>
            <a:endParaRPr lang="en-US" sz="4800" dirty="0"/>
          </a:p>
          <a:p>
            <a:pPr marL="0" indent="0">
              <a:lnSpc>
                <a:spcPct val="104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administrative battle.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21208" y="36118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financial &amp; administrative support for patients and caregivers — built on an existing ArogyaRakshak platform, focused here on diabetes care.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4617720"/>
            <a:ext cx="11183112" cy="1417320"/>
          </a:xfrm>
          <a:prstGeom prst="roundRect">
            <a:avLst>
              <a:gd name="adj" fmla="val 9032"/>
            </a:avLst>
          </a:prstGeom>
          <a:solidFill>
            <a:srgbClr val="111827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4873752"/>
            <a:ext cx="457200" cy="457200"/>
          </a:xfrm>
          <a:prstGeom prst="ellipse">
            <a:avLst/>
          </a:prstGeom>
          <a:solidFill>
            <a:srgbClr val="1A2338"/>
          </a:solidFill>
          <a:ln/>
        </p:spPr>
      </p:sp>
      <p:pic>
        <p:nvPicPr>
          <p:cNvPr id="9" name="Image 0" descr="C:\Users\VIRAJ\AppData\Local\Temp\claude\D--FinalYearProject-Arogyarakshak\34c24276-2faa-49f0-98b9-3988971ec081\scratchpad\deck\icons\bil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4976622"/>
            <a:ext cx="251460" cy="2514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5367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</a:t>
            </a:r>
            <a:endParaRPr lang="en-US" sz="1000" dirty="0"/>
          </a:p>
        </p:txBody>
      </p:sp>
      <p:pic>
        <p:nvPicPr>
          <p:cNvPr id="11" name="Image 1" descr="C:\Users\VIRAJ\AppData\Local\Temp\claude\D--FinalYearProject-Arogyarakshak\34c24276-2faa-49f0-98b9-3988971ec081\scratchpad\deck\icons\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032" y="498348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664208" y="4873752"/>
            <a:ext cx="457200" cy="457200"/>
          </a:xfrm>
          <a:prstGeom prst="ellipse">
            <a:avLst/>
          </a:prstGeom>
          <a:solidFill>
            <a:srgbClr val="1A2338"/>
          </a:solidFill>
          <a:ln/>
        </p:spPr>
      </p:sp>
      <p:pic>
        <p:nvPicPr>
          <p:cNvPr id="13" name="Image 2" descr="C:\Users\VIRAJ\AppData\Local\Temp\claude\D--FinalYearProject-Arogyarakshak\34c24276-2faa-49f0-98b9-3988971ec081\scratchpad\deck\icons\shiel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7078" y="4976622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44168" y="5367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000" dirty="0"/>
          </a:p>
        </p:txBody>
      </p:sp>
      <p:pic>
        <p:nvPicPr>
          <p:cNvPr id="15" name="Image 3" descr="C:\Users\VIRAJ\AppData\Local\Temp\claude\D--FinalYearProject-Arogyarakshak\34c24276-2faa-49f0-98b9-3988971ec081\scratchpad\deck\icons\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4983480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459736" y="4873752"/>
            <a:ext cx="457200" cy="457200"/>
          </a:xfrm>
          <a:prstGeom prst="ellipse">
            <a:avLst/>
          </a:prstGeom>
          <a:solidFill>
            <a:srgbClr val="1A2338"/>
          </a:solidFill>
          <a:ln/>
        </p:spPr>
      </p:sp>
      <p:pic>
        <p:nvPicPr>
          <p:cNvPr id="17" name="Image 4" descr="C:\Users\VIRAJ\AppData\Local\Temp\claude\D--FinalYearProject-Arogyarakshak\34c24276-2faa-49f0-98b9-3988971ec081\scratchpad\deck\icons\awar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2606" y="4976622"/>
            <a:ext cx="251460" cy="2514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139696" y="5367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</a:t>
            </a:r>
            <a:endParaRPr lang="en-US" sz="1000" dirty="0"/>
          </a:p>
        </p:txBody>
      </p:sp>
      <p:pic>
        <p:nvPicPr>
          <p:cNvPr id="19" name="Image 5" descr="C:\Users\VIRAJ\AppData\Local\Temp\claude\D--FinalYearProject-Arogyarakshak\34c24276-2faa-49f0-98b9-3988971ec081\scratchpad\deck\icons\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088" y="4983480"/>
            <a:ext cx="201168" cy="20116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3255264" y="4873752"/>
            <a:ext cx="457200" cy="457200"/>
          </a:xfrm>
          <a:prstGeom prst="ellipse">
            <a:avLst/>
          </a:prstGeom>
          <a:solidFill>
            <a:srgbClr val="1A2338"/>
          </a:solidFill>
          <a:ln/>
        </p:spPr>
      </p:sp>
      <p:pic>
        <p:nvPicPr>
          <p:cNvPr id="21" name="Image 6" descr="C:\Users\VIRAJ\AppData\Local\Temp\claude\D--FinalYearProject-Arogyarakshak\34c24276-2faa-49f0-98b9-3988971ec081\scratchpad\deck\icons\clipboard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8134" y="4976622"/>
            <a:ext cx="251460" cy="25146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2935224" y="5367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000" dirty="0"/>
          </a:p>
        </p:txBody>
      </p:sp>
      <p:pic>
        <p:nvPicPr>
          <p:cNvPr id="23" name="Image 7" descr="C:\Users\VIRAJ\AppData\Local\Temp\claude\D--FinalYearProject-Arogyarakshak\34c24276-2faa-49f0-98b9-3988971ec081\scratchpad\deck\icons\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4983480"/>
            <a:ext cx="201168" cy="201168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4050792" y="4873752"/>
            <a:ext cx="457200" cy="457200"/>
          </a:xfrm>
          <a:prstGeom prst="ellipse">
            <a:avLst/>
          </a:prstGeom>
          <a:solidFill>
            <a:srgbClr val="8A5A12"/>
          </a:solidFill>
          <a:ln/>
        </p:spPr>
      </p:sp>
      <p:pic>
        <p:nvPicPr>
          <p:cNvPr id="25" name="Image 8" descr="C:\Users\VIRAJ\AppData\Local\Temp\claude\D--FinalYearProject-Arogyarakshak\34c24276-2faa-49f0-98b9-3988971ec081\scratchpad\deck\icons\alertoctago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3662" y="4976622"/>
            <a:ext cx="251460" cy="25146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3730752" y="53675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</a:t>
            </a:r>
            <a:endParaRPr lang="en-US" sz="1000" dirty="0"/>
          </a:p>
        </p:txBody>
      </p:sp>
      <p:pic>
        <p:nvPicPr>
          <p:cNvPr id="27" name="Image 9" descr="C:\Users\VIRAJ\AppData\Local\Temp\claude\D--FinalYearProject-Arogyarakshak\34c24276-2faa-49f0-98b9-3988971ec081\scratchpad\deck\icons\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4983480"/>
            <a:ext cx="237744" cy="237744"/>
          </a:xfrm>
          <a:prstGeom prst="rect">
            <a:avLst/>
          </a:prstGeom>
        </p:spPr>
      </p:pic>
      <p:sp>
        <p:nvSpPr>
          <p:cNvPr id="28" name="Shape 16"/>
          <p:cNvSpPr/>
          <p:nvPr/>
        </p:nvSpPr>
        <p:spPr>
          <a:xfrm>
            <a:off x="5303520" y="4828032"/>
            <a:ext cx="566928" cy="566928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9" name="Image 10" descr="C:\Users\VIRAJ\AppData\Local\Temp\claude\D--FinalYearProject-Arogyarakshak\34c24276-2faa-49f0-98b9-3988971ec081\scratchpad\deck\icons\layers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5252" y="4969764"/>
            <a:ext cx="283464" cy="283464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4846320" y="54223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AROGYARAKSHAK</a:t>
            </a:r>
            <a:endParaRPr lang="en-US" sz="1000" dirty="0"/>
          </a:p>
        </p:txBody>
      </p:sp>
      <p:sp>
        <p:nvSpPr>
          <p:cNvPr id="31" name="Shape 18"/>
          <p:cNvSpPr/>
          <p:nvPr/>
        </p:nvSpPr>
        <p:spPr>
          <a:xfrm>
            <a:off x="6217920" y="4946904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1A2338"/>
          </a:solidFill>
          <a:ln/>
        </p:spPr>
      </p:sp>
      <p:sp>
        <p:nvSpPr>
          <p:cNvPr id="32" name="Text 19"/>
          <p:cNvSpPr txBox="1"/>
          <p:nvPr/>
        </p:nvSpPr>
        <p:spPr>
          <a:xfrm>
            <a:off x="6373368" y="4946904"/>
            <a:ext cx="10446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400" dirty="0"/>
          </a:p>
        </p:txBody>
      </p:sp>
      <p:pic>
        <p:nvPicPr>
          <p:cNvPr id="33" name="Image 11" descr="C:\Users\VIRAJ\AppData\Local\Temp\claude\D--FinalYearProject-Arogyarakshak\34c24276-2faa-49f0-98b9-3988971ec081\scratchpad\deck\icons\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8443" y="5056632"/>
            <a:ext cx="182880" cy="182880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7790688" y="4946904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1A2338"/>
          </a:solidFill>
          <a:ln/>
        </p:spPr>
      </p:sp>
      <p:sp>
        <p:nvSpPr>
          <p:cNvPr id="35" name="Text 21"/>
          <p:cNvSpPr txBox="1"/>
          <p:nvPr/>
        </p:nvSpPr>
        <p:spPr>
          <a:xfrm>
            <a:off x="8180476" y="4946904"/>
            <a:ext cx="5406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pic>
        <p:nvPicPr>
          <p:cNvPr id="36" name="Image 12" descr="C:\Users\VIRAJ\AppData\Local\Temp\claude\D--FinalYearProject-Arogyarakshak\34c24276-2faa-49f0-98b9-3988971ec081\scratchpad\deck\icons\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5351" y="5056632"/>
            <a:ext cx="182880" cy="182880"/>
          </a:xfrm>
          <a:prstGeom prst="rect">
            <a:avLst/>
          </a:prstGeom>
        </p:spPr>
      </p:pic>
      <p:sp>
        <p:nvSpPr>
          <p:cNvPr id="37" name="Shape 22"/>
          <p:cNvSpPr/>
          <p:nvPr/>
        </p:nvSpPr>
        <p:spPr>
          <a:xfrm>
            <a:off x="9363456" y="4946904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</p:sp>
      <p:sp>
        <p:nvSpPr>
          <p:cNvPr id="38" name="Text 23"/>
          <p:cNvSpPr txBox="1"/>
          <p:nvPr/>
        </p:nvSpPr>
        <p:spPr>
          <a:xfrm>
            <a:off x="9923467" y="4924044"/>
            <a:ext cx="2972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39" name="Text 24"/>
          <p:cNvSpPr txBox="1"/>
          <p:nvPr/>
        </p:nvSpPr>
        <p:spPr>
          <a:xfrm>
            <a:off x="50292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r>
              <a:rPr lang="en-US" sz="1100" b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Viraj Jadhao  ·  Sanjali Paygude  ·  Anurag Pawar  ·  Dr. Priyal Kulkarni, BAMS</a:t>
            </a:r>
            <a:endParaRPr lang="en-US" sz="1100" dirty="0"/>
          </a:p>
        </p:txBody>
      </p:sp>
      <p:sp>
        <p:nvSpPr>
          <p:cNvPr id="40" name="Text 25"/>
          <p:cNvSpPr txBox="1"/>
          <p:nvPr/>
        </p:nvSpPr>
        <p:spPr>
          <a:xfrm>
            <a:off x="8595360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Engineering · SPPU · AY 2026–27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journey isn’t the only journey.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lifelong condition like diabetes, the paperwork never really ends — and it rarely goes in a straight line.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39572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0E17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213055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7" name="Image 0" descr="C:\Users\VIRAJ\AppData\Local\Temp\claude\D--FinalYearProject-Arogyarakshak\34c24276-2faa-49f0-98b9-3988971ec081\scratchpad\deck\icons\hospita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82" y="2233422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67512" y="2642616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visit</a:t>
            </a:r>
            <a:endParaRPr lang="en-US" sz="1200" dirty="0"/>
          </a:p>
        </p:txBody>
      </p:sp>
      <p:pic>
        <p:nvPicPr>
          <p:cNvPr id="9" name="Image 1" descr="C:\Users\VIRAJ\AppData\Local\Temp\claude\D--FinalYearProject-Arogyarakshak\34c24276-2faa-49f0-98b9-3988971ec081\scratchpad\deck\icons\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36" y="2450592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154680" y="1965960"/>
            <a:ext cx="239572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0E17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319272" y="213055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2" name="Image 2" descr="C:\Users\VIRAJ\AppData\Local\Temp\claude\D--FinalYearProject-Arogyarakshak\34c24276-2faa-49f0-98b9-3988971ec081\scratchpad\deck\icons\bill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2142" y="2233422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319272" y="2642616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+ documents</a:t>
            </a:r>
            <a:endParaRPr lang="en-US" sz="1200" dirty="0"/>
          </a:p>
        </p:txBody>
      </p:sp>
      <p:pic>
        <p:nvPicPr>
          <p:cNvPr id="14" name="Image 3" descr="C:\Users\VIRAJ\AppData\Local\Temp\claude\D--FinalYearProject-Arogyarakshak\34c24276-2faa-49f0-98b9-3988971ec081\scratchpad\deck\icons\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696" y="2450592"/>
            <a:ext cx="201168" cy="20116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806440" y="1965960"/>
            <a:ext cx="239572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0E17">
                <a:alpha val="14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5971032" y="213055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7" name="Image 4" descr="C:\Users\VIRAJ\AppData\Local\Temp\claude\D--FinalYearProject-Arogyarakshak\34c24276-2faa-49f0-98b9-3988971ec081\scratchpad\deck\icons\shiel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3902" y="2233422"/>
            <a:ext cx="251460" cy="2514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971032" y="2642616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/ reimbursement</a:t>
            </a:r>
            <a:endParaRPr lang="en-US" sz="1200" dirty="0"/>
          </a:p>
        </p:txBody>
      </p:sp>
      <p:pic>
        <p:nvPicPr>
          <p:cNvPr id="19" name="Image 5" descr="C:\Users\VIRAJ\AppData\Local\Temp\claude\D--FinalYearProject-Arogyarakshak\34c24276-2faa-49f0-98b9-3988971ec081\scratchpad\deck\icons\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2450592"/>
            <a:ext cx="201168" cy="20116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458200" y="1965960"/>
            <a:ext cx="239572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0E17">
                <a:alpha val="14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8622792" y="213055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22" name="Image 6" descr="C:\Users\VIRAJ\AppData\Local\Temp\claude\D--FinalYearProject-Arogyarakshak\34c24276-2faa-49f0-98b9-3988971ec081\scratchpad\deck\icons\award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25662" y="2233422"/>
            <a:ext cx="251460" cy="25146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8622792" y="2642616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</a:t>
            </a:r>
            <a:endParaRPr lang="en-US" sz="1200" dirty="0"/>
          </a:p>
        </p:txBody>
      </p:sp>
      <p:sp>
        <p:nvSpPr>
          <p:cNvPr id="24" name="Shape 15"/>
          <p:cNvSpPr/>
          <p:nvPr/>
        </p:nvSpPr>
        <p:spPr>
          <a:xfrm>
            <a:off x="10835640" y="3136392"/>
            <a:ext cx="0" cy="292608"/>
          </a:xfrm>
          <a:prstGeom prst="line">
            <a:avLst/>
          </a:prstGeom>
          <a:noFill/>
          <a:ln w="19050">
            <a:solidFill>
              <a:srgbClr val="8B98B3"/>
            </a:solidFill>
            <a:prstDash val="dash"/>
          </a:ln>
        </p:spPr>
      </p:sp>
      <p:sp>
        <p:nvSpPr>
          <p:cNvPr id="25" name="Shape 16"/>
          <p:cNvSpPr/>
          <p:nvPr/>
        </p:nvSpPr>
        <p:spPr>
          <a:xfrm>
            <a:off x="502920" y="3429000"/>
            <a:ext cx="239572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0E17">
                <a:alpha val="14000"/>
              </a:srgbClr>
            </a:outerShdw>
          </a:effectLst>
        </p:spPr>
      </p:sp>
      <p:sp>
        <p:nvSpPr>
          <p:cNvPr id="26" name="Shape 17"/>
          <p:cNvSpPr/>
          <p:nvPr/>
        </p:nvSpPr>
        <p:spPr>
          <a:xfrm>
            <a:off x="667512" y="359359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7" name="Image 7" descr="C:\Users\VIRAJ\AppData\Local\Temp\claude\D--FinalYearProject-Arogyarakshak\34c24276-2faa-49f0-98b9-3988971ec081\scratchpad\deck\icons\alertoctago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382" y="3696462"/>
            <a:ext cx="251460" cy="25146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667512" y="4105656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support / higher</a:t>
            </a:r>
            <a:endParaRPr lang="en-US" sz="1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out-of-pocket burden</a:t>
            </a:r>
            <a:endParaRPr lang="en-US" sz="1200" dirty="0"/>
          </a:p>
        </p:txBody>
      </p:sp>
      <p:pic>
        <p:nvPicPr>
          <p:cNvPr id="29" name="Image 8" descr="C:\Users\VIRAJ\AppData\Local\Temp\claude\D--FinalYearProject-Arogyarakshak\34c24276-2faa-49f0-98b9-3988971ec081\scratchpad\deck\icons\arrow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2916936" y="3913632"/>
            <a:ext cx="201168" cy="201168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3154680" y="3429000"/>
            <a:ext cx="239572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0E17">
                <a:alpha val="14000"/>
              </a:srgbClr>
            </a:outerShdw>
          </a:effectLst>
        </p:spPr>
      </p:sp>
      <p:sp>
        <p:nvSpPr>
          <p:cNvPr id="31" name="Shape 20"/>
          <p:cNvSpPr/>
          <p:nvPr/>
        </p:nvSpPr>
        <p:spPr>
          <a:xfrm>
            <a:off x="3319272" y="359359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2" name="Image 9" descr="C:\Users\VIRAJ\AppData\Local\Temp\claude\D--FinalYearProject-Arogyarakshak\34c24276-2faa-49f0-98b9-3988971ec081\scratchpad\deck\icons\search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2142" y="3696462"/>
            <a:ext cx="251460" cy="25146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3319272" y="4105656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interaction</a:t>
            </a:r>
            <a:endParaRPr lang="en-US" sz="1200" dirty="0"/>
          </a:p>
        </p:txBody>
      </p:sp>
      <p:pic>
        <p:nvPicPr>
          <p:cNvPr id="34" name="Image 10" descr="C:\Users\VIRAJ\AppData\Local\Temp\claude\D--FinalYearProject-Arogyarakshak\34c24276-2faa-49f0-98b9-3988971ec081\scratchpad\deck\icons\arrow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5568696" y="3913632"/>
            <a:ext cx="201168" cy="201168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5806440" y="3429000"/>
            <a:ext cx="239572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0E17">
                <a:alpha val="14000"/>
              </a:srgbClr>
            </a:outerShdw>
          </a:effectLst>
        </p:spPr>
      </p:sp>
      <p:sp>
        <p:nvSpPr>
          <p:cNvPr id="36" name="Shape 23"/>
          <p:cNvSpPr/>
          <p:nvPr/>
        </p:nvSpPr>
        <p:spPr>
          <a:xfrm>
            <a:off x="5971032" y="359359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37" name="Image 11" descr="C:\Users\VIRAJ\AppData\Local\Temp\claude\D--FinalYearProject-Arogyarakshak\34c24276-2faa-49f0-98b9-3988971ec081\scratchpad\deck\icons\clipboard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3902" y="3696462"/>
            <a:ext cx="251460" cy="251460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5971032" y="4105656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document</a:t>
            </a:r>
            <a:endParaRPr lang="en-US" sz="1200" dirty="0"/>
          </a:p>
        </p:txBody>
      </p:sp>
      <p:pic>
        <p:nvPicPr>
          <p:cNvPr id="39" name="Image 12" descr="C:\Users\VIRAJ\AppData\Local\Temp\claude\D--FinalYearProject-Arogyarakshak\34c24276-2faa-49f0-98b9-3988971ec081\scratchpad\deck\icons\arrow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8220456" y="3913632"/>
            <a:ext cx="201168" cy="201168"/>
          </a:xfrm>
          <a:prstGeom prst="rect">
            <a:avLst/>
          </a:prstGeom>
        </p:spPr>
      </p:pic>
      <p:sp>
        <p:nvSpPr>
          <p:cNvPr id="40" name="Shape 25"/>
          <p:cNvSpPr/>
          <p:nvPr/>
        </p:nvSpPr>
        <p:spPr>
          <a:xfrm>
            <a:off x="8458200" y="3429000"/>
            <a:ext cx="2395728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0E17">
                <a:alpha val="14000"/>
              </a:srgbClr>
            </a:outerShdw>
          </a:effectLst>
        </p:spPr>
      </p:sp>
      <p:sp>
        <p:nvSpPr>
          <p:cNvPr id="41" name="Shape 26"/>
          <p:cNvSpPr/>
          <p:nvPr/>
        </p:nvSpPr>
        <p:spPr>
          <a:xfrm>
            <a:off x="8622792" y="359359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42" name="Image 13" descr="C:\Users\VIRAJ\AppData\Local\Temp\claude\D--FinalYearProject-Arogyarakshak\34c24276-2faa-49f0-98b9-3988971ec081\scratchpad\deck\icons\compass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25662" y="3696462"/>
            <a:ext cx="251460" cy="251460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8622792" y="4105656"/>
            <a:ext cx="2066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/ paperwork</a:t>
            </a:r>
            <a:endParaRPr lang="en-US" sz="1200" dirty="0"/>
          </a:p>
        </p:txBody>
      </p:sp>
      <p:sp>
        <p:nvSpPr>
          <p:cNvPr id="44" name="Text 28"/>
          <p:cNvSpPr txBox="1"/>
          <p:nvPr/>
        </p:nvSpPr>
        <p:spPr>
          <a:xfrm>
            <a:off x="521208" y="4828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may exist. The problem is navigating it.</a:t>
            </a:r>
            <a:endParaRPr lang="en-US" dirty="0"/>
          </a:p>
        </p:txBody>
      </p:sp>
      <p:sp>
        <p:nvSpPr>
          <p:cNvPr id="45" name="Shape 29"/>
          <p:cNvSpPr/>
          <p:nvPr/>
        </p:nvSpPr>
        <p:spPr>
          <a:xfrm>
            <a:off x="502920" y="534924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0E17">
                <a:alpha val="12000"/>
              </a:srgbClr>
            </a:outerShdw>
          </a:effectLst>
        </p:spPr>
      </p:sp>
      <p:sp>
        <p:nvSpPr>
          <p:cNvPr id="46" name="Text 30"/>
          <p:cNvSpPr txBox="1"/>
          <p:nvPr/>
        </p:nvSpPr>
        <p:spPr>
          <a:xfrm>
            <a:off x="704088" y="5440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~101M</a:t>
            </a:r>
            <a:endParaRPr lang="en-US" sz="4000" dirty="0"/>
          </a:p>
        </p:txBody>
      </p:sp>
      <p:sp>
        <p:nvSpPr>
          <p:cNvPr id="47" name="Text 31"/>
          <p:cNvSpPr txBox="1"/>
          <p:nvPr/>
        </p:nvSpPr>
        <p:spPr>
          <a:xfrm>
            <a:off x="2377440" y="5553459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 India live with diabetes</a:t>
            </a:r>
            <a:endParaRPr lang="en-US" sz="1400" dirty="0"/>
          </a:p>
        </p:txBody>
      </p:sp>
      <p:sp>
        <p:nvSpPr>
          <p:cNvPr id="48" name="Text 32"/>
          <p:cNvSpPr txBox="1"/>
          <p:nvPr/>
        </p:nvSpPr>
        <p:spPr>
          <a:xfrm>
            <a:off x="2377440" y="58134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ICMR–INDIAB national study, The Lancet Diabetes &amp; Endocrinology, 2023</a:t>
            </a:r>
            <a:endParaRPr lang="en-US" sz="1000" dirty="0"/>
          </a:p>
        </p:txBody>
      </p:sp>
      <p:sp>
        <p:nvSpPr>
          <p:cNvPr id="49" name="Shape 33"/>
          <p:cNvSpPr/>
          <p:nvPr/>
        </p:nvSpPr>
        <p:spPr>
          <a:xfrm>
            <a:off x="6263640" y="5349240"/>
            <a:ext cx="5394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0A0E17">
                <a:alpha val="12000"/>
              </a:srgbClr>
            </a:outerShdw>
          </a:effectLst>
        </p:spPr>
      </p:sp>
      <p:sp>
        <p:nvSpPr>
          <p:cNvPr id="50" name="Text 34"/>
          <p:cNvSpPr txBox="1"/>
          <p:nvPr/>
        </p:nvSpPr>
        <p:spPr>
          <a:xfrm>
            <a:off x="6464808" y="5440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43.4%</a:t>
            </a:r>
            <a:endParaRPr lang="en-US" sz="4000" dirty="0"/>
          </a:p>
        </p:txBody>
      </p:sp>
      <p:sp>
        <p:nvSpPr>
          <p:cNvPr id="51" name="Text 35"/>
          <p:cNvSpPr txBox="1"/>
          <p:nvPr/>
        </p:nvSpPr>
        <p:spPr>
          <a:xfrm>
            <a:off x="8138160" y="544794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India’s health spending is paid out-of-pocket by households</a:t>
            </a:r>
            <a:endParaRPr lang="en-US" sz="1400" dirty="0"/>
          </a:p>
        </p:txBody>
      </p:sp>
      <p:sp>
        <p:nvSpPr>
          <p:cNvPr id="52" name="Text 36"/>
          <p:cNvSpPr txBox="1"/>
          <p:nvPr/>
        </p:nvSpPr>
        <p:spPr>
          <a:xfrm>
            <a:off x="8138160" y="591311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Health Accounts Estimates for India 2022–23, Union Ministry of Health &amp; FW</a:t>
            </a:r>
            <a:endParaRPr lang="en-US" sz="1000" dirty="0"/>
          </a:p>
        </p:txBody>
      </p:sp>
      <p:sp>
        <p:nvSpPr>
          <p:cNvPr id="53" name="Text 37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case. One evidence trail. One guided workflow.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06040" cy="32461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0E17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8379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59152" y="1837944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7" name="Image 0" descr="C:\Users\VIRAJ\AppData\Local\Temp\claude\D--FinalYearProject-Arogyarakshak\34c24276-2faa-49f0-98b9-3988971ec081\scratchpad\deck\icons\uploa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309" y="1951101"/>
            <a:ext cx="276606" cy="27660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3134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788920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Bill, policy, hospital &amp; scheme documents</a:t>
            </a:r>
            <a:endParaRPr lang="en-US" sz="108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or file — nothing pre-typed</a:t>
            </a:r>
            <a:endParaRPr lang="en-US" sz="1080" dirty="0"/>
          </a:p>
        </p:txBody>
      </p:sp>
      <p:pic>
        <p:nvPicPr>
          <p:cNvPr id="10" name="Image 1" descr="C:\Users\VIRAJ\AppData\Local\Temp\claude\D--FinalYearProject-Arogyarakshak\34c24276-2faa-49f0-98b9-3988971ec081\scratchpad\deck\icons\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3195828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64992" y="1691640"/>
            <a:ext cx="2606040" cy="32461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0E17">
                <a:alpha val="14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3547872" y="18379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221224" y="1837944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4" name="Image 2" descr="C:\Users\VIRAJ\AppData\Local\Temp\claude\D--FinalYearProject-Arogyarakshak\34c24276-2faa-49f0-98b9-3988971ec081\scratchpad\deck\icons\search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381" y="1951101"/>
            <a:ext cx="276606" cy="27660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47872" y="23134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3547872" y="2788920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document intelligence (Kadi)</a:t>
            </a:r>
            <a:endParaRPr lang="en-US" sz="108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extraction into one case context</a:t>
            </a:r>
            <a:endParaRPr lang="en-US" sz="1080" dirty="0"/>
          </a:p>
        </p:txBody>
      </p:sp>
      <p:pic>
        <p:nvPicPr>
          <p:cNvPr id="17" name="Image 3" descr="C:\Users\VIRAJ\AppData\Local\Temp\claude\D--FinalYearProject-Arogyarakshak\34c24276-2faa-49f0-98b9-3988971ec081\scratchpad\deck\icons\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195828"/>
            <a:ext cx="219456" cy="2194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27064" y="1691640"/>
            <a:ext cx="2606040" cy="324612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0E17">
                <a:alpha val="14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6409944" y="18379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083296" y="1837944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21" name="Image 4" descr="C:\Users\VIRAJ\AppData\Local\Temp\claude\D--FinalYearProject-Arogyarakshak\34c24276-2faa-49f0-98b9-3988971ec081\scratchpad\deck\icons\shiel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6453" y="1951101"/>
            <a:ext cx="276606" cy="27660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09944" y="23134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6409944" y="2788920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scheme rules, official sources</a:t>
            </a:r>
            <a:endParaRPr lang="en-US" sz="108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shows its evidence &amp; status</a:t>
            </a:r>
            <a:endParaRPr lang="en-US" sz="1080" dirty="0"/>
          </a:p>
        </p:txBody>
      </p:sp>
      <p:pic>
        <p:nvPicPr>
          <p:cNvPr id="24" name="Image 5" descr="C:\Users\VIRAJ\AppData\Local\Temp\claude\D--FinalYearProject-Arogyarakshak\34c24276-2faa-49f0-98b9-3988971ec081\scratchpad\deck\icons\arrow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2" y="3195828"/>
            <a:ext cx="219456" cy="21945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089136" y="1691640"/>
            <a:ext cx="2606040" cy="3246120"/>
          </a:xfrm>
          <a:prstGeom prst="roundRect">
            <a:avLst>
              <a:gd name="adj" fmla="val 4912"/>
            </a:avLst>
          </a:prstGeom>
          <a:solidFill>
            <a:srgbClr val="0A0E17"/>
          </a:solidFill>
          <a:ln/>
          <a:effectLst>
            <a:outerShdw blurRad="88900" dist="38100" dir="5400000" algn="bl" rotWithShape="0">
              <a:srgbClr val="0A0E17">
                <a:alpha val="14000"/>
              </a:srgbClr>
            </a:outerShdw>
          </a:effectLst>
        </p:spPr>
      </p:sp>
      <p:sp>
        <p:nvSpPr>
          <p:cNvPr id="26" name="Text 18"/>
          <p:cNvSpPr txBox="1"/>
          <p:nvPr/>
        </p:nvSpPr>
        <p:spPr>
          <a:xfrm>
            <a:off x="9272016" y="18379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10945368" y="1837944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8" name="Image 6" descr="C:\Users\VIRAJ\AppData\Local\Temp\claude\D--FinalYearProject-Arogyarakshak\34c24276-2faa-49f0-98b9-3988971ec081\scratchpad\deck\icons\file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58525" y="1951101"/>
            <a:ext cx="276606" cy="27660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9272016" y="23134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700" dirty="0"/>
          </a:p>
        </p:txBody>
      </p:sp>
      <p:sp>
        <p:nvSpPr>
          <p:cNvPr id="30" name="Text 21"/>
          <p:cNvSpPr txBox="1"/>
          <p:nvPr/>
        </p:nvSpPr>
        <p:spPr>
          <a:xfrm>
            <a:off x="9272016" y="2788920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Missing-document checklist</a:t>
            </a:r>
            <a:endParaRPr lang="en-US" sz="108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08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prep, appeal drafts, scheme pathway</a:t>
            </a:r>
            <a:endParaRPr lang="en-US" sz="1080" dirty="0"/>
          </a:p>
        </p:txBody>
      </p:sp>
      <p:sp>
        <p:nvSpPr>
          <p:cNvPr id="31" name="Shape 22"/>
          <p:cNvSpPr/>
          <p:nvPr/>
        </p:nvSpPr>
        <p:spPr>
          <a:xfrm>
            <a:off x="502920" y="5212080"/>
            <a:ext cx="11183112" cy="96012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/>
        </p:spPr>
      </p:sp>
      <p:sp>
        <p:nvSpPr>
          <p:cNvPr id="32" name="Text 23"/>
          <p:cNvSpPr txBox="1"/>
          <p:nvPr/>
        </p:nvSpPr>
        <p:spPr>
          <a:xfrm>
            <a:off x="822960" y="52120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 does not decide for the patient. It makes the evidence understandable and actionable.”</a:t>
            </a:r>
            <a:endParaRPr lang="en-US" sz="1700" dirty="0"/>
          </a:p>
        </p:txBody>
      </p:sp>
      <p:sp>
        <p:nvSpPr>
          <p:cNvPr id="33" name="Text 24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FOUNDATION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We’re not starting from a blank screen.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21208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ArogyaRakshak is a real, working monorepo today — six modules sharing one document-intelligence layer, Kadi.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63144" y="2057400"/>
            <a:ext cx="1755648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0E1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66648" y="2258568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7" name="Image 0" descr="C:\Users\VIRAJ\AppData\Local\Temp\claude\D--FinalYearProject-Arogyarakshak\34c24276-2faa-49f0-98b9-3988971ec081\scratchpad\deck\icons\lay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092" y="2382012"/>
            <a:ext cx="301752" cy="3017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36296" y="29260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Kadi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36296" y="320954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document</a:t>
            </a:r>
            <a:endParaRPr lang="en-US" sz="8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880" dirty="0"/>
          </a:p>
        </p:txBody>
      </p:sp>
      <p:sp>
        <p:nvSpPr>
          <p:cNvPr id="10" name="Shape 7"/>
          <p:cNvSpPr/>
          <p:nvPr/>
        </p:nvSpPr>
        <p:spPr>
          <a:xfrm>
            <a:off x="2365096" y="2057400"/>
            <a:ext cx="1755648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0E17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68600" y="2258568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2" name="Image 1" descr="C:\Users\VIRAJ\AppData\Local\Temp\claude\D--FinalYearProject-Arogyarakshak\34c24276-2faa-49f0-98b9-3988971ec081\scratchpad\deck\icons\bil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2044" y="2382012"/>
            <a:ext cx="301752" cy="30175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438248" y="29260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BillNyay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438248" y="320954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bill audit</a:t>
            </a:r>
            <a:endParaRPr lang="en-US" sz="8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CGHS rates</a:t>
            </a:r>
            <a:endParaRPr lang="en-US" sz="880" dirty="0"/>
          </a:p>
        </p:txBody>
      </p:sp>
      <p:sp>
        <p:nvSpPr>
          <p:cNvPr id="15" name="Shape 11"/>
          <p:cNvSpPr/>
          <p:nvPr/>
        </p:nvSpPr>
        <p:spPr>
          <a:xfrm>
            <a:off x="4267048" y="2057400"/>
            <a:ext cx="1755648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0E17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70552" y="2258568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7" name="Image 2" descr="C:\Users\VIRAJ\AppData\Local\Temp\claude\D--FinalYearProject-Arogyarakshak\34c24276-2faa-49f0-98b9-3988971ec081\scratchpad\deck\icons\clipboar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3996" y="2382012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340200" y="29260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DaaviSetu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4340200" y="320954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Pre-auth &amp; claim</a:t>
            </a:r>
            <a:endParaRPr lang="en-US" sz="8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prep</a:t>
            </a:r>
            <a:endParaRPr lang="en-US" sz="880" dirty="0"/>
          </a:p>
        </p:txBody>
      </p:sp>
      <p:sp>
        <p:nvSpPr>
          <p:cNvPr id="20" name="Shape 15"/>
          <p:cNvSpPr/>
          <p:nvPr/>
        </p:nvSpPr>
        <p:spPr>
          <a:xfrm>
            <a:off x="6169000" y="2057400"/>
            <a:ext cx="1755648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0E17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772504" y="2258568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22" name="Image 3" descr="C:\Users\VIRAJ\AppData\Local\Temp\claude\D--FinalYearProject-Arogyarakshak\34c24276-2faa-49f0-98b9-3988971ec081\scratchpad\deck\icons\gave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5948" y="2382012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242152" y="29260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BimaNyay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6242152" y="320954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analysis &amp;</a:t>
            </a:r>
            <a:endParaRPr lang="en-US" sz="8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drafting</a:t>
            </a:r>
            <a:endParaRPr lang="en-US" sz="880" dirty="0"/>
          </a:p>
        </p:txBody>
      </p:sp>
      <p:sp>
        <p:nvSpPr>
          <p:cNvPr id="25" name="Shape 19"/>
          <p:cNvSpPr/>
          <p:nvPr/>
        </p:nvSpPr>
        <p:spPr>
          <a:xfrm>
            <a:off x="8070952" y="2057400"/>
            <a:ext cx="1755648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A0E17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674456" y="2258568"/>
            <a:ext cx="548640" cy="54864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27" name="Image 4" descr="C:\Users\VIRAJ\AppData\Local\Temp\claude\D--FinalYearProject-Arogyarakshak\34c24276-2faa-49f0-98b9-3988971ec081\scratchpad\deck\icons\award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7900" y="2382012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144104" y="29260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SchemeSetu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8144104" y="320954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</a:t>
            </a:r>
            <a:endParaRPr lang="en-US" sz="8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880" dirty="0"/>
          </a:p>
        </p:txBody>
      </p:sp>
      <p:sp>
        <p:nvSpPr>
          <p:cNvPr id="30" name="Shape 23"/>
          <p:cNvSpPr/>
          <p:nvPr/>
        </p:nvSpPr>
        <p:spPr>
          <a:xfrm>
            <a:off x="9972904" y="2057400"/>
            <a:ext cx="1755648" cy="1691640"/>
          </a:xfrm>
          <a:prstGeom prst="roundRect">
            <a:avLst>
              <a:gd name="adj" fmla="val 7568"/>
            </a:avLst>
          </a:prstGeom>
          <a:solidFill>
            <a:srgbClr val="EEF1F6"/>
          </a:solidFill>
          <a:ln/>
          <a:effectLst>
            <a:outerShdw blurRad="88900" dist="38100" dir="5400000" algn="bl" rotWithShape="0">
              <a:srgbClr val="0A0E17">
                <a:alpha val="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10576408" y="2258568"/>
            <a:ext cx="548640" cy="548640"/>
          </a:xfrm>
          <a:prstGeom prst="ellipse">
            <a:avLst/>
          </a:prstGeom>
          <a:solidFill>
            <a:srgbClr val="8B98B3"/>
          </a:solidFill>
          <a:ln/>
        </p:spPr>
      </p:sp>
      <p:pic>
        <p:nvPicPr>
          <p:cNvPr id="32" name="Image 5" descr="C:\Users\VIRAJ\AppData\Local\Temp\claude\D--FinalYearProject-Arogyarakshak\34c24276-2faa-49f0-98b9-3988971ec081\scratchpad\deck\icons\pill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99852" y="2382012"/>
            <a:ext cx="301752" cy="30175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0046056" y="29260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DawaCheck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10046056" y="3209544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price</a:t>
            </a:r>
            <a:endParaRPr lang="en-US" sz="88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8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880" dirty="0"/>
          </a:p>
        </p:txBody>
      </p:sp>
      <p:sp>
        <p:nvSpPr>
          <p:cNvPr id="35" name="Text 27"/>
          <p:cNvSpPr txBox="1"/>
          <p:nvPr/>
        </p:nvSpPr>
        <p:spPr>
          <a:xfrm>
            <a:off x="9698584" y="380390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i="1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platform — not the focus here</a:t>
            </a:r>
            <a:endParaRPr lang="en-US" sz="760" dirty="0"/>
          </a:p>
        </p:txBody>
      </p:sp>
      <p:sp>
        <p:nvSpPr>
          <p:cNvPr id="36" name="Shape 28"/>
          <p:cNvSpPr/>
          <p:nvPr/>
        </p:nvSpPr>
        <p:spPr>
          <a:xfrm>
            <a:off x="502920" y="4251960"/>
            <a:ext cx="11183112" cy="1874520"/>
          </a:xfrm>
          <a:prstGeom prst="roundRect">
            <a:avLst>
              <a:gd name="adj" fmla="val 7805"/>
            </a:avLst>
          </a:prstGeom>
          <a:solidFill>
            <a:srgbClr val="0A0E17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822960" y="44714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HACKATHON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822960" y="476402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Care — Financial &amp; Administrative Support</a:t>
            </a:r>
            <a:endParaRPr lang="en-US" sz="2000" dirty="0"/>
          </a:p>
        </p:txBody>
      </p:sp>
      <p:sp>
        <p:nvSpPr>
          <p:cNvPr id="39" name="Text 31"/>
          <p:cNvSpPr txBox="1"/>
          <p:nvPr/>
        </p:nvSpPr>
        <p:spPr>
          <a:xfrm>
            <a:off x="822960" y="527608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Kadi + BillNyay + DaaviSetu + BimaNyay + SchemeSetu, focused into one guided workflow for a patient or caregiver managing diabetes.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7086600" y="457200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41" name="Image 6" descr="C:\Users\VIRAJ\AppData\Local\Temp\claude\D--FinalYearProject-Arogyarakshak\34c24276-2faa-49f0-98b9-3988971ec081\scratchpad\deck\icons\lay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470" y="4674870"/>
            <a:ext cx="251460" cy="251460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7653528" y="457200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43" name="Image 7" descr="C:\Users\VIRAJ\AppData\Local\Temp\claude\D--FinalYearProject-Arogyarakshak\34c24276-2faa-49f0-98b9-3988971ec081\scratchpad\deck\icons\bil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398" y="4674870"/>
            <a:ext cx="251460" cy="251460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8220456" y="457200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45" name="Image 8" descr="C:\Users\VIRAJ\AppData\Local\Temp\claude\D--FinalYearProject-Arogyarakshak\34c24276-2faa-49f0-98b9-3988971ec081\scratchpad\deck\icons\clipboar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3326" y="4674870"/>
            <a:ext cx="251460" cy="251460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8787384" y="457200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47" name="Image 9" descr="C:\Users\VIRAJ\AppData\Local\Temp\claude\D--FinalYearProject-Arogyarakshak\34c24276-2faa-49f0-98b9-3988971ec081\scratchpad\deck\icons\gave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254" y="4674870"/>
            <a:ext cx="251460" cy="251460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9354312" y="457200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49" name="Image 10" descr="C:\Users\VIRAJ\AppData\Local\Temp\claude\D--FinalYearProject-Arogyarakshak\34c24276-2faa-49f0-98b9-3988971ec081\scratchpad\deck\icons\award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7182" y="4674870"/>
            <a:ext cx="251460" cy="251460"/>
          </a:xfrm>
          <a:prstGeom prst="rect">
            <a:avLst/>
          </a:prstGeom>
        </p:spPr>
      </p:pic>
      <p:pic>
        <p:nvPicPr>
          <p:cNvPr id="50" name="Image 11" descr="C:\Users\VIRAJ\AppData\Local\Temp\claude\D--FinalYearProject-Arogyarakshak\34c24276-2faa-49f0-98b9-3988971ec081\scratchpad\deck\icons\arrow_cy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6960" y="4690872"/>
            <a:ext cx="256032" cy="256032"/>
          </a:xfrm>
          <a:prstGeom prst="rect">
            <a:avLst/>
          </a:prstGeom>
        </p:spPr>
      </p:pic>
      <p:sp>
        <p:nvSpPr>
          <p:cNvPr id="51" name="Shape 37"/>
          <p:cNvSpPr/>
          <p:nvPr/>
        </p:nvSpPr>
        <p:spPr>
          <a:xfrm>
            <a:off x="10378440" y="4498848"/>
            <a:ext cx="603504" cy="603504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52" name="Image 12" descr="C:\Users\VIRAJ\AppData\Local\Temp\claude\D--FinalYearProject-Arogyarakshak\34c24276-2faa-49f0-98b9-3988971ec081\scratchpad\deck\icons\target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29316" y="4649724"/>
            <a:ext cx="301752" cy="301752"/>
          </a:xfrm>
          <a:prstGeom prst="rect">
            <a:avLst/>
          </a:prstGeom>
        </p:spPr>
      </p:pic>
      <p:sp>
        <p:nvSpPr>
          <p:cNvPr id="53" name="Text 38"/>
          <p:cNvSpPr txBox="1"/>
          <p:nvPr/>
        </p:nvSpPr>
        <p:spPr>
          <a:xfrm>
            <a:off x="7086600" y="5257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diabetes</a:t>
            </a:r>
            <a:endParaRPr lang="en-US" sz="105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workflow</a:t>
            </a:r>
            <a:endParaRPr lang="en-US" sz="1050" dirty="0"/>
          </a:p>
        </p:txBody>
      </p:sp>
      <p:sp>
        <p:nvSpPr>
          <p:cNvPr id="54" name="Text 39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EXPERIENCE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02919" y="658368"/>
            <a:ext cx="97958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once. Don’t explain your case five times.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087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UPLOAD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2461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A0E17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0936" y="1911096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7" name="Image 0" descr="C:\Users\VIRAJ\AppData\Local\Temp\claude\D--FinalYearProject-Arogyarakshak\34c24276-2faa-49f0-98b9-3988971ec081\scratchpad\deck\icons\hospita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" y="2013966"/>
            <a:ext cx="251460" cy="2514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16152" y="182880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discharge document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2578608"/>
            <a:ext cx="32461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A0E17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" y="2660904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1" name="Image 1" descr="C:\Users\VIRAJ\AppData\Local\Temp\claude\D--FinalYearProject-Arogyarakshak\34c24276-2faa-49f0-98b9-3988971ec081\scratchpad\deck\icons\bill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06" y="2763774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16152" y="257860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bill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02920" y="3328416"/>
            <a:ext cx="32461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A0E17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0936" y="3410712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5" name="Image 2" descr="C:\Users\VIRAJ\AppData\Local\Temp\claude\D--FinalYearProject-Arogyarakshak\34c24276-2faa-49f0-98b9-3988971ec081\scratchpad\deck\icons\shiel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06" y="3513582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16152" y="3328416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policy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02920" y="4078224"/>
            <a:ext cx="32461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A0E17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30936" y="4160520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9" name="Image 3" descr="C:\Users\VIRAJ\AppData\Local\Temp\claude\D--FinalYearProject-Arogyarakshak\34c24276-2faa-49f0-98b9-3988971ec081\scratchpad\deck\icons\awar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806" y="4263390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16152" y="407822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document</a:t>
            </a:r>
            <a:endParaRPr lang="en-US" sz="1400" dirty="0"/>
          </a:p>
        </p:txBody>
      </p:sp>
      <p:pic>
        <p:nvPicPr>
          <p:cNvPr id="21" name="Image 4" descr="C:\Users\VIRAJ\AppData\Local\Temp\claude\D--FinalYearProject-Arogyarakshak\34c24276-2faa-49f0-98b9-3988971ec081\scratchpad\deck\icons\arrow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8768" y="3200400"/>
            <a:ext cx="310896" cy="31089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160520" y="1691640"/>
            <a:ext cx="7543800" cy="4709160"/>
          </a:xfrm>
          <a:prstGeom prst="roundRect">
            <a:avLst>
              <a:gd name="adj" fmla="val 3495"/>
            </a:avLst>
          </a:prstGeom>
          <a:solidFill>
            <a:srgbClr val="0A0E17"/>
          </a:solidFill>
          <a:ln/>
          <a:effectLst>
            <a:outerShdw blurRad="152400" dist="38100" dir="5400000" algn="bl" rotWithShape="0">
              <a:srgbClr val="0A0E17">
                <a:alpha val="2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4416552" y="1929384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4" name="Shape 17"/>
          <p:cNvSpPr/>
          <p:nvPr/>
        </p:nvSpPr>
        <p:spPr>
          <a:xfrm>
            <a:off x="4636008" y="1929384"/>
            <a:ext cx="109728" cy="109728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25" name="Shape 18"/>
          <p:cNvSpPr/>
          <p:nvPr/>
        </p:nvSpPr>
        <p:spPr>
          <a:xfrm>
            <a:off x="4855464" y="1929384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6" name="Text 19"/>
          <p:cNvSpPr txBox="1"/>
          <p:nvPr/>
        </p:nvSpPr>
        <p:spPr>
          <a:xfrm>
            <a:off x="7955280" y="18562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— proposed workflow, built on working modules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480560" y="2258568"/>
            <a:ext cx="6903720" cy="384048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/>
        </p:spPr>
      </p:sp>
      <p:sp>
        <p:nvSpPr>
          <p:cNvPr id="28" name="Text 21"/>
          <p:cNvSpPr txBox="1"/>
          <p:nvPr/>
        </p:nvSpPr>
        <p:spPr>
          <a:xfrm>
            <a:off x="4754880" y="2478024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ADMINISTRATIVE STATUS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4754880" y="2935224"/>
            <a:ext cx="34952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PATHWAY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4754880" y="3227832"/>
            <a:ext cx="3495294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pic>
        <p:nvPicPr>
          <p:cNvPr id="31" name="Image 5" descr="C:\Users\VIRAJ\AppData\Local\Temp\claude\D--FinalYearProject-Arogyarakshak\34c24276-2faa-49f0-98b9-3988971ec081\scratchpad\deck\icons\check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3300984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157216" y="3227832"/>
            <a:ext cx="30015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identified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754880" y="3657600"/>
            <a:ext cx="3495294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pic>
        <p:nvPicPr>
          <p:cNvPr id="34" name="Image 6" descr="C:\Users\VIRAJ\AppData\Local\Temp\claude\D--FinalYearProject-Arogyarakshak\34c24276-2faa-49f0-98b9-3988971ec081\scratchpad\deck\icons\check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3730752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157216" y="3657600"/>
            <a:ext cx="30015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form found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4754880" y="4087368"/>
            <a:ext cx="3495294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pic>
        <p:nvPicPr>
          <p:cNvPr id="37" name="Image 7" descr="C:\Users\VIRAJ\AppData\Local\Temp\claude\D--FinalYearProject-Arogyarakshak\34c24276-2faa-49f0-98b9-3988971ec081\scratchpad\deck\icons\alert_amb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4160520"/>
            <a:ext cx="219456" cy="219456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5157216" y="4087368"/>
            <a:ext cx="30015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documents missing</a:t>
            </a:r>
            <a:endParaRPr lang="en-US" sz="1200" dirty="0"/>
          </a:p>
        </p:txBody>
      </p:sp>
      <p:sp>
        <p:nvSpPr>
          <p:cNvPr id="39" name="Text 29"/>
          <p:cNvSpPr txBox="1"/>
          <p:nvPr/>
        </p:nvSpPr>
        <p:spPr>
          <a:xfrm>
            <a:off x="4754880" y="4645152"/>
            <a:ext cx="34952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PATHWAY</a:t>
            </a:r>
            <a:endParaRPr 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4754880" y="4937760"/>
            <a:ext cx="3495294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pic>
        <p:nvPicPr>
          <p:cNvPr id="41" name="Image 8" descr="C:\Users\VIRAJ\AppData\Local\Temp\claude\D--FinalYearProject-Arogyarakshak\34c24276-2faa-49f0-98b9-3988971ec081\scratchpad\deck\icons\check_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5010912"/>
            <a:ext cx="219456" cy="219456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5157216" y="4937760"/>
            <a:ext cx="30015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scheme found</a:t>
            </a:r>
            <a:endParaRPr lang="en-US" sz="1200" dirty="0"/>
          </a:p>
        </p:txBody>
      </p:sp>
      <p:sp>
        <p:nvSpPr>
          <p:cNvPr id="43" name="Shape 32"/>
          <p:cNvSpPr/>
          <p:nvPr/>
        </p:nvSpPr>
        <p:spPr>
          <a:xfrm>
            <a:off x="4754880" y="5367528"/>
            <a:ext cx="3495294" cy="36576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pic>
        <p:nvPicPr>
          <p:cNvPr id="44" name="Image 9" descr="C:\Users\VIRAJ\AppData\Local\Temp\claude\D--FinalYearProject-Arogyarakshak\34c24276-2faa-49f0-98b9-3988971ec081\scratchpad\deck\icons\alert_amb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5440680"/>
            <a:ext cx="219456" cy="219456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5157216" y="5367528"/>
            <a:ext cx="30015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needs review</a:t>
            </a:r>
            <a:endParaRPr lang="en-US" sz="1200" dirty="0"/>
          </a:p>
        </p:txBody>
      </p:sp>
      <p:sp>
        <p:nvSpPr>
          <p:cNvPr id="46" name="Shape 34"/>
          <p:cNvSpPr/>
          <p:nvPr/>
        </p:nvSpPr>
        <p:spPr>
          <a:xfrm>
            <a:off x="8524494" y="2935224"/>
            <a:ext cx="2585466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50800" dist="38100" dir="5400000" algn="bl" rotWithShape="0">
              <a:srgbClr val="0A0E17">
                <a:alpha val="8000"/>
              </a:srgbClr>
            </a:outerShdw>
          </a:effectLst>
        </p:spPr>
      </p:sp>
      <p:sp>
        <p:nvSpPr>
          <p:cNvPr id="47" name="Text 35"/>
          <p:cNvSpPr txBox="1"/>
          <p:nvPr/>
        </p:nvSpPr>
        <p:spPr>
          <a:xfrm>
            <a:off x="8689086" y="3063240"/>
            <a:ext cx="2274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000" dirty="0"/>
          </a:p>
        </p:txBody>
      </p:sp>
      <p:sp>
        <p:nvSpPr>
          <p:cNvPr id="48" name="Text 36"/>
          <p:cNvSpPr txBox="1"/>
          <p:nvPr/>
        </p:nvSpPr>
        <p:spPr>
          <a:xfrm>
            <a:off x="8689086" y="3319272"/>
            <a:ext cx="22745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discharge summary and the previous treatment record.</a:t>
            </a:r>
            <a:endParaRPr lang="en-US" sz="1100" dirty="0"/>
          </a:p>
        </p:txBody>
      </p:sp>
      <p:sp>
        <p:nvSpPr>
          <p:cNvPr id="49" name="Shape 37"/>
          <p:cNvSpPr/>
          <p:nvPr/>
        </p:nvSpPr>
        <p:spPr>
          <a:xfrm>
            <a:off x="8524494" y="4535424"/>
            <a:ext cx="2585466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50800" dist="38100" dir="5400000" algn="bl" rotWithShape="0">
              <a:srgbClr val="0A0E17">
                <a:alpha val="8000"/>
              </a:srgbClr>
            </a:outerShdw>
          </a:effectLst>
        </p:spPr>
      </p:sp>
      <p:sp>
        <p:nvSpPr>
          <p:cNvPr id="50" name="Text 38"/>
          <p:cNvSpPr txBox="1"/>
          <p:nvPr/>
        </p:nvSpPr>
        <p:spPr>
          <a:xfrm>
            <a:off x="8689086" y="4663440"/>
            <a:ext cx="2274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51" name="Text 39"/>
          <p:cNvSpPr txBox="1"/>
          <p:nvPr/>
        </p:nvSpPr>
        <p:spPr>
          <a:xfrm>
            <a:off x="8689086" y="4919472"/>
            <a:ext cx="22745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Rule → Result</a:t>
            </a:r>
            <a:endParaRPr lang="en-US" sz="1400" dirty="0"/>
          </a:p>
        </p:txBody>
      </p:sp>
      <p:sp>
        <p:nvSpPr>
          <p:cNvPr id="52" name="Text 40"/>
          <p:cNvSpPr txBox="1"/>
          <p:nvPr/>
        </p:nvSpPr>
        <p:spPr>
          <a:xfrm>
            <a:off x="8689086" y="5212080"/>
            <a:ext cx="22745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traces back to where it came from.</a:t>
            </a:r>
            <a:endParaRPr lang="en-US" sz="1000" dirty="0"/>
          </a:p>
        </p:txBody>
      </p:sp>
      <p:sp>
        <p:nvSpPr>
          <p:cNvPr id="53" name="Text 41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MADE VISIBLE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assists. Humans remain in control.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440680" cy="2331720"/>
          </a:xfrm>
          <a:prstGeom prst="roundRect">
            <a:avLst>
              <a:gd name="adj" fmla="val 5490"/>
            </a:avLst>
          </a:prstGeom>
          <a:solidFill>
            <a:srgbClr val="1118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AROGYARAKSHAK CAN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12848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organize document information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relevant insurance / scheme pathways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missing information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requirements against official sources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administrative drafts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45352" y="1645920"/>
            <a:ext cx="5440680" cy="2331720"/>
          </a:xfrm>
          <a:prstGeom prst="roundRect">
            <a:avLst>
              <a:gd name="adj" fmla="val 5490"/>
            </a:avLst>
          </a:prstGeom>
          <a:solidFill>
            <a:srgbClr val="1118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19672" y="182880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AROGYARAKSHAK DOES NOT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212848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✕"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✕"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treatment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✕"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clinical or insurance decisions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✕"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medical data for clinical use</a:t>
            </a:r>
            <a:endParaRPr lang="en-US" sz="1200" dirty="0"/>
          </a:p>
          <a:p>
            <a:pPr marL="228600" indent="-228600">
              <a:lnSpc>
                <a:spcPct val="108000"/>
              </a:lnSpc>
              <a:spcAft>
                <a:spcPts val="800"/>
              </a:spcAft>
              <a:buSzPct val="100000"/>
              <a:buChar char="✕"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autonomous medical advice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2336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IS LABELED BY WHERE IT CAME FROM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562856"/>
            <a:ext cx="1559052" cy="347472"/>
          </a:xfrm>
          <a:prstGeom prst="roundRect">
            <a:avLst>
              <a:gd name="adj" fmla="val 50000"/>
            </a:avLst>
          </a:prstGeom>
          <a:solidFill>
            <a:srgbClr val="1A2338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4562856"/>
            <a:ext cx="15590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Machine-derived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08276" y="4562856"/>
            <a:ext cx="1472184" cy="347472"/>
          </a:xfrm>
          <a:prstGeom prst="roundRect">
            <a:avLst>
              <a:gd name="adj" fmla="val 50000"/>
            </a:avLst>
          </a:prstGeom>
          <a:solidFill>
            <a:srgbClr val="1A2338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08276" y="45628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Human-reviewed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26764" y="4562856"/>
            <a:ext cx="1472184" cy="347472"/>
          </a:xfrm>
          <a:prstGeom prst="roundRect">
            <a:avLst>
              <a:gd name="adj" fmla="val 50000"/>
            </a:avLst>
          </a:prstGeom>
          <a:solidFill>
            <a:srgbClr val="1A2338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26764" y="4562856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Human-authored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45252" y="4562856"/>
            <a:ext cx="1559052" cy="347472"/>
          </a:xfrm>
          <a:prstGeom prst="roundRect">
            <a:avLst>
              <a:gd name="adj" fmla="val 50000"/>
            </a:avLst>
          </a:prstGeom>
          <a:solidFill>
            <a:srgbClr val="1A2338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45252" y="4562856"/>
            <a:ext cx="15590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source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50608" y="4562856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1A2338"/>
          </a:solidFill>
          <a:ln w="9525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50608" y="45628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Patient-provided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5129784"/>
            <a:ext cx="11183112" cy="841248"/>
          </a:xfrm>
          <a:prstGeom prst="roundRect">
            <a:avLst>
              <a:gd name="adj" fmla="val 15217"/>
            </a:avLst>
          </a:prstGeom>
          <a:solidFill>
            <a:srgbClr val="0F1E2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276088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3" name="Image 0" descr="C:\Users\VIRAJ\AppData\Local\Temp\claude\D--FinalYearProject-Arogyarakshak\34c24276-2faa-49f0-98b9-3988971ec081\scratchpad\deck\icons\use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413248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508760" y="5239512"/>
            <a:ext cx="9966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Priyal Kulkarni, BAMS </a:t>
            </a: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workflow assumptions, patient/caregiver usability, real administrative friction, and where human review is required — keeping the product assistive, not clinical.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091153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MVP, IMPACT &amp; WHAT’S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real-world healthcare administration.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86400" cy="352044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928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MVP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292608" cy="29260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16152" y="2286000"/>
            <a:ext cx="4517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(bill, policy, scheme, hospital docs)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770632"/>
            <a:ext cx="292608" cy="29260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16152" y="2724912"/>
            <a:ext cx="4517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extraction into one shared case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209544"/>
            <a:ext cx="292608" cy="29260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16152" y="3163824"/>
            <a:ext cx="4517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/ scheme pathway identification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3648456"/>
            <a:ext cx="292608" cy="29260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648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16152" y="3602736"/>
            <a:ext cx="4517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Missing-document detection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087368"/>
            <a:ext cx="292608" cy="29260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087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16152" y="4041648"/>
            <a:ext cx="4517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Evidence-linked administrative next steps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6360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directly on modules that already run today — not built from scratch for this submission.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1691640"/>
            <a:ext cx="5425135" cy="352044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1892808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37960" y="2404872"/>
            <a:ext cx="4876495" cy="438912"/>
          </a:xfrm>
          <a:prstGeom prst="roundRect">
            <a:avLst>
              <a:gd name="adj" fmla="val 50000"/>
            </a:avLst>
          </a:prstGeom>
          <a:solidFill>
            <a:srgbClr val="1A233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65976" y="2404872"/>
            <a:ext cx="46570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paperwork</a:t>
            </a:r>
            <a:endParaRPr lang="en-US" sz="1400" dirty="0"/>
          </a:p>
        </p:txBody>
      </p:sp>
      <p:pic>
        <p:nvPicPr>
          <p:cNvPr id="26" name="Image 0" descr="C:\Users\VIRAJ\AppData\Local\Temp\claude\D--FinalYearProject-Arogyarakshak\34c24276-2faa-49f0-98b9-3988971ec081\scratchpad\deck\icons\chevrondown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5624" y="2807208"/>
            <a:ext cx="201168" cy="201168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6537960" y="2953512"/>
            <a:ext cx="4876495" cy="438912"/>
          </a:xfrm>
          <a:prstGeom prst="roundRect">
            <a:avLst>
              <a:gd name="adj" fmla="val 50000"/>
            </a:avLst>
          </a:prstGeom>
          <a:solidFill>
            <a:srgbClr val="1A2338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665976" y="2953512"/>
            <a:ext cx="46570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repeated interactions</a:t>
            </a:r>
            <a:endParaRPr lang="en-US" sz="1400" dirty="0"/>
          </a:p>
        </p:txBody>
      </p:sp>
      <p:pic>
        <p:nvPicPr>
          <p:cNvPr id="29" name="Image 1" descr="C:\Users\VIRAJ\AppData\Local\Temp\claude\D--FinalYearProject-Arogyarakshak\34c24276-2faa-49f0-98b9-3988971ec081\scratchpad\deck\icons\chevrondown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5624" y="3355848"/>
            <a:ext cx="201168" cy="201168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6537960" y="3502152"/>
            <a:ext cx="4876495" cy="438912"/>
          </a:xfrm>
          <a:prstGeom prst="roundRect">
            <a:avLst>
              <a:gd name="adj" fmla="val 50000"/>
            </a:avLst>
          </a:prstGeom>
          <a:solidFill>
            <a:srgbClr val="1A2338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665976" y="3502152"/>
            <a:ext cx="46570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understanding of support</a:t>
            </a:r>
            <a:endParaRPr lang="en-US" sz="1400" dirty="0"/>
          </a:p>
        </p:txBody>
      </p:sp>
      <p:pic>
        <p:nvPicPr>
          <p:cNvPr id="32" name="Image 2" descr="C:\Users\VIRAJ\AppData\Local\Temp\claude\D--FinalYearProject-Arogyarakshak\34c24276-2faa-49f0-98b9-3988971ec081\scratchpad\deck\icons\chevrondown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5624" y="3904488"/>
            <a:ext cx="201168" cy="201168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6537960" y="4050792"/>
            <a:ext cx="4876495" cy="438912"/>
          </a:xfrm>
          <a:prstGeom prst="roundRect">
            <a:avLst>
              <a:gd name="adj" fmla="val 50000"/>
            </a:avLst>
          </a:prstGeom>
          <a:solidFill>
            <a:srgbClr val="1A2338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6665976" y="4050792"/>
            <a:ext cx="46570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transparent administrative journeys</a:t>
            </a:r>
            <a:endParaRPr lang="en-US" sz="1400" dirty="0"/>
          </a:p>
        </p:txBody>
      </p:sp>
      <p:sp>
        <p:nvSpPr>
          <p:cNvPr id="35" name="Text 30"/>
          <p:cNvSpPr txBox="1"/>
          <p:nvPr/>
        </p:nvSpPr>
        <p:spPr>
          <a:xfrm>
            <a:off x="502920" y="5486400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ArogyaRakshak.  Validated with a clinical lead.  </a:t>
            </a:r>
            <a:r>
              <a:rPr lang="en-US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expand beyond diabetes.</a:t>
            </a:r>
            <a:endParaRPr lang="en-US" dirty="0"/>
          </a:p>
        </p:txBody>
      </p:sp>
      <p:sp>
        <p:nvSpPr>
          <p:cNvPr id="36" name="Text 31"/>
          <p:cNvSpPr txBox="1"/>
          <p:nvPr/>
        </p:nvSpPr>
        <p:spPr>
          <a:xfrm>
            <a:off x="502920" y="63550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ArogyaRakshak</a:t>
            </a:r>
            <a:r>
              <a:rPr lang="en-US" sz="1000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Health-a-thon 2026   ·   Diabetes Care   ·   Financial &amp; Administrative Support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8259775" y="6355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B9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ArogyaRakshak — from documents to action.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932</Words>
  <Application>Microsoft Office PowerPoint</Application>
  <PresentationFormat>Widescreen</PresentationFormat>
  <Paragraphs>165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ArogyaRakshak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ArogyaRakshak — Health-a-thon 2026</dc:title>
  <dc:subject>PptxGenJS Presentation</dc:subject>
  <dc:creator>ArogyaRakshak</dc:creator>
  <cp:lastModifiedBy>Viraj Jadhao</cp:lastModifiedBy>
  <cp:revision>6</cp:revision>
  <dcterms:created xsi:type="dcterms:W3CDTF">2026-09-25T14:42:31Z</dcterms:created>
  <dcterms:modified xsi:type="dcterms:W3CDTF">2026-09-25T17:22:20Z</dcterms:modified>
</cp:coreProperties>
</file>